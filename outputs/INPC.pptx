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81C"/>
    <a:srgbClr val="B1071F"/>
    <a:srgbClr val="54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>
        <p:scale>
          <a:sx n="75" d="100"/>
          <a:sy n="75" d="100"/>
        </p:scale>
        <p:origin x="456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984B-368B-484C-AB6B-EDC039D3A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4A68A-DBF1-4322-A6D7-143106032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17F20-669E-4BB3-AD86-DD6DA337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E5910-A603-40E1-9769-B3B82B18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A3DF8-F5A7-4692-B4BB-C81B30C4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053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A32A-F461-4144-AD37-0F771BBF2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D56CC-2D56-4A82-AE09-7FCA2334F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40EC9-800E-4510-A71A-7D7225A4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1A048-7D49-4FDA-9EB3-C4C19BC5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81A47-05A5-4623-8421-009E16F7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451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1C78-712B-4F52-B8E0-6C4E64F6C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89B04-9F07-4AC4-BBB0-B6A8F9BCB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76AD5-26EE-4052-A705-63EC04C38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2C598-8D9A-4433-827D-7A3F861A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93929-D4EA-493C-8357-51E2E636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112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50E3-DB8D-4DBC-9389-D65871DC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C564-0196-428E-A907-246DB4994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F6BC2-7390-4AE7-94EE-021DB0404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D3947-0619-4FB1-8F3E-5DEF77772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24B30-AD2B-421B-84A2-3B70BCE7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F637E-058D-41DD-89F2-873D052B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702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30CC9-3ECD-4982-95FB-D16BE4294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DFACF-CDFE-477A-B2F0-6E9D9C351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BD27B-1473-4743-8B04-955413593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09921-3191-40BD-8CFF-C315631AF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DB729-50E2-4846-B6C1-D1882184C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ADC884-4568-48AC-961D-C2CA7C19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6BF89-B656-406B-9842-6939AE00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FC0D5-9133-4B86-AC90-072DFF1E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510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8861-2498-4534-AFE7-2A641012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EE301-DF06-462D-B75B-A54685E18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51874-86FF-4D6E-8980-E73B01E4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09E3D-AD40-488E-84D3-758EE6F6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589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A52B5-2DDA-4D8A-8CF0-BE2095D3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DBD22-3731-4923-9BCD-DFD17615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70AF-A65E-4031-B965-FD7EEBA4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746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5B33-CC8E-445E-8515-5E217C7D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D6395-8913-4016-8002-B55B30A0D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BA985-2FC7-4A05-83BF-14A215408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E739C-7E46-447C-966C-8E338EA9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8CC6-35D2-4FAD-83E6-1176D008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5DCEA-6D30-448D-95BB-C8E8C7D8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028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3D41-0D5C-4C10-BA79-53DD2649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5D980-4DB2-4D1B-B1C8-FD2DA4E89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A2616-2FD9-49E4-9BF9-8584C458F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137B0-0652-4F1B-A8F5-26E9A770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D5617-E426-4E26-8C28-915C6B20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78A24-9D1E-48BB-874A-B64D8FD5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60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3976-DF83-4461-B95D-D1B5482F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6599B-01AF-4288-A087-61A675B01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53E6-E39A-4464-A70E-82535ECF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83790-BC71-48F6-B25A-8C469181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1E370-D76D-4B8E-B6CA-81D474EB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776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F215B-707F-48A5-AFE9-23FBFBC11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3CAE0-741F-4D7B-A131-B9BF2EEEA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D71D8-3AAF-4CD7-AAC9-19CFEDAD2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A04D2-C3D8-434C-8AC8-37F15FBB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F1D4F-AEE3-4E6D-B9DC-F59CF9DE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584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D25A3-A5C6-4961-BBC1-0B34DE233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CE87A-718B-4760-8707-86086A75E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33CDE-B9CE-4C60-AE9D-9BDAE7CDB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4AC7B-87B8-489F-A603-00C2C859C0C6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D40D2-832E-462A-BA0E-6D18E5B39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8BCA0-B7C2-4676-8032-2AD9C3A4B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BCE1-CA33-4A9E-B899-1FC89F08B99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631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9FD5-590E-499C-9124-3E9D639B0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724" y="1411942"/>
            <a:ext cx="11416552" cy="4034116"/>
          </a:xfrm>
        </p:spPr>
        <p:txBody>
          <a:bodyPr>
            <a:noAutofit/>
          </a:bodyPr>
          <a:lstStyle/>
          <a:p>
            <a:r>
              <a:rPr lang="es-MX" sz="5400" dirty="0">
                <a:latin typeface="Montserrat" panose="00000500000000000000" pitchFamily="50" charset="0"/>
              </a:rPr>
              <a:t>INPC: Introducción a como catalogar el precio de un producto en una ciudad de la República Mexicana como “de precio competitivo”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46C146-FAA6-4842-A540-E0B70695D44B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1B426F-D939-42C1-BC4A-879C586EA490}"/>
              </a:ext>
            </a:extLst>
          </p:cNvPr>
          <p:cNvSpPr/>
          <p:nvPr/>
        </p:nvSpPr>
        <p:spPr>
          <a:xfrm>
            <a:off x="0" y="5709162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95E98-15AB-4499-98B3-023726685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64622"/>
            <a:ext cx="9144000" cy="1655762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Montserrat" panose="00000500000000000000" pitchFamily="50" charset="0"/>
              </a:rPr>
              <a:t>Enrique Cerón López</a:t>
            </a:r>
          </a:p>
        </p:txBody>
      </p:sp>
    </p:spTree>
    <p:extLst>
      <p:ext uri="{BB962C8B-B14F-4D97-AF65-F5344CB8AC3E}">
        <p14:creationId xmlns:p14="http://schemas.microsoft.com/office/powerpoint/2010/main" val="233560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22B511-FA47-4F9C-8FC1-C78569DC5D60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8EDA7-9C38-4347-A17C-3C475136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876" y="-133709"/>
            <a:ext cx="10986247" cy="1450757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Estabilidad y Variabilidad del INPC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D151-82C0-43EE-B707-76C5539F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48" y="1680883"/>
            <a:ext cx="4896970" cy="470647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sz="2200" dirty="0">
                <a:latin typeface="Montserrat"/>
              </a:rPr>
              <a:t>De las 55 ciudades y los 292 genéricos que fueron contempladas por INEGI; se cálculo el promedio histórico y la desviación estándar histórica. A estos datos se les nombraron como </a:t>
            </a:r>
            <a:r>
              <a:rPr lang="es-MX" sz="2200" b="1" dirty="0">
                <a:latin typeface="Montserrat"/>
              </a:rPr>
              <a:t>“Estabilidad” </a:t>
            </a:r>
            <a:r>
              <a:rPr lang="es-MX" sz="2200" dirty="0">
                <a:latin typeface="Montserrat"/>
              </a:rPr>
              <a:t>y </a:t>
            </a:r>
            <a:r>
              <a:rPr lang="es-MX" sz="2200" b="1" dirty="0">
                <a:latin typeface="Montserrat"/>
              </a:rPr>
              <a:t>“Variabilidad” </a:t>
            </a:r>
            <a:r>
              <a:rPr lang="es-MX" sz="2200" dirty="0">
                <a:latin typeface="Montserrat"/>
              </a:rPr>
              <a:t>respectivamente.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0FFE9A-453B-4965-9EEF-256011828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652" y="1815353"/>
            <a:ext cx="5550471" cy="364315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9D34A2-9E00-406C-BDFC-B4C479BB1A3D}"/>
              </a:ext>
            </a:extLst>
          </p:cNvPr>
          <p:cNvSpPr txBox="1">
            <a:spLocks/>
          </p:cNvSpPr>
          <p:nvPr/>
        </p:nvSpPr>
        <p:spPr>
          <a:xfrm>
            <a:off x="6038651" y="5458505"/>
            <a:ext cx="5550471" cy="772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s-MX" i="1" dirty="0">
                <a:solidFill>
                  <a:schemeClr val="bg1">
                    <a:lumMod val="50000"/>
                  </a:schemeClr>
                </a:solidFill>
              </a:rPr>
              <a:t>La estabilidad y variabilidad nunca son negativas.</a:t>
            </a:r>
          </a:p>
        </p:txBody>
      </p:sp>
    </p:spTree>
    <p:extLst>
      <p:ext uri="{BB962C8B-B14F-4D97-AF65-F5344CB8AC3E}">
        <p14:creationId xmlns:p14="http://schemas.microsoft.com/office/powerpoint/2010/main" val="328196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71F32C-3ABB-41E6-9623-64931C1C1618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D151-82C0-43EE-B707-76C5539F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76" y="1450756"/>
            <a:ext cx="8285629" cy="3201926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sz="2200" dirty="0">
                <a:latin typeface="Montserrat"/>
              </a:rPr>
              <a:t>La idea ahora es buscar para cada producto aquellas ciudades que cuenten con una estabilidad y una variabilidad “fuertes” y posteriormente poner especial atención en aquellos en los que al menos una de las tres ciudades de Hidalgo se encuentre. Siendo estas:</a:t>
            </a:r>
          </a:p>
          <a:p>
            <a:pPr>
              <a:lnSpc>
                <a:spcPct val="150000"/>
              </a:lnSpc>
            </a:pPr>
            <a:r>
              <a:rPr lang="es-MX" sz="2200" dirty="0">
                <a:latin typeface="Montserrat" panose="00000500000000000000" pitchFamily="50" charset="0"/>
              </a:rPr>
              <a:t>Pachuca de Soto</a:t>
            </a:r>
          </a:p>
          <a:p>
            <a:pPr>
              <a:lnSpc>
                <a:spcPct val="150000"/>
              </a:lnSpc>
            </a:pPr>
            <a:r>
              <a:rPr lang="es-MX" sz="2200" dirty="0">
                <a:latin typeface="Montserrat" panose="00000500000000000000" pitchFamily="50" charset="0"/>
              </a:rPr>
              <a:t>Tulancingo</a:t>
            </a:r>
          </a:p>
          <a:p>
            <a:pPr>
              <a:lnSpc>
                <a:spcPct val="150000"/>
              </a:lnSpc>
            </a:pPr>
            <a:r>
              <a:rPr lang="es-MX" sz="2200" dirty="0">
                <a:latin typeface="Montserrat" panose="00000500000000000000" pitchFamily="50" charset="0"/>
              </a:rPr>
              <a:t>Área Metropolitana de la Ciudad de México (incluye Tizayuca)</a:t>
            </a:r>
          </a:p>
        </p:txBody>
      </p:sp>
      <p:pic>
        <p:nvPicPr>
          <p:cNvPr id="1026" name="Picture 2" descr="Precio bajo - Iconos gratis de comercio">
            <a:extLst>
              <a:ext uri="{FF2B5EF4-FFF2-40B4-BE49-F238E27FC236}">
                <a16:creationId xmlns:a16="http://schemas.microsoft.com/office/drawing/2014/main" id="{8CCBB939-32AF-4739-B3C4-CC9264894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505" y="1517610"/>
            <a:ext cx="2985248" cy="275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BABFDD8-976D-40F6-AE0E-0A243835EF83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Competitividad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AD0B19D-F8F0-4AAB-88FE-0D9C3831C761}"/>
              </a:ext>
            </a:extLst>
          </p:cNvPr>
          <p:cNvSpPr txBox="1">
            <a:spLocks/>
          </p:cNvSpPr>
          <p:nvPr/>
        </p:nvSpPr>
        <p:spPr>
          <a:xfrm>
            <a:off x="602876" y="4786390"/>
            <a:ext cx="11109512" cy="4950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MX" sz="1700" dirty="0">
                <a:latin typeface="Montserrat" panose="00000500000000000000" pitchFamily="50" charset="0"/>
              </a:rPr>
              <a:t>Para definir a una estabilidad o a una variabilidad como fuerte naturalmente nos podemos fijar en aquellas que tengan valores bajos. En dicho caso, surge la pregunta</a:t>
            </a:r>
          </a:p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MX" sz="2000" b="1" dirty="0">
                <a:latin typeface="Montserrat" panose="00000500000000000000" pitchFamily="50" charset="0"/>
              </a:rPr>
              <a:t>¿Qué valor o valores utilizar para poder decir “a partir de aquí se considera bajo”?</a:t>
            </a:r>
            <a:endParaRPr lang="es-MX" sz="1700" b="1" dirty="0"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788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D151-82C0-43EE-B707-76C5539F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75" y="1445148"/>
            <a:ext cx="10986247" cy="460602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sz="2400" dirty="0">
                <a:latin typeface="Montserrat" panose="00000500000000000000" pitchFamily="50" charset="0"/>
              </a:rPr>
              <a:t>Para responder a la última pregunta se proponen dos posibles soluciones:</a:t>
            </a:r>
          </a:p>
          <a:p>
            <a:pPr algn="just">
              <a:lnSpc>
                <a:spcPct val="150000"/>
              </a:lnSpc>
            </a:pPr>
            <a:r>
              <a:rPr lang="es-MX" sz="2400" b="1" dirty="0">
                <a:latin typeface="Montserrat" panose="00000500000000000000" pitchFamily="50" charset="0"/>
              </a:rPr>
              <a:t>Opción 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2400" dirty="0">
                <a:latin typeface="Montserrat" panose="00000500000000000000" pitchFamily="50" charset="0"/>
              </a:rPr>
              <a:t>	Utilizar la media de la estabilidad y la media de la variabilidad por 	genérico.</a:t>
            </a:r>
          </a:p>
          <a:p>
            <a:pPr algn="just">
              <a:lnSpc>
                <a:spcPct val="150000"/>
              </a:lnSpc>
            </a:pPr>
            <a:r>
              <a:rPr lang="es-MX" sz="2400" b="1" dirty="0">
                <a:latin typeface="Montserrat" panose="00000500000000000000" pitchFamily="50" charset="0"/>
              </a:rPr>
              <a:t>Opción 2.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2400" dirty="0">
                <a:latin typeface="Montserrat" panose="00000500000000000000" pitchFamily="50" charset="0"/>
              </a:rPr>
              <a:t>	Generar un índice de la combinación ponderada de la estabilidad 	normalizada y la variabilidad normalizada por genérico y calcular la 	media del índice por genérico.</a:t>
            </a:r>
            <a:endParaRPr lang="es-MX" sz="2400" i="1" dirty="0">
              <a:latin typeface="Montserrat" panose="00000500000000000000" pitchFamily="50" charset="0"/>
            </a:endParaRPr>
          </a:p>
          <a:p>
            <a:pPr marL="0" indent="0">
              <a:buNone/>
            </a:pPr>
            <a:endParaRPr lang="es-MX" sz="20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2749B-86DC-45DB-828C-9FB1C9D12B25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5A6804-A111-4238-8072-1DBAE3582C13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Propuestas</a:t>
            </a:r>
          </a:p>
        </p:txBody>
      </p:sp>
    </p:spTree>
    <p:extLst>
      <p:ext uri="{BB962C8B-B14F-4D97-AF65-F5344CB8AC3E}">
        <p14:creationId xmlns:p14="http://schemas.microsoft.com/office/powerpoint/2010/main" val="38280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9D151-82C0-43EE-B707-76C5539F5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2875" y="1317048"/>
                <a:ext cx="10986247" cy="168549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MX" sz="2200" dirty="0">
                    <a:latin typeface="Montserrat" panose="00000500000000000000" pitchFamily="50" charset="0"/>
                  </a:rPr>
                  <a:t>Agrupamos a las ciudades por genérico, calculamos la media de la estabilidad y la media de la variabilidad y consideramos a aquellas ciudades que cumplan que ambos valores son menores estrictos que sus medias respectivas. De esta forma definimos para cada ciudad </a:t>
                </a: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MX" sz="2200" dirty="0">
                    <a:latin typeface="Montserrat" panose="00000500000000000000" pitchFamily="50" charset="0"/>
                  </a:rPr>
                  <a:t> y cada  genérico </a:t>
                </a: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s-MX" sz="2200" dirty="0">
                  <a:latin typeface="Montserrat" panose="00000500000000000000" pitchFamily="50" charset="0"/>
                </a:endParaRPr>
              </a:p>
              <a:p>
                <a:pPr marL="0" indent="0">
                  <a:buNone/>
                </a:pPr>
                <a:endParaRPr lang="es-MX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9D151-82C0-43EE-B707-76C5539F5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2875" y="1317048"/>
                <a:ext cx="10986247" cy="1685498"/>
              </a:xfrm>
              <a:blipFill>
                <a:blip r:embed="rId2"/>
                <a:stretch>
                  <a:fillRect l="-610" b="-39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49287A-C27A-4814-951C-4DBBC869EA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5764" y="3136253"/>
                <a:ext cx="11722573" cy="29956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3" charset="2"/>
                  <a:buNone/>
                </a:pPr>
                <a14:m>
                  <m:oMath xmlns:m="http://schemas.openxmlformats.org/officeDocument/2006/math">
                    <m:r>
                      <a:rPr lang="es-ES" sz="2000" b="1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𝐄𝐬𝐭𝐚𝐛𝐢𝐥𝐢𝐝𝐚𝐝</m:t>
                    </m:r>
                    <m:r>
                      <a:rPr lang="es-ES" sz="20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sz="20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𝑪𝒐𝒎𝒑𝒆𝒕𝒊𝒕𝒊𝒗</m:t>
                    </m:r>
                    <m:sSub>
                      <m:sSubPr>
                        <m:ctrlP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s-ES" sz="2000" b="1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𝑬𝒔𝒕𝒂𝒃𝒊𝒍𝒊𝒅𝒂</m:t>
                            </m:r>
                            <m:sSub>
                              <m:sSubPr>
                                <m:ctrlP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sub>
                            </m:sSub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𝑴𝒆𝒅𝒊𝒂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𝑬𝒔𝒕𝒂𝒃𝒊𝒍𝒊𝒅𝒂</m:t>
                            </m:r>
                            <m:sSub>
                              <m:sSubPr>
                                <m:ctrlP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sub>
                            </m:sSub>
                          </m:e>
                          <m:e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𝒐𝒕𝒓𝒐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𝒄𝒂𝒔𝒐</m:t>
                            </m:r>
                          </m:e>
                        </m:eqArr>
                      </m:e>
                    </m:d>
                  </m:oMath>
                </a14:m>
                <a:r>
                  <a:rPr lang="es-MX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 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𝑽𝒂𝒓𝒊𝒂𝒃𝒊𝒍𝒊𝒅𝒂𝒅</m:t>
                    </m:r>
                    <m:r>
                      <a:rPr lang="es-ES" sz="20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sz="20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𝑪𝒐𝒎𝒑𝒆𝒕𝒊𝒕𝒊𝒗</m:t>
                    </m:r>
                    <m:sSub>
                      <m:sSubPr>
                        <m:ctrlP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20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s-ES" sz="2000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𝒔𝒊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𝑽𝒂𝒓𝒊𝒂𝒃𝒊𝒍𝒊𝒅𝒂</m:t>
                            </m:r>
                            <m:sSub>
                              <m:sSubPr>
                                <m:ctrlP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sub>
                            </m:sSub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𝑴𝒆𝒅𝒊𝒂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s-ES" sz="20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𝑽𝒂𝒓𝒊𝒂𝒃𝒊𝒍𝒊𝒅𝒂</m:t>
                            </m:r>
                            <m:sSub>
                              <m:sSubPr>
                                <m:ctrlP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s-ES" sz="20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sub>
                            </m:sSub>
                          </m:e>
                          <m:e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𝒐𝒕𝒓𝒐</m:t>
                            </m:r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𝒄𝒂𝒔𝒐</m:t>
                            </m:r>
                          </m:e>
                        </m:eqArr>
                      </m:e>
                    </m:d>
                  </m:oMath>
                </a14:m>
                <a:r>
                  <a:rPr lang="es-MX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 y</a:t>
                </a:r>
              </a:p>
              <a:p>
                <a:pPr marL="0" indent="0">
                  <a:buNone/>
                </a:pPr>
                <a:r>
                  <a:rPr lang="es-MX" sz="1200" b="1" dirty="0">
                    <a:solidFill>
                      <a:schemeClr val="bg1"/>
                    </a:solidFill>
                  </a:rPr>
                  <a:t>j</a:t>
                </a:r>
                <a:endParaRPr lang="es-MX" sz="1100" b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𝑪𝒐𝒎𝒑𝒆𝒕𝒊𝒕𝒊𝒗</m:t>
                      </m:r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𝑬𝒔𝒕𝒂𝒃𝒊𝒍𝒊𝒅𝒂𝒅</m:t>
                      </m:r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𝑪𝒐𝒎𝒑𝒆𝒕𝒊𝒕𝒊𝒗𝒂</m:t>
                      </m:r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𝑽𝒂𝒓𝒊𝒂𝒃𝒊𝒍𝒊𝒅𝒂𝒅</m:t>
                      </m:r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𝑪𝒐𝒎𝒑𝒆𝒕𝒊𝒕𝒊𝒗𝒂</m:t>
                      </m:r>
                    </m:oMath>
                  </m:oMathPara>
                </a14:m>
                <a:endParaRPr lang="es-MX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49287A-C27A-4814-951C-4DBBC869E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764" y="3136253"/>
                <a:ext cx="11722573" cy="2995605"/>
              </a:xfrm>
              <a:prstGeom prst="rect">
                <a:avLst/>
              </a:prstGeom>
              <a:blipFill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A6A0329-01AC-421F-BD13-B9FA1BDCEE9E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B051C5-5B54-465D-9973-F9B3FFE8BD8B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Opción 1. Desarrollo</a:t>
            </a:r>
          </a:p>
        </p:txBody>
      </p:sp>
    </p:spTree>
    <p:extLst>
      <p:ext uri="{BB962C8B-B14F-4D97-AF65-F5344CB8AC3E}">
        <p14:creationId xmlns:p14="http://schemas.microsoft.com/office/powerpoint/2010/main" val="1207223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6A0329-01AC-421F-BD13-B9FA1BDCEE9E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B051C5-5B54-465D-9973-F9B3FFE8BD8B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Opción 1. Desarrollo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CCDF5FD-E588-4E1B-A4AE-9E378FC21E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101" y="1337769"/>
                <a:ext cx="12087887" cy="28392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𝑬𝒔𝒕𝒂𝒃𝒊𝒍𝒊𝒅𝒂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estabilidad de la ciudad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del genérico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𝑴𝒆𝒅𝒊𝒂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𝑬𝒔𝒕𝒂𝒃𝒊𝒍𝒊𝒅𝒂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media de las estabilidades de todas las ciudades para el genérico</a:t>
                </a:r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𝑽𝒂𝒓𝒊𝒂𝒃𝒊𝒍𝒊𝒅𝒂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variabilidad de la ciudad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del genérico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𝑴𝒆𝒅𝒊𝒂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𝑽𝒂𝒓𝒊𝒂𝒃𝒊𝒍𝒊𝒅𝒂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media de las variabilidades de todas las ciudades para el genérico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MX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 esta forma nos centramos en aquellas ciudades que tengan valor 1 en la variable de Competitivo.</a:t>
                </a:r>
              </a:p>
              <a:p>
                <a:pPr marL="0" indent="0">
                  <a:buNone/>
                </a:pPr>
                <a:endParaRPr lang="es-MX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CCDF5FD-E588-4E1B-A4AE-9E378FC21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01" y="1337769"/>
                <a:ext cx="12087887" cy="2839281"/>
              </a:xfrm>
              <a:prstGeom prst="rect">
                <a:avLst/>
              </a:prstGeom>
              <a:blipFill>
                <a:blip r:embed="rId2"/>
                <a:stretch>
                  <a:fillRect l="-454" t="-8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634788A-F36F-4BF6-B8DC-662E03A8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01" y="3429000"/>
            <a:ext cx="6592235" cy="321246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2A0E92F-9B8B-4879-A56B-7148C468FCEA}"/>
              </a:ext>
            </a:extLst>
          </p:cNvPr>
          <p:cNvSpPr txBox="1">
            <a:spLocks/>
          </p:cNvSpPr>
          <p:nvPr/>
        </p:nvSpPr>
        <p:spPr>
          <a:xfrm>
            <a:off x="7181336" y="6085702"/>
            <a:ext cx="4316930" cy="772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s-MX" i="1" dirty="0">
                <a:solidFill>
                  <a:schemeClr val="bg1">
                    <a:lumMod val="50000"/>
                  </a:schemeClr>
                </a:solidFill>
              </a:rPr>
              <a:t>Algunas ciudades con todos sus valores para el genérico 002 Arroz</a:t>
            </a:r>
          </a:p>
        </p:txBody>
      </p:sp>
    </p:spTree>
    <p:extLst>
      <p:ext uri="{BB962C8B-B14F-4D97-AF65-F5344CB8AC3E}">
        <p14:creationId xmlns:p14="http://schemas.microsoft.com/office/powerpoint/2010/main" val="85702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49287A-C27A-4814-951C-4DBBC869EA2B}"/>
              </a:ext>
            </a:extLst>
          </p:cNvPr>
          <p:cNvSpPr txBox="1">
            <a:spLocks/>
          </p:cNvSpPr>
          <p:nvPr/>
        </p:nvSpPr>
        <p:spPr>
          <a:xfrm>
            <a:off x="6096000" y="1501564"/>
            <a:ext cx="5670175" cy="478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Visualmente lo podemos ver al graficar las ciudades como puntos de coordenadas (Estabilidad, Variabilidad) colocar las rectas que corresponden a las medias de cada coordenada (azul para mean y roja para </a:t>
            </a:r>
            <a:r>
              <a:rPr lang="es-ES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sd</a:t>
            </a:r>
            <a:r>
              <a:rPr lang="es-E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) y ver aquellas que caigan sobre el cuadrante de abajo a la izquierda.</a:t>
            </a:r>
            <a:endParaRPr lang="es-MX" sz="22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B05FD7-C5C7-4280-B2FC-F8B64BDDB45A}"/>
              </a:ext>
            </a:extLst>
          </p:cNvPr>
          <p:cNvSpPr txBox="1">
            <a:spLocks/>
          </p:cNvSpPr>
          <p:nvPr/>
        </p:nvSpPr>
        <p:spPr>
          <a:xfrm>
            <a:off x="602876" y="5621797"/>
            <a:ext cx="5493122" cy="933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s-MX" i="1" dirty="0">
                <a:solidFill>
                  <a:srgbClr val="545454"/>
                </a:solidFill>
              </a:rPr>
              <a:t>Gráfica de los datos para el genérico 001 Arroz. 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s-MX" i="1" dirty="0">
                <a:solidFill>
                  <a:srgbClr val="545454"/>
                </a:solidFill>
              </a:rPr>
              <a:t>23 ciudades entraron en el rango de interés, entre ellas las 3 ciudades de Hidalgo. </a:t>
            </a:r>
          </a:p>
          <a:p>
            <a:pPr marL="0" indent="0">
              <a:buFont typeface="Wingdings 3" charset="2"/>
              <a:buNone/>
            </a:pPr>
            <a:endParaRPr lang="es-MX" sz="2000" dirty="0"/>
          </a:p>
          <a:p>
            <a:pPr marL="0" indent="0">
              <a:buFont typeface="Wingdings 3" charset="2"/>
              <a:buNone/>
            </a:pPr>
            <a:endParaRPr lang="es-MX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BF394-0E09-4E1A-8669-152233DC6E6D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34F4EA7-B5AC-4E9B-9414-5F4546BBB821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Opción 1. Resultados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1A4178-8DE6-4AC7-B2C7-95C9CB832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76" y="1342001"/>
            <a:ext cx="5313830" cy="427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95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9D151-82C0-43EE-B707-76C5539F5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2876" y="1385048"/>
                <a:ext cx="10986247" cy="506954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MX" sz="2000" dirty="0">
                    <a:latin typeface="Montserrat" panose="00000500000000000000" pitchFamily="50" charset="0"/>
                  </a:rPr>
                  <a:t>Agrupamos a las ciudades por genérico, se calcula la media y la desviación estándar de la estabilidad así como de la variabilidad, con ellos normalizamos los datos (restarles la media y dividirlos entre su desviación estándar). El índice será la suma de la mitad de ambos.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𝑬𝒔𝒕𝒂𝒃𝒊𝒍𝒊𝒅𝒂𝒅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𝑵𝒐𝒓𝒎𝒂𝒍𝒊𝒛𝒂𝒅𝒂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𝑬𝒔𝒕𝒂𝒃𝒊𝒍𝒊𝒅𝒂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𝑴𝒆𝒅𝒊𝒂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𝑬𝒔𝒕𝒂𝒃𝒊𝒍𝒊𝒅𝒂</m:t>
                      </m:r>
                      <m:sSub>
                        <m:sSubPr>
                          <m:ctrlP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𝑫𝒔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𝑬𝒔𝒕𝒂𝒃𝒊𝒍𝒊𝒅𝒂</m:t>
                      </m:r>
                      <m:sSub>
                        <m:sSubPr>
                          <m:ctrlP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es-MX" sz="2000" b="1" dirty="0">
                  <a:latin typeface="Montserrat" panose="00000500000000000000" pitchFamily="50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𝑽𝒂𝒓𝒊𝒂𝒃𝒊𝒍𝒊𝒅𝒂𝒅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𝑵𝒐𝒓𝒎𝒂𝒍𝒊𝒛𝒂𝒅𝒂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𝑽𝒂𝒓𝒊𝒂𝒃𝒊𝒍𝒊𝒅𝒂</m:t>
                      </m:r>
                      <m:sSub>
                        <m:sSub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𝑴𝒆𝒅𝒊𝒂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2000" b="1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𝑽𝒂𝒓𝒊𝒂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𝒃𝒊𝒍𝒊𝒅𝒂</m:t>
                      </m:r>
                      <m:sSub>
                        <m:sSubPr>
                          <m:ctrlP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s-ES" sz="20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𝐃𝐬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ES" sz="2000" b="1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𝑽𝒂𝒓𝒊𝒂</m:t>
                      </m:r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𝒃𝒊𝒍𝒊𝒅𝒂</m:t>
                      </m:r>
                      <m:sSub>
                        <m:sSubPr>
                          <m:ctrlP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es-MX" sz="200" dirty="0">
                  <a:solidFill>
                    <a:schemeClr val="bg1"/>
                  </a:solidFill>
                  <a:latin typeface="Montserrat" panose="00000500000000000000" pitchFamily="50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𝐈𝐧𝐝𝐢𝐜𝐞</m:t>
                          </m:r>
                        </m:e>
                        <m:sub>
                          <m:r>
                            <a:rPr lang="es-ES" sz="2000" b="1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  <m:r>
                            <a:rPr lang="es-ES" sz="2000" b="1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sub>
                      </m:sSub>
                      <m:r>
                        <a:rPr lang="es-ES" sz="2000" b="1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𝑬𝒔𝒕𝒂𝒃𝒊𝒍𝒊𝒅𝒂𝒅</m:t>
                      </m:r>
                      <m:r>
                        <a:rPr lang="es-ES" sz="2000" b="1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𝑵𝒐𝒓𝒎𝒂𝒍𝒊𝒛𝒂𝒅𝒂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s-ES" sz="2000" b="1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𝑽𝒂𝒓𝒊𝒂𝒃𝒊𝒍𝒊𝒅𝒂𝒅</m:t>
                      </m:r>
                      <m:r>
                        <a:rPr lang="es-ES" sz="2000" b="1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𝑵𝒐𝒓𝒎𝒂𝒍𝒊𝒛𝒂𝒅𝒂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es-MX" sz="2000" b="1" dirty="0">
                  <a:latin typeface="Montserrat" panose="00000500000000000000" pitchFamily="50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MX" sz="2000" dirty="0">
                    <a:latin typeface="Montserrat" panose="00000500000000000000" pitchFamily="50" charset="0"/>
                  </a:rPr>
                  <a:t>Consideraremos a aquellos cuyo valor del índice sea menor estricto que la media del mismo por genérico.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𝑰𝒏𝒅𝒊𝒄𝒆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E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𝑪𝒐𝒎𝒑𝒆𝒕𝒊𝒕𝒊𝒗𝒐</m:t>
                          </m:r>
                        </m:e>
                        <m:sub>
                          <m:r>
                            <a:rPr lang="es-ES" sz="2000" b="1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ES" sz="2000" b="1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s-ES" sz="20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ES" sz="20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𝒔𝒊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sz="20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𝑰𝒏𝒅𝒊𝒄</m:t>
                              </m:r>
                              <m:sSub>
                                <m:sSubPr>
                                  <m:ctrlPr>
                                    <a:rPr lang="es-ES" sz="20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s-ES" sz="2000" b="1" i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s-ES" sz="2000" b="1" i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sz="2000" b="1" i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sub>
                              </m:sSub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𝑴𝒆𝒅𝒊𝒂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s-ES" sz="20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𝑰𝒏𝒅𝒊𝒄</m:t>
                              </m:r>
                              <m:sSub>
                                <m:sSubPr>
                                  <m:ctrlPr>
                                    <a:rPr lang="es-ES" sz="2000" b="1" i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s-ES" sz="2000" b="1" i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𝒐𝒕𝒓𝒐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sz="20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𝒄𝒂𝒔𝒐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MX" sz="2000" b="1" i="1" dirty="0">
                  <a:latin typeface="Montserrat" panose="00000500000000000000" pitchFamily="50" charset="0"/>
                </a:endParaRPr>
              </a:p>
              <a:p>
                <a:pPr marL="0" indent="0">
                  <a:buNone/>
                </a:pPr>
                <a:endParaRPr lang="es-MX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9D151-82C0-43EE-B707-76C5539F5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2876" y="1385048"/>
                <a:ext cx="10986247" cy="5069540"/>
              </a:xfrm>
              <a:blipFill>
                <a:blip r:embed="rId2"/>
                <a:stretch>
                  <a:fillRect l="-3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68B6BF5-B70A-419F-B2C6-43CDCD8BF866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21CE38-D207-4FDF-B33B-A0F257B46BCA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Opción 2. Desarrollo</a:t>
            </a:r>
          </a:p>
        </p:txBody>
      </p:sp>
    </p:spTree>
    <p:extLst>
      <p:ext uri="{BB962C8B-B14F-4D97-AF65-F5344CB8AC3E}">
        <p14:creationId xmlns:p14="http://schemas.microsoft.com/office/powerpoint/2010/main" val="184004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8B6BF5-B70A-419F-B2C6-43CDCD8BF866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21CE38-D207-4FDF-B33B-A0F257B46BCA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Opción 2. Desarrollo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249E9-3477-498B-B18B-506AD194E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76" y="4197771"/>
            <a:ext cx="6528996" cy="23671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9EE3EFF-A333-449A-98C9-078F97C4B6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101" y="1337769"/>
                <a:ext cx="12087887" cy="28392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𝑬𝒔𝒕𝒂𝒃𝒊𝒍𝒊𝒅𝒂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estabilidad de la ciudad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del genérico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s-E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Vari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variabilidad de la ciudad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del genérico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  <a:endParaRPr lang="es-MX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𝑴𝒆𝒅𝒊𝒂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𝑬𝒔𝒕𝒂𝒃𝒊𝒍𝒊𝒅𝒂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media de las estabilidades de todas las ciudades para el genérico</a:t>
                </a:r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𝑫𝒔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𝑬𝒔𝒕𝒂𝒃𝒊𝒍𝒊𝒅𝒂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desviación estándar de las estabilidades de todas las ciudades para el genérico</a:t>
                </a:r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𝑴𝒆𝒅𝒊𝒂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𝑽𝒂𝒓𝒊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media de las variabilidades de todas las ciudades para el genérico</a:t>
                </a:r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𝑫𝒔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𝑽𝒂𝒓𝒊</m:t>
                    </m:r>
                    <m:r>
                      <a:rPr lang="es-ES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𝒂𝒃𝒊𝒍𝒊𝒅𝒂</m:t>
                    </m:r>
                    <m:sSub>
                      <m:sSubPr>
                        <m:ctrlP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desviación estándar de las variabilidades de todas las ciudades para el genérico</a:t>
                </a:r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  <a:endParaRPr lang="es-MX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𝑴𝒆𝒅𝒊𝒂</m:t>
                    </m:r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s-ES" b="1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𝑰𝒏𝒅𝒊𝒄</m:t>
                    </m:r>
                    <m:sSub>
                      <m:sSubPr>
                        <m:ctrlPr>
                          <a:rPr lang="es-ES" b="1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s-ES" b="1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es la media del índice de todas las ciudades para el genérico</a:t>
                </a:r>
                <a:r>
                  <a:rPr lang="es-MX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 esta forma nos centramos en aquellas ciudades que tengan valor 1 en la variable de </a:t>
                </a:r>
                <a:r>
                  <a:rPr lang="es-MX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Indice_Competitivo</a:t>
                </a:r>
                <a:r>
                  <a:rPr lang="es-MX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s-MX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9EE3EFF-A333-449A-98C9-078F97C4B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01" y="1337769"/>
                <a:ext cx="12087887" cy="2839281"/>
              </a:xfrm>
              <a:prstGeom prst="rect">
                <a:avLst/>
              </a:prstGeom>
              <a:blipFill>
                <a:blip r:embed="rId3"/>
                <a:stretch>
                  <a:fillRect l="-353" t="-1931" b="-8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1615880-094B-4D52-87B1-8F05C2675CE3}"/>
              </a:ext>
            </a:extLst>
          </p:cNvPr>
          <p:cNvSpPr txBox="1">
            <a:spLocks/>
          </p:cNvSpPr>
          <p:nvPr/>
        </p:nvSpPr>
        <p:spPr>
          <a:xfrm>
            <a:off x="7131872" y="5813328"/>
            <a:ext cx="4316930" cy="772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s-MX" i="1" dirty="0">
                <a:solidFill>
                  <a:schemeClr val="bg1">
                    <a:lumMod val="50000"/>
                  </a:schemeClr>
                </a:solidFill>
              </a:rPr>
              <a:t>Algunas ciudades con todos sus valores para el genérico 002 Arroz</a:t>
            </a:r>
          </a:p>
        </p:txBody>
      </p:sp>
    </p:spTree>
    <p:extLst>
      <p:ext uri="{BB962C8B-B14F-4D97-AF65-F5344CB8AC3E}">
        <p14:creationId xmlns:p14="http://schemas.microsoft.com/office/powerpoint/2010/main" val="260552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3DE1D3-E6AE-442B-951F-CFD8EE38EE2A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9CFB50-FB4E-452B-AE00-C0044EEEB33B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Opción 2. Resultados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F23AED0-2DDD-40F0-A5A0-13AA03F2CF87}"/>
              </a:ext>
            </a:extLst>
          </p:cNvPr>
          <p:cNvSpPr txBox="1">
            <a:spLocks/>
          </p:cNvSpPr>
          <p:nvPr/>
        </p:nvSpPr>
        <p:spPr>
          <a:xfrm>
            <a:off x="7570694" y="1514292"/>
            <a:ext cx="4018429" cy="47887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Visualmente lo podemos ver al graficar las ciudades como puntos de una coordenada (</a:t>
            </a:r>
            <a:r>
              <a:rPr lang="es-E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Indice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), colocar la recta que corresponden al promedio del índice (línea roja) y ver aquellas que caigan.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El eje horizontal no es importante, se graficaron en dos dimensiones para facilitar la visualización.</a:t>
            </a:r>
            <a:endParaRPr lang="es-MX" sz="2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50" charset="0"/>
            </a:endParaRPr>
          </a:p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endParaRPr lang="es-MX" sz="22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53C588-60D5-4A3C-956D-4368CDEB3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33"/>
          <a:stretch/>
        </p:blipFill>
        <p:spPr>
          <a:xfrm>
            <a:off x="510696" y="1717523"/>
            <a:ext cx="6965869" cy="3672574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1D0B75C-55BB-460D-A221-C7D41375A34F}"/>
              </a:ext>
            </a:extLst>
          </p:cNvPr>
          <p:cNvSpPr txBox="1">
            <a:spLocks/>
          </p:cNvSpPr>
          <p:nvPr/>
        </p:nvSpPr>
        <p:spPr>
          <a:xfrm>
            <a:off x="602877" y="5523804"/>
            <a:ext cx="5493122" cy="933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s-MX" i="1" dirty="0">
                <a:solidFill>
                  <a:srgbClr val="545454"/>
                </a:solidFill>
              </a:rPr>
              <a:t>Gráfica de los datos para el genérico 001 Arroz. 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s-MX" i="1" dirty="0">
                <a:solidFill>
                  <a:srgbClr val="545454"/>
                </a:solidFill>
              </a:rPr>
              <a:t>29 ciudades entraron en el rango de interés, entre ellas las 3 ciudades de Hidalgo. </a:t>
            </a:r>
          </a:p>
          <a:p>
            <a:pPr marL="0" indent="0">
              <a:buFont typeface="Wingdings 3" charset="2"/>
              <a:buNone/>
            </a:pPr>
            <a:endParaRPr lang="es-MX" sz="2000" dirty="0"/>
          </a:p>
          <a:p>
            <a:pPr marL="0" indent="0">
              <a:buFont typeface="Wingdings 3" charset="2"/>
              <a:buNone/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809539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D151-82C0-43EE-B707-76C5539F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306" y="1450757"/>
            <a:ext cx="6510944" cy="449284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>
                <a:latin typeface="Montserrat" panose="00000500000000000000" pitchFamily="50" charset="0"/>
              </a:rPr>
              <a:t>Si bien ambas propuestas son válidas, al calcular la ubicuidad (cuántas ciudades cuentan con un precio competitivo para cada genérico) existe una diferencia clara; la segunda propuesta siempre toma más ciudades para cada genérico.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49287A-C27A-4814-951C-4DBBC869EA2B}"/>
              </a:ext>
            </a:extLst>
          </p:cNvPr>
          <p:cNvSpPr txBox="1">
            <a:spLocks/>
          </p:cNvSpPr>
          <p:nvPr/>
        </p:nvSpPr>
        <p:spPr>
          <a:xfrm>
            <a:off x="7467600" y="1501564"/>
            <a:ext cx="4045650" cy="478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s-MX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2E4D08-3DDB-4143-8CA1-9EA8A64D5914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D712E-5B4C-4233-8444-97ECC6224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4" y="1450757"/>
            <a:ext cx="3982006" cy="390579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AE30553-E71D-4DE8-B240-0C5D3AC87549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Comparación de resultados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DAA697-C901-46AD-939B-BA40408723E6}"/>
              </a:ext>
            </a:extLst>
          </p:cNvPr>
          <p:cNvSpPr txBox="1">
            <a:spLocks/>
          </p:cNvSpPr>
          <p:nvPr/>
        </p:nvSpPr>
        <p:spPr>
          <a:xfrm>
            <a:off x="570944" y="5356434"/>
            <a:ext cx="4431362" cy="9338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s-ES" i="1" dirty="0">
                <a:solidFill>
                  <a:srgbClr val="545454"/>
                </a:solidFill>
              </a:rPr>
              <a:t>Cuadro comparativo de ubicuidad para algunos genéricos.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i="1" dirty="0">
                <a:solidFill>
                  <a:srgbClr val="545454"/>
                </a:solidFill>
              </a:rPr>
              <a:t>En la segunda columna vemos los resultados de la opción 1 y en la tercera los de la opción 2.</a:t>
            </a:r>
          </a:p>
          <a:p>
            <a:pPr marL="0" indent="0">
              <a:buFont typeface="Wingdings 3" charset="2"/>
              <a:buNone/>
            </a:pPr>
            <a:endParaRPr lang="es-MX" sz="2000" dirty="0"/>
          </a:p>
          <a:p>
            <a:pPr marL="0" indent="0">
              <a:buFont typeface="Wingdings 3" charset="2"/>
              <a:buNone/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35336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D151-82C0-43EE-B707-76C5539F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17048"/>
            <a:ext cx="10986246" cy="93387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sz="2600" dirty="0"/>
              <a:t>Tenemos un caso del genérico 235 Paquetes de internet, telefonía y televisión de paga donde la opción 1 excluye a todas las ciudades mientras que la opción 2 toma 20.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49287A-C27A-4814-951C-4DBBC869EA2B}"/>
              </a:ext>
            </a:extLst>
          </p:cNvPr>
          <p:cNvSpPr txBox="1">
            <a:spLocks/>
          </p:cNvSpPr>
          <p:nvPr/>
        </p:nvSpPr>
        <p:spPr>
          <a:xfrm>
            <a:off x="7467600" y="1501564"/>
            <a:ext cx="4045650" cy="478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s-MX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42237D-221D-4425-A393-3E4564EF74FE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37334-046C-462F-81EF-652A62C3F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98" y="2976595"/>
            <a:ext cx="3600076" cy="311972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C9BF531-EC1D-4562-9F60-31A11F4A4FBB}"/>
              </a:ext>
            </a:extLst>
          </p:cNvPr>
          <p:cNvSpPr txBox="1">
            <a:spLocks/>
          </p:cNvSpPr>
          <p:nvPr/>
        </p:nvSpPr>
        <p:spPr>
          <a:xfrm>
            <a:off x="602876" y="-133709"/>
            <a:ext cx="10986247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chemeClr val="bg1"/>
                </a:solidFill>
                <a:latin typeface="Montserrat"/>
              </a:rPr>
              <a:t>Comparación de resultados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C04DFC-8536-4842-8D11-3A875BEC17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135"/>
          <a:stretch/>
        </p:blipFill>
        <p:spPr>
          <a:xfrm>
            <a:off x="678750" y="2096490"/>
            <a:ext cx="4315427" cy="4375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29985B-4B9F-4D39-8FE9-790E5DB5E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374" y="2976595"/>
            <a:ext cx="3901046" cy="3119728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A6BE96-DD28-4762-A404-4EEA7640E2ED}"/>
              </a:ext>
            </a:extLst>
          </p:cNvPr>
          <p:cNvSpPr txBox="1">
            <a:spLocks/>
          </p:cNvSpPr>
          <p:nvPr/>
        </p:nvSpPr>
        <p:spPr>
          <a:xfrm>
            <a:off x="1861299" y="6033062"/>
            <a:ext cx="7200151" cy="933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s-MX" sz="1700" i="1" dirty="0">
                <a:solidFill>
                  <a:srgbClr val="545454"/>
                </a:solidFill>
              </a:rPr>
              <a:t>Gráficas para 235 </a:t>
            </a:r>
            <a:r>
              <a:rPr lang="es-ES" sz="1700" i="1" dirty="0">
                <a:solidFill>
                  <a:srgbClr val="545454"/>
                </a:solidFill>
              </a:rPr>
              <a:t>Paquetes de internet, telefonía y televisión de paga.</a:t>
            </a:r>
            <a:r>
              <a:rPr lang="es-MX" sz="1700" i="1" dirty="0">
                <a:solidFill>
                  <a:srgbClr val="545454"/>
                </a:solidFill>
              </a:rPr>
              <a:t> La opción 1 no contempla ninguna ciudad peor la de opción 2 incluye a 20 ciudades.</a:t>
            </a:r>
            <a:endParaRPr lang="es-MX" sz="1700" dirty="0"/>
          </a:p>
          <a:p>
            <a:pPr marL="0" indent="0">
              <a:buFont typeface="Wingdings 3" charset="2"/>
              <a:buNone/>
            </a:pPr>
            <a:endParaRPr lang="es-MX" sz="2000" dirty="0"/>
          </a:p>
          <a:p>
            <a:pPr marL="0" indent="0">
              <a:buFont typeface="Wingdings 3" charset="2"/>
              <a:buNone/>
            </a:pPr>
            <a:endParaRPr lang="es-MX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1C15EA-EFB7-4A03-A04D-0A41A833E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857"/>
          <a:stretch/>
        </p:blipFill>
        <p:spPr>
          <a:xfrm>
            <a:off x="678750" y="2510504"/>
            <a:ext cx="4315427" cy="2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52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EDA7-9C38-4347-A17C-3C475136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43" y="2282590"/>
            <a:ext cx="8911687" cy="1280890"/>
          </a:xfrm>
        </p:spPr>
        <p:txBody>
          <a:bodyPr/>
          <a:lstStyle/>
          <a:p>
            <a:r>
              <a:rPr lang="es-MX" dirty="0"/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D151-82C0-43EE-B707-76C5539F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044" y="3096545"/>
            <a:ext cx="9737912" cy="9338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dirty="0"/>
              <a:t>La opción 1 me gusta más.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3A803-5A6F-4BDD-96A4-FE24C449D563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7962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EDA7-9C38-4347-A17C-3C475136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019" y="382063"/>
            <a:ext cx="8911687" cy="1280890"/>
          </a:xfrm>
        </p:spPr>
        <p:txBody>
          <a:bodyPr/>
          <a:lstStyle/>
          <a:p>
            <a:r>
              <a:rPr lang="es-MX" dirty="0"/>
              <a:t>Conclusiones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3AA096-14DE-4DD0-B579-8E0A08939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15" y="1320006"/>
            <a:ext cx="9006551" cy="49410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DD8E3E-8B0A-401A-B573-974425C3F481}"/>
              </a:ext>
            </a:extLst>
          </p:cNvPr>
          <p:cNvSpPr/>
          <p:nvPr/>
        </p:nvSpPr>
        <p:spPr>
          <a:xfrm>
            <a:off x="0" y="0"/>
            <a:ext cx="12192000" cy="1183341"/>
          </a:xfrm>
          <a:prstGeom prst="rect">
            <a:avLst/>
          </a:prstGeom>
          <a:solidFill>
            <a:srgbClr val="92081C"/>
          </a:solidFill>
          <a:ln>
            <a:solidFill>
              <a:srgbClr val="9208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201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7278</TotalTime>
  <Words>968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Montserrat</vt:lpstr>
      <vt:lpstr>Wingdings 3</vt:lpstr>
      <vt:lpstr>Office Theme</vt:lpstr>
      <vt:lpstr>INPC: Introducción a como catalogar el precio de un producto en una ciudad de la República Mexicana como “de precio competitivo”</vt:lpstr>
      <vt:lpstr>Estabilidad y Variabilidad del INPC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Conclusiones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INPC: Una Introducción a como catalogar un precio de un producto en una ciudad de México como “De precio competitivo”</dc:title>
  <dc:creator>ENRIQUE CERON</dc:creator>
  <cp:lastModifiedBy>ENRIQUE CERON</cp:lastModifiedBy>
  <cp:revision>43</cp:revision>
  <dcterms:created xsi:type="dcterms:W3CDTF">2026-04-08T22:14:29Z</dcterms:created>
  <dcterms:modified xsi:type="dcterms:W3CDTF">2026-04-20T17:03:30Z</dcterms:modified>
</cp:coreProperties>
</file>