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7" r:id="rId1"/>
  </p:sldMasterIdLst>
  <p:sldIdLst>
    <p:sldId id="256" r:id="rId2"/>
    <p:sldId id="257" r:id="rId3"/>
    <p:sldId id="258" r:id="rId4"/>
    <p:sldId id="259" r:id="rId5"/>
    <p:sldId id="260" r:id="rId6"/>
    <p:sldId id="268" r:id="rId7"/>
    <p:sldId id="261" r:id="rId8"/>
    <p:sldId id="262" r:id="rId9"/>
    <p:sldId id="269" r:id="rId10"/>
    <p:sldId id="263" r:id="rId11"/>
    <p:sldId id="264" r:id="rId12"/>
    <p:sldId id="265" r:id="rId13"/>
    <p:sldId id="270" r:id="rId14"/>
    <p:sldId id="271" r:id="rId15"/>
    <p:sldId id="266" r:id="rId16"/>
    <p:sldId id="267" r:id="rId17"/>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9A9A9"/>
    <a:srgbClr val="848484"/>
    <a:srgbClr val="545454"/>
    <a:srgbClr val="737373"/>
    <a:srgbClr val="92081C"/>
    <a:srgbClr val="B1071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4" autoAdjust="0"/>
    <p:restoredTop sz="94660"/>
  </p:normalViewPr>
  <p:slideViewPr>
    <p:cSldViewPr snapToGrid="0">
      <p:cViewPr>
        <p:scale>
          <a:sx n="75" d="100"/>
          <a:sy n="75" d="100"/>
        </p:scale>
        <p:origin x="456"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8984B-368B-484C-AB6B-EDC039D3A2F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s-MX"/>
          </a:p>
        </p:txBody>
      </p:sp>
      <p:sp>
        <p:nvSpPr>
          <p:cNvPr id="3" name="Subtitle 2">
            <a:extLst>
              <a:ext uri="{FF2B5EF4-FFF2-40B4-BE49-F238E27FC236}">
                <a16:creationId xmlns:a16="http://schemas.microsoft.com/office/drawing/2014/main" id="{3EF4A68A-DBF1-4322-A6D7-14310603267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s-MX"/>
          </a:p>
        </p:txBody>
      </p:sp>
      <p:sp>
        <p:nvSpPr>
          <p:cNvPr id="4" name="Date Placeholder 3">
            <a:extLst>
              <a:ext uri="{FF2B5EF4-FFF2-40B4-BE49-F238E27FC236}">
                <a16:creationId xmlns:a16="http://schemas.microsoft.com/office/drawing/2014/main" id="{90617F20-669E-4BB3-AD86-DD6DA3373158}"/>
              </a:ext>
            </a:extLst>
          </p:cNvPr>
          <p:cNvSpPr>
            <a:spLocks noGrp="1"/>
          </p:cNvSpPr>
          <p:nvPr>
            <p:ph type="dt" sz="half" idx="10"/>
          </p:nvPr>
        </p:nvSpPr>
        <p:spPr/>
        <p:txBody>
          <a:bodyPr/>
          <a:lstStyle/>
          <a:p>
            <a:fld id="{6984AC7B-87B8-489F-A603-00C2C859C0C6}" type="datetimeFigureOut">
              <a:rPr lang="es-MX" smtClean="0"/>
              <a:t>20/04/2026</a:t>
            </a:fld>
            <a:endParaRPr lang="es-MX"/>
          </a:p>
        </p:txBody>
      </p:sp>
      <p:sp>
        <p:nvSpPr>
          <p:cNvPr id="5" name="Footer Placeholder 4">
            <a:extLst>
              <a:ext uri="{FF2B5EF4-FFF2-40B4-BE49-F238E27FC236}">
                <a16:creationId xmlns:a16="http://schemas.microsoft.com/office/drawing/2014/main" id="{D50E5910-A603-40E1-9769-B3B82B1821A9}"/>
              </a:ext>
            </a:extLst>
          </p:cNvPr>
          <p:cNvSpPr>
            <a:spLocks noGrp="1"/>
          </p:cNvSpPr>
          <p:nvPr>
            <p:ph type="ftr" sz="quarter" idx="11"/>
          </p:nvPr>
        </p:nvSpPr>
        <p:spPr/>
        <p:txBody>
          <a:bodyPr/>
          <a:lstStyle/>
          <a:p>
            <a:endParaRPr lang="es-MX"/>
          </a:p>
        </p:txBody>
      </p:sp>
      <p:sp>
        <p:nvSpPr>
          <p:cNvPr id="6" name="Slide Number Placeholder 5">
            <a:extLst>
              <a:ext uri="{FF2B5EF4-FFF2-40B4-BE49-F238E27FC236}">
                <a16:creationId xmlns:a16="http://schemas.microsoft.com/office/drawing/2014/main" id="{47DA3DF8-F5A7-4692-B4BB-C81B30C4CF5A}"/>
              </a:ext>
            </a:extLst>
          </p:cNvPr>
          <p:cNvSpPr>
            <a:spLocks noGrp="1"/>
          </p:cNvSpPr>
          <p:nvPr>
            <p:ph type="sldNum" sz="quarter" idx="12"/>
          </p:nvPr>
        </p:nvSpPr>
        <p:spPr/>
        <p:txBody>
          <a:bodyPr/>
          <a:lstStyle/>
          <a:p>
            <a:fld id="{5957BCE1-CA33-4A9E-B899-1FC89F08B999}" type="slidenum">
              <a:rPr lang="es-MX" smtClean="0"/>
              <a:t>‹#›</a:t>
            </a:fld>
            <a:endParaRPr lang="es-MX"/>
          </a:p>
        </p:txBody>
      </p:sp>
    </p:spTree>
    <p:extLst>
      <p:ext uri="{BB962C8B-B14F-4D97-AF65-F5344CB8AC3E}">
        <p14:creationId xmlns:p14="http://schemas.microsoft.com/office/powerpoint/2010/main" val="6605318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EEA32A-F461-4144-AD37-0F771BBF2818}"/>
              </a:ext>
            </a:extLst>
          </p:cNvPr>
          <p:cNvSpPr>
            <a:spLocks noGrp="1"/>
          </p:cNvSpPr>
          <p:nvPr>
            <p:ph type="title"/>
          </p:nvPr>
        </p:nvSpPr>
        <p:spPr/>
        <p:txBody>
          <a:bodyPr/>
          <a:lstStyle/>
          <a:p>
            <a:r>
              <a:rPr lang="en-US"/>
              <a:t>Click to edit Master title style</a:t>
            </a:r>
            <a:endParaRPr lang="es-MX"/>
          </a:p>
        </p:txBody>
      </p:sp>
      <p:sp>
        <p:nvSpPr>
          <p:cNvPr id="3" name="Content Placeholder 2">
            <a:extLst>
              <a:ext uri="{FF2B5EF4-FFF2-40B4-BE49-F238E27FC236}">
                <a16:creationId xmlns:a16="http://schemas.microsoft.com/office/drawing/2014/main" id="{789D56CC-2D56-4A82-AE09-7FCA2334F6A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MX"/>
          </a:p>
        </p:txBody>
      </p:sp>
      <p:sp>
        <p:nvSpPr>
          <p:cNvPr id="4" name="Date Placeholder 3">
            <a:extLst>
              <a:ext uri="{FF2B5EF4-FFF2-40B4-BE49-F238E27FC236}">
                <a16:creationId xmlns:a16="http://schemas.microsoft.com/office/drawing/2014/main" id="{3D040EC9-800E-4510-A71A-7D7225A421D0}"/>
              </a:ext>
            </a:extLst>
          </p:cNvPr>
          <p:cNvSpPr>
            <a:spLocks noGrp="1"/>
          </p:cNvSpPr>
          <p:nvPr>
            <p:ph type="dt" sz="half" idx="10"/>
          </p:nvPr>
        </p:nvSpPr>
        <p:spPr/>
        <p:txBody>
          <a:bodyPr/>
          <a:lstStyle/>
          <a:p>
            <a:fld id="{6984AC7B-87B8-489F-A603-00C2C859C0C6}" type="datetimeFigureOut">
              <a:rPr lang="es-MX" smtClean="0"/>
              <a:t>20/04/2026</a:t>
            </a:fld>
            <a:endParaRPr lang="es-MX"/>
          </a:p>
        </p:txBody>
      </p:sp>
      <p:sp>
        <p:nvSpPr>
          <p:cNvPr id="5" name="Footer Placeholder 4">
            <a:extLst>
              <a:ext uri="{FF2B5EF4-FFF2-40B4-BE49-F238E27FC236}">
                <a16:creationId xmlns:a16="http://schemas.microsoft.com/office/drawing/2014/main" id="{0DC1A048-7D49-4FDA-9EB3-C4C19BC530D6}"/>
              </a:ext>
            </a:extLst>
          </p:cNvPr>
          <p:cNvSpPr>
            <a:spLocks noGrp="1"/>
          </p:cNvSpPr>
          <p:nvPr>
            <p:ph type="ftr" sz="quarter" idx="11"/>
          </p:nvPr>
        </p:nvSpPr>
        <p:spPr/>
        <p:txBody>
          <a:bodyPr/>
          <a:lstStyle/>
          <a:p>
            <a:endParaRPr lang="es-MX"/>
          </a:p>
        </p:txBody>
      </p:sp>
      <p:sp>
        <p:nvSpPr>
          <p:cNvPr id="6" name="Slide Number Placeholder 5">
            <a:extLst>
              <a:ext uri="{FF2B5EF4-FFF2-40B4-BE49-F238E27FC236}">
                <a16:creationId xmlns:a16="http://schemas.microsoft.com/office/drawing/2014/main" id="{C3781A47-05A5-4623-8421-009E16F79AC9}"/>
              </a:ext>
            </a:extLst>
          </p:cNvPr>
          <p:cNvSpPr>
            <a:spLocks noGrp="1"/>
          </p:cNvSpPr>
          <p:nvPr>
            <p:ph type="sldNum" sz="quarter" idx="12"/>
          </p:nvPr>
        </p:nvSpPr>
        <p:spPr/>
        <p:txBody>
          <a:bodyPr/>
          <a:lstStyle/>
          <a:p>
            <a:fld id="{5957BCE1-CA33-4A9E-B899-1FC89F08B999}" type="slidenum">
              <a:rPr lang="es-MX" smtClean="0"/>
              <a:t>‹#›</a:t>
            </a:fld>
            <a:endParaRPr lang="es-MX"/>
          </a:p>
        </p:txBody>
      </p:sp>
    </p:spTree>
    <p:extLst>
      <p:ext uri="{BB962C8B-B14F-4D97-AF65-F5344CB8AC3E}">
        <p14:creationId xmlns:p14="http://schemas.microsoft.com/office/powerpoint/2010/main" val="23845158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391C78-712B-4F52-B8E0-6C4E64F6C9B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s-MX"/>
          </a:p>
        </p:txBody>
      </p:sp>
      <p:sp>
        <p:nvSpPr>
          <p:cNvPr id="3" name="Text Placeholder 2">
            <a:extLst>
              <a:ext uri="{FF2B5EF4-FFF2-40B4-BE49-F238E27FC236}">
                <a16:creationId xmlns:a16="http://schemas.microsoft.com/office/drawing/2014/main" id="{39B89B04-9F07-4AC4-BBB0-B6A8F9BCB44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376AD5-26EE-4052-A705-63EC04C3825C}"/>
              </a:ext>
            </a:extLst>
          </p:cNvPr>
          <p:cNvSpPr>
            <a:spLocks noGrp="1"/>
          </p:cNvSpPr>
          <p:nvPr>
            <p:ph type="dt" sz="half" idx="10"/>
          </p:nvPr>
        </p:nvSpPr>
        <p:spPr/>
        <p:txBody>
          <a:bodyPr/>
          <a:lstStyle/>
          <a:p>
            <a:fld id="{6984AC7B-87B8-489F-A603-00C2C859C0C6}" type="datetimeFigureOut">
              <a:rPr lang="es-MX" smtClean="0"/>
              <a:t>20/04/2026</a:t>
            </a:fld>
            <a:endParaRPr lang="es-MX"/>
          </a:p>
        </p:txBody>
      </p:sp>
      <p:sp>
        <p:nvSpPr>
          <p:cNvPr id="5" name="Footer Placeholder 4">
            <a:extLst>
              <a:ext uri="{FF2B5EF4-FFF2-40B4-BE49-F238E27FC236}">
                <a16:creationId xmlns:a16="http://schemas.microsoft.com/office/drawing/2014/main" id="{B472C598-8D9A-4433-827D-7A3F861AFD85}"/>
              </a:ext>
            </a:extLst>
          </p:cNvPr>
          <p:cNvSpPr>
            <a:spLocks noGrp="1"/>
          </p:cNvSpPr>
          <p:nvPr>
            <p:ph type="ftr" sz="quarter" idx="11"/>
          </p:nvPr>
        </p:nvSpPr>
        <p:spPr/>
        <p:txBody>
          <a:bodyPr/>
          <a:lstStyle/>
          <a:p>
            <a:endParaRPr lang="es-MX"/>
          </a:p>
        </p:txBody>
      </p:sp>
      <p:sp>
        <p:nvSpPr>
          <p:cNvPr id="6" name="Slide Number Placeholder 5">
            <a:extLst>
              <a:ext uri="{FF2B5EF4-FFF2-40B4-BE49-F238E27FC236}">
                <a16:creationId xmlns:a16="http://schemas.microsoft.com/office/drawing/2014/main" id="{C8093929-D4EA-493C-8357-51E2E636ED38}"/>
              </a:ext>
            </a:extLst>
          </p:cNvPr>
          <p:cNvSpPr>
            <a:spLocks noGrp="1"/>
          </p:cNvSpPr>
          <p:nvPr>
            <p:ph type="sldNum" sz="quarter" idx="12"/>
          </p:nvPr>
        </p:nvSpPr>
        <p:spPr/>
        <p:txBody>
          <a:bodyPr/>
          <a:lstStyle/>
          <a:p>
            <a:fld id="{5957BCE1-CA33-4A9E-B899-1FC89F08B999}" type="slidenum">
              <a:rPr lang="es-MX" smtClean="0"/>
              <a:t>‹#›</a:t>
            </a:fld>
            <a:endParaRPr lang="es-MX"/>
          </a:p>
        </p:txBody>
      </p:sp>
    </p:spTree>
    <p:extLst>
      <p:ext uri="{BB962C8B-B14F-4D97-AF65-F5344CB8AC3E}">
        <p14:creationId xmlns:p14="http://schemas.microsoft.com/office/powerpoint/2010/main" val="38611293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9B50E3-DB8D-4DBC-9389-D65871DC3B8D}"/>
              </a:ext>
            </a:extLst>
          </p:cNvPr>
          <p:cNvSpPr>
            <a:spLocks noGrp="1"/>
          </p:cNvSpPr>
          <p:nvPr>
            <p:ph type="title"/>
          </p:nvPr>
        </p:nvSpPr>
        <p:spPr/>
        <p:txBody>
          <a:bodyPr/>
          <a:lstStyle/>
          <a:p>
            <a:r>
              <a:rPr lang="en-US"/>
              <a:t>Click to edit Master title style</a:t>
            </a:r>
            <a:endParaRPr lang="es-MX"/>
          </a:p>
        </p:txBody>
      </p:sp>
      <p:sp>
        <p:nvSpPr>
          <p:cNvPr id="3" name="Content Placeholder 2">
            <a:extLst>
              <a:ext uri="{FF2B5EF4-FFF2-40B4-BE49-F238E27FC236}">
                <a16:creationId xmlns:a16="http://schemas.microsoft.com/office/drawing/2014/main" id="{0851C564-0196-428E-A907-246DB4994ED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MX"/>
          </a:p>
        </p:txBody>
      </p:sp>
      <p:sp>
        <p:nvSpPr>
          <p:cNvPr id="4" name="Content Placeholder 3">
            <a:extLst>
              <a:ext uri="{FF2B5EF4-FFF2-40B4-BE49-F238E27FC236}">
                <a16:creationId xmlns:a16="http://schemas.microsoft.com/office/drawing/2014/main" id="{47BF6BC2-7390-4AE7-94EE-021DB040401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MX"/>
          </a:p>
        </p:txBody>
      </p:sp>
      <p:sp>
        <p:nvSpPr>
          <p:cNvPr id="5" name="Date Placeholder 4">
            <a:extLst>
              <a:ext uri="{FF2B5EF4-FFF2-40B4-BE49-F238E27FC236}">
                <a16:creationId xmlns:a16="http://schemas.microsoft.com/office/drawing/2014/main" id="{B8DD3947-0619-4FB1-8F3E-5DEF7777230E}"/>
              </a:ext>
            </a:extLst>
          </p:cNvPr>
          <p:cNvSpPr>
            <a:spLocks noGrp="1"/>
          </p:cNvSpPr>
          <p:nvPr>
            <p:ph type="dt" sz="half" idx="10"/>
          </p:nvPr>
        </p:nvSpPr>
        <p:spPr/>
        <p:txBody>
          <a:bodyPr/>
          <a:lstStyle/>
          <a:p>
            <a:fld id="{6984AC7B-87B8-489F-A603-00C2C859C0C6}" type="datetimeFigureOut">
              <a:rPr lang="es-MX" smtClean="0"/>
              <a:t>20/04/2026</a:t>
            </a:fld>
            <a:endParaRPr lang="es-MX"/>
          </a:p>
        </p:txBody>
      </p:sp>
      <p:sp>
        <p:nvSpPr>
          <p:cNvPr id="6" name="Footer Placeholder 5">
            <a:extLst>
              <a:ext uri="{FF2B5EF4-FFF2-40B4-BE49-F238E27FC236}">
                <a16:creationId xmlns:a16="http://schemas.microsoft.com/office/drawing/2014/main" id="{6C124B30-AD2B-421B-84A2-3B70BCE7B35E}"/>
              </a:ext>
            </a:extLst>
          </p:cNvPr>
          <p:cNvSpPr>
            <a:spLocks noGrp="1"/>
          </p:cNvSpPr>
          <p:nvPr>
            <p:ph type="ftr" sz="quarter" idx="11"/>
          </p:nvPr>
        </p:nvSpPr>
        <p:spPr/>
        <p:txBody>
          <a:bodyPr/>
          <a:lstStyle/>
          <a:p>
            <a:endParaRPr lang="es-MX"/>
          </a:p>
        </p:txBody>
      </p:sp>
      <p:sp>
        <p:nvSpPr>
          <p:cNvPr id="7" name="Slide Number Placeholder 6">
            <a:extLst>
              <a:ext uri="{FF2B5EF4-FFF2-40B4-BE49-F238E27FC236}">
                <a16:creationId xmlns:a16="http://schemas.microsoft.com/office/drawing/2014/main" id="{F0DF637E-058D-41DD-89F2-873D052B4CC0}"/>
              </a:ext>
            </a:extLst>
          </p:cNvPr>
          <p:cNvSpPr>
            <a:spLocks noGrp="1"/>
          </p:cNvSpPr>
          <p:nvPr>
            <p:ph type="sldNum" sz="quarter" idx="12"/>
          </p:nvPr>
        </p:nvSpPr>
        <p:spPr/>
        <p:txBody>
          <a:bodyPr/>
          <a:lstStyle/>
          <a:p>
            <a:fld id="{5957BCE1-CA33-4A9E-B899-1FC89F08B999}" type="slidenum">
              <a:rPr lang="es-MX" smtClean="0"/>
              <a:t>‹#›</a:t>
            </a:fld>
            <a:endParaRPr lang="es-MX"/>
          </a:p>
        </p:txBody>
      </p:sp>
    </p:spTree>
    <p:extLst>
      <p:ext uri="{BB962C8B-B14F-4D97-AF65-F5344CB8AC3E}">
        <p14:creationId xmlns:p14="http://schemas.microsoft.com/office/powerpoint/2010/main" val="25470259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30CC9-3ECD-4982-95FB-D16BE4294619}"/>
              </a:ext>
            </a:extLst>
          </p:cNvPr>
          <p:cNvSpPr>
            <a:spLocks noGrp="1"/>
          </p:cNvSpPr>
          <p:nvPr>
            <p:ph type="title"/>
          </p:nvPr>
        </p:nvSpPr>
        <p:spPr>
          <a:xfrm>
            <a:off x="839788" y="365125"/>
            <a:ext cx="10515600" cy="1325563"/>
          </a:xfrm>
        </p:spPr>
        <p:txBody>
          <a:bodyPr/>
          <a:lstStyle/>
          <a:p>
            <a:r>
              <a:rPr lang="en-US"/>
              <a:t>Click to edit Master title style</a:t>
            </a:r>
            <a:endParaRPr lang="es-MX"/>
          </a:p>
        </p:txBody>
      </p:sp>
      <p:sp>
        <p:nvSpPr>
          <p:cNvPr id="3" name="Text Placeholder 2">
            <a:extLst>
              <a:ext uri="{FF2B5EF4-FFF2-40B4-BE49-F238E27FC236}">
                <a16:creationId xmlns:a16="http://schemas.microsoft.com/office/drawing/2014/main" id="{F41DFACF-CDFE-477A-B2F0-6E9D9C35160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7DBD27B-1473-4743-8B04-95541359369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MX"/>
          </a:p>
        </p:txBody>
      </p:sp>
      <p:sp>
        <p:nvSpPr>
          <p:cNvPr id="5" name="Text Placeholder 4">
            <a:extLst>
              <a:ext uri="{FF2B5EF4-FFF2-40B4-BE49-F238E27FC236}">
                <a16:creationId xmlns:a16="http://schemas.microsoft.com/office/drawing/2014/main" id="{A6909921-3191-40BD-8CFF-C315631AF1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BEDB729-50E2-4846-B6C1-D1882184C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MX"/>
          </a:p>
        </p:txBody>
      </p:sp>
      <p:sp>
        <p:nvSpPr>
          <p:cNvPr id="7" name="Date Placeholder 6">
            <a:extLst>
              <a:ext uri="{FF2B5EF4-FFF2-40B4-BE49-F238E27FC236}">
                <a16:creationId xmlns:a16="http://schemas.microsoft.com/office/drawing/2014/main" id="{AFADC884-4568-48AC-961D-C2CA7C1943B7}"/>
              </a:ext>
            </a:extLst>
          </p:cNvPr>
          <p:cNvSpPr>
            <a:spLocks noGrp="1"/>
          </p:cNvSpPr>
          <p:nvPr>
            <p:ph type="dt" sz="half" idx="10"/>
          </p:nvPr>
        </p:nvSpPr>
        <p:spPr/>
        <p:txBody>
          <a:bodyPr/>
          <a:lstStyle/>
          <a:p>
            <a:fld id="{6984AC7B-87B8-489F-A603-00C2C859C0C6}" type="datetimeFigureOut">
              <a:rPr lang="es-MX" smtClean="0"/>
              <a:t>20/04/2026</a:t>
            </a:fld>
            <a:endParaRPr lang="es-MX"/>
          </a:p>
        </p:txBody>
      </p:sp>
      <p:sp>
        <p:nvSpPr>
          <p:cNvPr id="8" name="Footer Placeholder 7">
            <a:extLst>
              <a:ext uri="{FF2B5EF4-FFF2-40B4-BE49-F238E27FC236}">
                <a16:creationId xmlns:a16="http://schemas.microsoft.com/office/drawing/2014/main" id="{9726BF89-B656-406B-9842-6939AE00654D}"/>
              </a:ext>
            </a:extLst>
          </p:cNvPr>
          <p:cNvSpPr>
            <a:spLocks noGrp="1"/>
          </p:cNvSpPr>
          <p:nvPr>
            <p:ph type="ftr" sz="quarter" idx="11"/>
          </p:nvPr>
        </p:nvSpPr>
        <p:spPr/>
        <p:txBody>
          <a:bodyPr/>
          <a:lstStyle/>
          <a:p>
            <a:endParaRPr lang="es-MX"/>
          </a:p>
        </p:txBody>
      </p:sp>
      <p:sp>
        <p:nvSpPr>
          <p:cNvPr id="9" name="Slide Number Placeholder 8">
            <a:extLst>
              <a:ext uri="{FF2B5EF4-FFF2-40B4-BE49-F238E27FC236}">
                <a16:creationId xmlns:a16="http://schemas.microsoft.com/office/drawing/2014/main" id="{41EFC0D5-9133-4B86-AC90-072DFF1E0D52}"/>
              </a:ext>
            </a:extLst>
          </p:cNvPr>
          <p:cNvSpPr>
            <a:spLocks noGrp="1"/>
          </p:cNvSpPr>
          <p:nvPr>
            <p:ph type="sldNum" sz="quarter" idx="12"/>
          </p:nvPr>
        </p:nvSpPr>
        <p:spPr/>
        <p:txBody>
          <a:bodyPr/>
          <a:lstStyle/>
          <a:p>
            <a:fld id="{5957BCE1-CA33-4A9E-B899-1FC89F08B999}" type="slidenum">
              <a:rPr lang="es-MX" smtClean="0"/>
              <a:t>‹#›</a:t>
            </a:fld>
            <a:endParaRPr lang="es-MX"/>
          </a:p>
        </p:txBody>
      </p:sp>
    </p:spTree>
    <p:extLst>
      <p:ext uri="{BB962C8B-B14F-4D97-AF65-F5344CB8AC3E}">
        <p14:creationId xmlns:p14="http://schemas.microsoft.com/office/powerpoint/2010/main" val="14551076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A8861-2498-4534-AFE7-2A6410121A73}"/>
              </a:ext>
            </a:extLst>
          </p:cNvPr>
          <p:cNvSpPr>
            <a:spLocks noGrp="1"/>
          </p:cNvSpPr>
          <p:nvPr>
            <p:ph type="title"/>
          </p:nvPr>
        </p:nvSpPr>
        <p:spPr/>
        <p:txBody>
          <a:bodyPr/>
          <a:lstStyle/>
          <a:p>
            <a:r>
              <a:rPr lang="en-US"/>
              <a:t>Click to edit Master title style</a:t>
            </a:r>
            <a:endParaRPr lang="es-MX"/>
          </a:p>
        </p:txBody>
      </p:sp>
      <p:sp>
        <p:nvSpPr>
          <p:cNvPr id="3" name="Date Placeholder 2">
            <a:extLst>
              <a:ext uri="{FF2B5EF4-FFF2-40B4-BE49-F238E27FC236}">
                <a16:creationId xmlns:a16="http://schemas.microsoft.com/office/drawing/2014/main" id="{4F0EE301-DF06-462D-B75B-A54685E182F9}"/>
              </a:ext>
            </a:extLst>
          </p:cNvPr>
          <p:cNvSpPr>
            <a:spLocks noGrp="1"/>
          </p:cNvSpPr>
          <p:nvPr>
            <p:ph type="dt" sz="half" idx="10"/>
          </p:nvPr>
        </p:nvSpPr>
        <p:spPr/>
        <p:txBody>
          <a:bodyPr/>
          <a:lstStyle/>
          <a:p>
            <a:fld id="{6984AC7B-87B8-489F-A603-00C2C859C0C6}" type="datetimeFigureOut">
              <a:rPr lang="es-MX" smtClean="0"/>
              <a:t>20/04/2026</a:t>
            </a:fld>
            <a:endParaRPr lang="es-MX"/>
          </a:p>
        </p:txBody>
      </p:sp>
      <p:sp>
        <p:nvSpPr>
          <p:cNvPr id="4" name="Footer Placeholder 3">
            <a:extLst>
              <a:ext uri="{FF2B5EF4-FFF2-40B4-BE49-F238E27FC236}">
                <a16:creationId xmlns:a16="http://schemas.microsoft.com/office/drawing/2014/main" id="{66F51874-86FF-4D6E-8980-E73B01E4C197}"/>
              </a:ext>
            </a:extLst>
          </p:cNvPr>
          <p:cNvSpPr>
            <a:spLocks noGrp="1"/>
          </p:cNvSpPr>
          <p:nvPr>
            <p:ph type="ftr" sz="quarter" idx="11"/>
          </p:nvPr>
        </p:nvSpPr>
        <p:spPr/>
        <p:txBody>
          <a:bodyPr/>
          <a:lstStyle/>
          <a:p>
            <a:endParaRPr lang="es-MX"/>
          </a:p>
        </p:txBody>
      </p:sp>
      <p:sp>
        <p:nvSpPr>
          <p:cNvPr id="5" name="Slide Number Placeholder 4">
            <a:extLst>
              <a:ext uri="{FF2B5EF4-FFF2-40B4-BE49-F238E27FC236}">
                <a16:creationId xmlns:a16="http://schemas.microsoft.com/office/drawing/2014/main" id="{88209E3D-AD40-488E-84D3-758EE6F66D65}"/>
              </a:ext>
            </a:extLst>
          </p:cNvPr>
          <p:cNvSpPr>
            <a:spLocks noGrp="1"/>
          </p:cNvSpPr>
          <p:nvPr>
            <p:ph type="sldNum" sz="quarter" idx="12"/>
          </p:nvPr>
        </p:nvSpPr>
        <p:spPr/>
        <p:txBody>
          <a:bodyPr/>
          <a:lstStyle/>
          <a:p>
            <a:fld id="{5957BCE1-CA33-4A9E-B899-1FC89F08B999}" type="slidenum">
              <a:rPr lang="es-MX" smtClean="0"/>
              <a:t>‹#›</a:t>
            </a:fld>
            <a:endParaRPr lang="es-MX"/>
          </a:p>
        </p:txBody>
      </p:sp>
    </p:spTree>
    <p:extLst>
      <p:ext uri="{BB962C8B-B14F-4D97-AF65-F5344CB8AC3E}">
        <p14:creationId xmlns:p14="http://schemas.microsoft.com/office/powerpoint/2010/main" val="13058930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E1A52B5-2DDA-4D8A-8CF0-BE2095D313C4}"/>
              </a:ext>
            </a:extLst>
          </p:cNvPr>
          <p:cNvSpPr>
            <a:spLocks noGrp="1"/>
          </p:cNvSpPr>
          <p:nvPr>
            <p:ph type="dt" sz="half" idx="10"/>
          </p:nvPr>
        </p:nvSpPr>
        <p:spPr/>
        <p:txBody>
          <a:bodyPr/>
          <a:lstStyle/>
          <a:p>
            <a:fld id="{6984AC7B-87B8-489F-A603-00C2C859C0C6}" type="datetimeFigureOut">
              <a:rPr lang="es-MX" smtClean="0"/>
              <a:t>20/04/2026</a:t>
            </a:fld>
            <a:endParaRPr lang="es-MX"/>
          </a:p>
        </p:txBody>
      </p:sp>
      <p:sp>
        <p:nvSpPr>
          <p:cNvPr id="3" name="Footer Placeholder 2">
            <a:extLst>
              <a:ext uri="{FF2B5EF4-FFF2-40B4-BE49-F238E27FC236}">
                <a16:creationId xmlns:a16="http://schemas.microsoft.com/office/drawing/2014/main" id="{38FDBD22-3731-4923-9BCD-DFD176152F29}"/>
              </a:ext>
            </a:extLst>
          </p:cNvPr>
          <p:cNvSpPr>
            <a:spLocks noGrp="1"/>
          </p:cNvSpPr>
          <p:nvPr>
            <p:ph type="ftr" sz="quarter" idx="11"/>
          </p:nvPr>
        </p:nvSpPr>
        <p:spPr/>
        <p:txBody>
          <a:bodyPr/>
          <a:lstStyle/>
          <a:p>
            <a:endParaRPr lang="es-MX"/>
          </a:p>
        </p:txBody>
      </p:sp>
      <p:sp>
        <p:nvSpPr>
          <p:cNvPr id="4" name="Slide Number Placeholder 3">
            <a:extLst>
              <a:ext uri="{FF2B5EF4-FFF2-40B4-BE49-F238E27FC236}">
                <a16:creationId xmlns:a16="http://schemas.microsoft.com/office/drawing/2014/main" id="{4FA870AF-A65E-4031-B965-FD7EEBA4E863}"/>
              </a:ext>
            </a:extLst>
          </p:cNvPr>
          <p:cNvSpPr>
            <a:spLocks noGrp="1"/>
          </p:cNvSpPr>
          <p:nvPr>
            <p:ph type="sldNum" sz="quarter" idx="12"/>
          </p:nvPr>
        </p:nvSpPr>
        <p:spPr/>
        <p:txBody>
          <a:bodyPr/>
          <a:lstStyle/>
          <a:p>
            <a:fld id="{5957BCE1-CA33-4A9E-B899-1FC89F08B999}" type="slidenum">
              <a:rPr lang="es-MX" smtClean="0"/>
              <a:t>‹#›</a:t>
            </a:fld>
            <a:endParaRPr lang="es-MX"/>
          </a:p>
        </p:txBody>
      </p:sp>
    </p:spTree>
    <p:extLst>
      <p:ext uri="{BB962C8B-B14F-4D97-AF65-F5344CB8AC3E}">
        <p14:creationId xmlns:p14="http://schemas.microsoft.com/office/powerpoint/2010/main" val="18074680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25B33-CC8E-445E-8515-5E217C7D34F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MX"/>
          </a:p>
        </p:txBody>
      </p:sp>
      <p:sp>
        <p:nvSpPr>
          <p:cNvPr id="3" name="Content Placeholder 2">
            <a:extLst>
              <a:ext uri="{FF2B5EF4-FFF2-40B4-BE49-F238E27FC236}">
                <a16:creationId xmlns:a16="http://schemas.microsoft.com/office/drawing/2014/main" id="{C2BD6395-8913-4016-8002-B55B30A0D69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MX"/>
          </a:p>
        </p:txBody>
      </p:sp>
      <p:sp>
        <p:nvSpPr>
          <p:cNvPr id="4" name="Text Placeholder 3">
            <a:extLst>
              <a:ext uri="{FF2B5EF4-FFF2-40B4-BE49-F238E27FC236}">
                <a16:creationId xmlns:a16="http://schemas.microsoft.com/office/drawing/2014/main" id="{AB5BA985-2FC7-4A05-83BF-14A2154085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46E739C-7E46-447C-966C-8E338EA9A264}"/>
              </a:ext>
            </a:extLst>
          </p:cNvPr>
          <p:cNvSpPr>
            <a:spLocks noGrp="1"/>
          </p:cNvSpPr>
          <p:nvPr>
            <p:ph type="dt" sz="half" idx="10"/>
          </p:nvPr>
        </p:nvSpPr>
        <p:spPr/>
        <p:txBody>
          <a:bodyPr/>
          <a:lstStyle/>
          <a:p>
            <a:fld id="{6984AC7B-87B8-489F-A603-00C2C859C0C6}" type="datetimeFigureOut">
              <a:rPr lang="es-MX" smtClean="0"/>
              <a:t>20/04/2026</a:t>
            </a:fld>
            <a:endParaRPr lang="es-MX"/>
          </a:p>
        </p:txBody>
      </p:sp>
      <p:sp>
        <p:nvSpPr>
          <p:cNvPr id="6" name="Footer Placeholder 5">
            <a:extLst>
              <a:ext uri="{FF2B5EF4-FFF2-40B4-BE49-F238E27FC236}">
                <a16:creationId xmlns:a16="http://schemas.microsoft.com/office/drawing/2014/main" id="{CA598CC6-35D2-4FAD-83E6-1176D008511E}"/>
              </a:ext>
            </a:extLst>
          </p:cNvPr>
          <p:cNvSpPr>
            <a:spLocks noGrp="1"/>
          </p:cNvSpPr>
          <p:nvPr>
            <p:ph type="ftr" sz="quarter" idx="11"/>
          </p:nvPr>
        </p:nvSpPr>
        <p:spPr/>
        <p:txBody>
          <a:bodyPr/>
          <a:lstStyle/>
          <a:p>
            <a:endParaRPr lang="es-MX"/>
          </a:p>
        </p:txBody>
      </p:sp>
      <p:sp>
        <p:nvSpPr>
          <p:cNvPr id="7" name="Slide Number Placeholder 6">
            <a:extLst>
              <a:ext uri="{FF2B5EF4-FFF2-40B4-BE49-F238E27FC236}">
                <a16:creationId xmlns:a16="http://schemas.microsoft.com/office/drawing/2014/main" id="{5D45DCEA-6D30-448D-95BB-C8E8C7D8D37D}"/>
              </a:ext>
            </a:extLst>
          </p:cNvPr>
          <p:cNvSpPr>
            <a:spLocks noGrp="1"/>
          </p:cNvSpPr>
          <p:nvPr>
            <p:ph type="sldNum" sz="quarter" idx="12"/>
          </p:nvPr>
        </p:nvSpPr>
        <p:spPr/>
        <p:txBody>
          <a:bodyPr/>
          <a:lstStyle/>
          <a:p>
            <a:fld id="{5957BCE1-CA33-4A9E-B899-1FC89F08B999}" type="slidenum">
              <a:rPr lang="es-MX" smtClean="0"/>
              <a:t>‹#›</a:t>
            </a:fld>
            <a:endParaRPr lang="es-MX"/>
          </a:p>
        </p:txBody>
      </p:sp>
    </p:spTree>
    <p:extLst>
      <p:ext uri="{BB962C8B-B14F-4D97-AF65-F5344CB8AC3E}">
        <p14:creationId xmlns:p14="http://schemas.microsoft.com/office/powerpoint/2010/main" val="22902826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63D41-0D5C-4C10-BA79-53DD26495EC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MX"/>
          </a:p>
        </p:txBody>
      </p:sp>
      <p:sp>
        <p:nvSpPr>
          <p:cNvPr id="3" name="Picture Placeholder 2">
            <a:extLst>
              <a:ext uri="{FF2B5EF4-FFF2-40B4-BE49-F238E27FC236}">
                <a16:creationId xmlns:a16="http://schemas.microsoft.com/office/drawing/2014/main" id="{93A5D980-4DB2-4D1B-B1C8-FD2DA4E8957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Text Placeholder 3">
            <a:extLst>
              <a:ext uri="{FF2B5EF4-FFF2-40B4-BE49-F238E27FC236}">
                <a16:creationId xmlns:a16="http://schemas.microsoft.com/office/drawing/2014/main" id="{D89A2616-2FD9-49E4-9BF9-8584C458F1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6137B0-0652-4F1B-A8F5-26E9A7706981}"/>
              </a:ext>
            </a:extLst>
          </p:cNvPr>
          <p:cNvSpPr>
            <a:spLocks noGrp="1"/>
          </p:cNvSpPr>
          <p:nvPr>
            <p:ph type="dt" sz="half" idx="10"/>
          </p:nvPr>
        </p:nvSpPr>
        <p:spPr/>
        <p:txBody>
          <a:bodyPr/>
          <a:lstStyle/>
          <a:p>
            <a:fld id="{6984AC7B-87B8-489F-A603-00C2C859C0C6}" type="datetimeFigureOut">
              <a:rPr lang="es-MX" smtClean="0"/>
              <a:t>20/04/2026</a:t>
            </a:fld>
            <a:endParaRPr lang="es-MX"/>
          </a:p>
        </p:txBody>
      </p:sp>
      <p:sp>
        <p:nvSpPr>
          <p:cNvPr id="6" name="Footer Placeholder 5">
            <a:extLst>
              <a:ext uri="{FF2B5EF4-FFF2-40B4-BE49-F238E27FC236}">
                <a16:creationId xmlns:a16="http://schemas.microsoft.com/office/drawing/2014/main" id="{4EDD5617-E426-4E26-8C28-915C6B209A64}"/>
              </a:ext>
            </a:extLst>
          </p:cNvPr>
          <p:cNvSpPr>
            <a:spLocks noGrp="1"/>
          </p:cNvSpPr>
          <p:nvPr>
            <p:ph type="ftr" sz="quarter" idx="11"/>
          </p:nvPr>
        </p:nvSpPr>
        <p:spPr/>
        <p:txBody>
          <a:bodyPr/>
          <a:lstStyle/>
          <a:p>
            <a:endParaRPr lang="es-MX"/>
          </a:p>
        </p:txBody>
      </p:sp>
      <p:sp>
        <p:nvSpPr>
          <p:cNvPr id="7" name="Slide Number Placeholder 6">
            <a:extLst>
              <a:ext uri="{FF2B5EF4-FFF2-40B4-BE49-F238E27FC236}">
                <a16:creationId xmlns:a16="http://schemas.microsoft.com/office/drawing/2014/main" id="{6ED78A24-9D1E-48BB-874A-B64D8FD55019}"/>
              </a:ext>
            </a:extLst>
          </p:cNvPr>
          <p:cNvSpPr>
            <a:spLocks noGrp="1"/>
          </p:cNvSpPr>
          <p:nvPr>
            <p:ph type="sldNum" sz="quarter" idx="12"/>
          </p:nvPr>
        </p:nvSpPr>
        <p:spPr/>
        <p:txBody>
          <a:bodyPr/>
          <a:lstStyle/>
          <a:p>
            <a:fld id="{5957BCE1-CA33-4A9E-B899-1FC89F08B999}" type="slidenum">
              <a:rPr lang="es-MX" smtClean="0"/>
              <a:t>‹#›</a:t>
            </a:fld>
            <a:endParaRPr lang="es-MX"/>
          </a:p>
        </p:txBody>
      </p:sp>
    </p:spTree>
    <p:extLst>
      <p:ext uri="{BB962C8B-B14F-4D97-AF65-F5344CB8AC3E}">
        <p14:creationId xmlns:p14="http://schemas.microsoft.com/office/powerpoint/2010/main" val="3346065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73976-DF83-4461-B95D-D1B5482F677A}"/>
              </a:ext>
            </a:extLst>
          </p:cNvPr>
          <p:cNvSpPr>
            <a:spLocks noGrp="1"/>
          </p:cNvSpPr>
          <p:nvPr>
            <p:ph type="title"/>
          </p:nvPr>
        </p:nvSpPr>
        <p:spPr/>
        <p:txBody>
          <a:bodyPr/>
          <a:lstStyle/>
          <a:p>
            <a:r>
              <a:rPr lang="en-US"/>
              <a:t>Click to edit Master title style</a:t>
            </a:r>
            <a:endParaRPr lang="es-MX"/>
          </a:p>
        </p:txBody>
      </p:sp>
      <p:sp>
        <p:nvSpPr>
          <p:cNvPr id="3" name="Vertical Text Placeholder 2">
            <a:extLst>
              <a:ext uri="{FF2B5EF4-FFF2-40B4-BE49-F238E27FC236}">
                <a16:creationId xmlns:a16="http://schemas.microsoft.com/office/drawing/2014/main" id="{0DE6599B-01AF-4288-A087-61A675B0158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MX"/>
          </a:p>
        </p:txBody>
      </p:sp>
      <p:sp>
        <p:nvSpPr>
          <p:cNvPr id="4" name="Date Placeholder 3">
            <a:extLst>
              <a:ext uri="{FF2B5EF4-FFF2-40B4-BE49-F238E27FC236}">
                <a16:creationId xmlns:a16="http://schemas.microsoft.com/office/drawing/2014/main" id="{B9C853E6-E39A-4464-A70E-82535ECF1D81}"/>
              </a:ext>
            </a:extLst>
          </p:cNvPr>
          <p:cNvSpPr>
            <a:spLocks noGrp="1"/>
          </p:cNvSpPr>
          <p:nvPr>
            <p:ph type="dt" sz="half" idx="10"/>
          </p:nvPr>
        </p:nvSpPr>
        <p:spPr/>
        <p:txBody>
          <a:bodyPr/>
          <a:lstStyle/>
          <a:p>
            <a:fld id="{6984AC7B-87B8-489F-A603-00C2C859C0C6}" type="datetimeFigureOut">
              <a:rPr lang="es-MX" smtClean="0"/>
              <a:t>20/04/2026</a:t>
            </a:fld>
            <a:endParaRPr lang="es-MX"/>
          </a:p>
        </p:txBody>
      </p:sp>
      <p:sp>
        <p:nvSpPr>
          <p:cNvPr id="5" name="Footer Placeholder 4">
            <a:extLst>
              <a:ext uri="{FF2B5EF4-FFF2-40B4-BE49-F238E27FC236}">
                <a16:creationId xmlns:a16="http://schemas.microsoft.com/office/drawing/2014/main" id="{97083790-BC71-48F6-B25A-8C469181D673}"/>
              </a:ext>
            </a:extLst>
          </p:cNvPr>
          <p:cNvSpPr>
            <a:spLocks noGrp="1"/>
          </p:cNvSpPr>
          <p:nvPr>
            <p:ph type="ftr" sz="quarter" idx="11"/>
          </p:nvPr>
        </p:nvSpPr>
        <p:spPr/>
        <p:txBody>
          <a:bodyPr/>
          <a:lstStyle/>
          <a:p>
            <a:endParaRPr lang="es-MX"/>
          </a:p>
        </p:txBody>
      </p:sp>
      <p:sp>
        <p:nvSpPr>
          <p:cNvPr id="6" name="Slide Number Placeholder 5">
            <a:extLst>
              <a:ext uri="{FF2B5EF4-FFF2-40B4-BE49-F238E27FC236}">
                <a16:creationId xmlns:a16="http://schemas.microsoft.com/office/drawing/2014/main" id="{ED41E370-D76D-4B8E-B6CA-81D474EBDB43}"/>
              </a:ext>
            </a:extLst>
          </p:cNvPr>
          <p:cNvSpPr>
            <a:spLocks noGrp="1"/>
          </p:cNvSpPr>
          <p:nvPr>
            <p:ph type="sldNum" sz="quarter" idx="12"/>
          </p:nvPr>
        </p:nvSpPr>
        <p:spPr/>
        <p:txBody>
          <a:bodyPr/>
          <a:lstStyle/>
          <a:p>
            <a:fld id="{5957BCE1-CA33-4A9E-B899-1FC89F08B999}" type="slidenum">
              <a:rPr lang="es-MX" smtClean="0"/>
              <a:t>‹#›</a:t>
            </a:fld>
            <a:endParaRPr lang="es-MX"/>
          </a:p>
        </p:txBody>
      </p:sp>
    </p:spTree>
    <p:extLst>
      <p:ext uri="{BB962C8B-B14F-4D97-AF65-F5344CB8AC3E}">
        <p14:creationId xmlns:p14="http://schemas.microsoft.com/office/powerpoint/2010/main" val="9977697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3CF215B-707F-48A5-AFE9-23FBFBC1180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s-MX"/>
          </a:p>
        </p:txBody>
      </p:sp>
      <p:sp>
        <p:nvSpPr>
          <p:cNvPr id="3" name="Vertical Text Placeholder 2">
            <a:extLst>
              <a:ext uri="{FF2B5EF4-FFF2-40B4-BE49-F238E27FC236}">
                <a16:creationId xmlns:a16="http://schemas.microsoft.com/office/drawing/2014/main" id="{FCA3CAE0-741F-4D7B-A131-B9BF2EEEA4C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MX"/>
          </a:p>
        </p:txBody>
      </p:sp>
      <p:sp>
        <p:nvSpPr>
          <p:cNvPr id="4" name="Date Placeholder 3">
            <a:extLst>
              <a:ext uri="{FF2B5EF4-FFF2-40B4-BE49-F238E27FC236}">
                <a16:creationId xmlns:a16="http://schemas.microsoft.com/office/drawing/2014/main" id="{3FAD71D8-3AAF-4CD7-AAC9-19CFEDAD2610}"/>
              </a:ext>
            </a:extLst>
          </p:cNvPr>
          <p:cNvSpPr>
            <a:spLocks noGrp="1"/>
          </p:cNvSpPr>
          <p:nvPr>
            <p:ph type="dt" sz="half" idx="10"/>
          </p:nvPr>
        </p:nvSpPr>
        <p:spPr/>
        <p:txBody>
          <a:bodyPr/>
          <a:lstStyle/>
          <a:p>
            <a:fld id="{6984AC7B-87B8-489F-A603-00C2C859C0C6}" type="datetimeFigureOut">
              <a:rPr lang="es-MX" smtClean="0"/>
              <a:t>20/04/2026</a:t>
            </a:fld>
            <a:endParaRPr lang="es-MX"/>
          </a:p>
        </p:txBody>
      </p:sp>
      <p:sp>
        <p:nvSpPr>
          <p:cNvPr id="5" name="Footer Placeholder 4">
            <a:extLst>
              <a:ext uri="{FF2B5EF4-FFF2-40B4-BE49-F238E27FC236}">
                <a16:creationId xmlns:a16="http://schemas.microsoft.com/office/drawing/2014/main" id="{DD3A04D2-C3D8-434C-8AC8-37F15FBB72D7}"/>
              </a:ext>
            </a:extLst>
          </p:cNvPr>
          <p:cNvSpPr>
            <a:spLocks noGrp="1"/>
          </p:cNvSpPr>
          <p:nvPr>
            <p:ph type="ftr" sz="quarter" idx="11"/>
          </p:nvPr>
        </p:nvSpPr>
        <p:spPr/>
        <p:txBody>
          <a:bodyPr/>
          <a:lstStyle/>
          <a:p>
            <a:endParaRPr lang="es-MX"/>
          </a:p>
        </p:txBody>
      </p:sp>
      <p:sp>
        <p:nvSpPr>
          <p:cNvPr id="6" name="Slide Number Placeholder 5">
            <a:extLst>
              <a:ext uri="{FF2B5EF4-FFF2-40B4-BE49-F238E27FC236}">
                <a16:creationId xmlns:a16="http://schemas.microsoft.com/office/drawing/2014/main" id="{C0CF1D4F-AEE3-4E6D-B9DC-F59CF9DED24F}"/>
              </a:ext>
            </a:extLst>
          </p:cNvPr>
          <p:cNvSpPr>
            <a:spLocks noGrp="1"/>
          </p:cNvSpPr>
          <p:nvPr>
            <p:ph type="sldNum" sz="quarter" idx="12"/>
          </p:nvPr>
        </p:nvSpPr>
        <p:spPr/>
        <p:txBody>
          <a:bodyPr/>
          <a:lstStyle/>
          <a:p>
            <a:fld id="{5957BCE1-CA33-4A9E-B899-1FC89F08B999}" type="slidenum">
              <a:rPr lang="es-MX" smtClean="0"/>
              <a:t>‹#›</a:t>
            </a:fld>
            <a:endParaRPr lang="es-MX"/>
          </a:p>
        </p:txBody>
      </p:sp>
    </p:spTree>
    <p:extLst>
      <p:ext uri="{BB962C8B-B14F-4D97-AF65-F5344CB8AC3E}">
        <p14:creationId xmlns:p14="http://schemas.microsoft.com/office/powerpoint/2010/main" val="12758483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0AD25A3-A5C6-4961-BBC1-0B34DE233D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s-MX"/>
          </a:p>
        </p:txBody>
      </p:sp>
      <p:sp>
        <p:nvSpPr>
          <p:cNvPr id="3" name="Text Placeholder 2">
            <a:extLst>
              <a:ext uri="{FF2B5EF4-FFF2-40B4-BE49-F238E27FC236}">
                <a16:creationId xmlns:a16="http://schemas.microsoft.com/office/drawing/2014/main" id="{F66CE87A-718B-4760-8707-86086A75E93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MX"/>
          </a:p>
        </p:txBody>
      </p:sp>
      <p:sp>
        <p:nvSpPr>
          <p:cNvPr id="4" name="Date Placeholder 3">
            <a:extLst>
              <a:ext uri="{FF2B5EF4-FFF2-40B4-BE49-F238E27FC236}">
                <a16:creationId xmlns:a16="http://schemas.microsoft.com/office/drawing/2014/main" id="{9A933CDE-B9CE-4C60-AE9D-9BDAE7CDB0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984AC7B-87B8-489F-A603-00C2C859C0C6}" type="datetimeFigureOut">
              <a:rPr lang="es-MX" smtClean="0"/>
              <a:t>20/04/2026</a:t>
            </a:fld>
            <a:endParaRPr lang="es-MX"/>
          </a:p>
        </p:txBody>
      </p:sp>
      <p:sp>
        <p:nvSpPr>
          <p:cNvPr id="5" name="Footer Placeholder 4">
            <a:extLst>
              <a:ext uri="{FF2B5EF4-FFF2-40B4-BE49-F238E27FC236}">
                <a16:creationId xmlns:a16="http://schemas.microsoft.com/office/drawing/2014/main" id="{085D40D2-832E-462A-BA0E-6D18E5B39B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Slide Number Placeholder 5">
            <a:extLst>
              <a:ext uri="{FF2B5EF4-FFF2-40B4-BE49-F238E27FC236}">
                <a16:creationId xmlns:a16="http://schemas.microsoft.com/office/drawing/2014/main" id="{1B78BCA0-B7C2-4676-8032-2AD9C3A4B63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57BCE1-CA33-4A9E-B899-1FC89F08B999}" type="slidenum">
              <a:rPr lang="es-MX" smtClean="0"/>
              <a:t>‹#›</a:t>
            </a:fld>
            <a:endParaRPr lang="es-MX"/>
          </a:p>
        </p:txBody>
      </p:sp>
    </p:spTree>
    <p:extLst>
      <p:ext uri="{BB962C8B-B14F-4D97-AF65-F5344CB8AC3E}">
        <p14:creationId xmlns:p14="http://schemas.microsoft.com/office/powerpoint/2010/main" val="1596312901"/>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699FD5-590E-499C-9124-3E9D639B0BDE}"/>
              </a:ext>
            </a:extLst>
          </p:cNvPr>
          <p:cNvSpPr>
            <a:spLocks noGrp="1"/>
          </p:cNvSpPr>
          <p:nvPr>
            <p:ph type="ctrTitle"/>
          </p:nvPr>
        </p:nvSpPr>
        <p:spPr>
          <a:xfrm>
            <a:off x="387724" y="1411942"/>
            <a:ext cx="11416552" cy="4034116"/>
          </a:xfrm>
        </p:spPr>
        <p:txBody>
          <a:bodyPr>
            <a:noAutofit/>
          </a:bodyPr>
          <a:lstStyle/>
          <a:p>
            <a:r>
              <a:rPr lang="es-MX" sz="5400" dirty="0">
                <a:latin typeface="Montserrat" panose="00000500000000000000" pitchFamily="50" charset="0"/>
              </a:rPr>
              <a:t>INPC: Introducción a como catalogar el precio de un producto en una ciudad de la República Mexicana como “de precio competitivo”</a:t>
            </a:r>
          </a:p>
        </p:txBody>
      </p:sp>
      <p:sp>
        <p:nvSpPr>
          <p:cNvPr id="5" name="Rectangle 4">
            <a:extLst>
              <a:ext uri="{FF2B5EF4-FFF2-40B4-BE49-F238E27FC236}">
                <a16:creationId xmlns:a16="http://schemas.microsoft.com/office/drawing/2014/main" id="{5D46C146-FAA6-4842-A540-E0B70695D44B}"/>
              </a:ext>
            </a:extLst>
          </p:cNvPr>
          <p:cNvSpPr/>
          <p:nvPr/>
        </p:nvSpPr>
        <p:spPr>
          <a:xfrm>
            <a:off x="0" y="0"/>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6" name="Rectangle 5">
            <a:extLst>
              <a:ext uri="{FF2B5EF4-FFF2-40B4-BE49-F238E27FC236}">
                <a16:creationId xmlns:a16="http://schemas.microsoft.com/office/drawing/2014/main" id="{061B426F-D939-42C1-BC4A-879C586EA490}"/>
              </a:ext>
            </a:extLst>
          </p:cNvPr>
          <p:cNvSpPr/>
          <p:nvPr/>
        </p:nvSpPr>
        <p:spPr>
          <a:xfrm>
            <a:off x="0" y="5709162"/>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3" name="Subtitle 2">
            <a:extLst>
              <a:ext uri="{FF2B5EF4-FFF2-40B4-BE49-F238E27FC236}">
                <a16:creationId xmlns:a16="http://schemas.microsoft.com/office/drawing/2014/main" id="{3C095E98-15AB-4499-98B3-023726685ABE}"/>
              </a:ext>
            </a:extLst>
          </p:cNvPr>
          <p:cNvSpPr>
            <a:spLocks noGrp="1"/>
          </p:cNvSpPr>
          <p:nvPr>
            <p:ph type="subTitle" idx="1"/>
          </p:nvPr>
        </p:nvSpPr>
        <p:spPr>
          <a:xfrm>
            <a:off x="1524000" y="6064622"/>
            <a:ext cx="9144000" cy="1655762"/>
          </a:xfrm>
        </p:spPr>
        <p:txBody>
          <a:bodyPr>
            <a:normAutofit/>
          </a:bodyPr>
          <a:lstStyle/>
          <a:p>
            <a:r>
              <a:rPr lang="es-MX" b="1" dirty="0">
                <a:solidFill>
                  <a:schemeClr val="bg1"/>
                </a:solidFill>
                <a:latin typeface="Montserrat" panose="00000500000000000000" pitchFamily="50" charset="0"/>
              </a:rPr>
              <a:t>Enrique Cerón López</a:t>
            </a:r>
          </a:p>
        </p:txBody>
      </p:sp>
    </p:spTree>
    <p:extLst>
      <p:ext uri="{BB962C8B-B14F-4D97-AF65-F5344CB8AC3E}">
        <p14:creationId xmlns:p14="http://schemas.microsoft.com/office/powerpoint/2010/main" val="23356017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922B511-FA47-4F9C-8FC1-C78569DC5D60}"/>
              </a:ext>
            </a:extLst>
          </p:cNvPr>
          <p:cNvSpPr/>
          <p:nvPr/>
        </p:nvSpPr>
        <p:spPr>
          <a:xfrm>
            <a:off x="0" y="0"/>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2" name="Title 1">
            <a:extLst>
              <a:ext uri="{FF2B5EF4-FFF2-40B4-BE49-F238E27FC236}">
                <a16:creationId xmlns:a16="http://schemas.microsoft.com/office/drawing/2014/main" id="{CDA8EDA7-9C38-4347-A17C-3C475136A578}"/>
              </a:ext>
            </a:extLst>
          </p:cNvPr>
          <p:cNvSpPr>
            <a:spLocks noGrp="1"/>
          </p:cNvSpPr>
          <p:nvPr>
            <p:ph type="title"/>
          </p:nvPr>
        </p:nvSpPr>
        <p:spPr>
          <a:xfrm>
            <a:off x="602876" y="-133709"/>
            <a:ext cx="10986247" cy="1450757"/>
          </a:xfrm>
        </p:spPr>
        <p:txBody>
          <a:bodyPr/>
          <a:lstStyle/>
          <a:p>
            <a:r>
              <a:rPr lang="es-MX" b="1" dirty="0">
                <a:solidFill>
                  <a:schemeClr val="bg1"/>
                </a:solidFill>
                <a:latin typeface="Montserrat"/>
              </a:rPr>
              <a:t>Estabilidad y Variabilidad del INPC</a:t>
            </a:r>
          </a:p>
        </p:txBody>
      </p:sp>
      <p:sp>
        <p:nvSpPr>
          <p:cNvPr id="3" name="Content Placeholder 2">
            <a:extLst>
              <a:ext uri="{FF2B5EF4-FFF2-40B4-BE49-F238E27FC236}">
                <a16:creationId xmlns:a16="http://schemas.microsoft.com/office/drawing/2014/main" id="{2DF9D151-82C0-43EE-B707-76C5539F5847}"/>
              </a:ext>
            </a:extLst>
          </p:cNvPr>
          <p:cNvSpPr>
            <a:spLocks noGrp="1"/>
          </p:cNvSpPr>
          <p:nvPr>
            <p:ph idx="1"/>
          </p:nvPr>
        </p:nvSpPr>
        <p:spPr>
          <a:xfrm>
            <a:off x="737348" y="1680883"/>
            <a:ext cx="4896970" cy="4706470"/>
          </a:xfrm>
        </p:spPr>
        <p:txBody>
          <a:bodyPr>
            <a:normAutofit/>
          </a:bodyPr>
          <a:lstStyle/>
          <a:p>
            <a:pPr marL="0" indent="0" algn="just">
              <a:lnSpc>
                <a:spcPct val="150000"/>
              </a:lnSpc>
              <a:buNone/>
            </a:pPr>
            <a:r>
              <a:rPr lang="es-MX" sz="2200" dirty="0">
                <a:latin typeface="Montserrat"/>
              </a:rPr>
              <a:t>De las 55 ciudades y los 292 genéricos que fueron contempladas por INEGI; se cálculo el promedio histórico y la desviación estándar histórica. A estos datos se les nombraron como </a:t>
            </a:r>
            <a:r>
              <a:rPr lang="es-MX" sz="2200" b="1" dirty="0">
                <a:latin typeface="Montserrat"/>
              </a:rPr>
              <a:t>“Estabilidad” </a:t>
            </a:r>
            <a:r>
              <a:rPr lang="es-MX" sz="2200" dirty="0">
                <a:latin typeface="Montserrat"/>
              </a:rPr>
              <a:t>y </a:t>
            </a:r>
            <a:r>
              <a:rPr lang="es-MX" sz="2200" b="1" dirty="0">
                <a:latin typeface="Montserrat"/>
              </a:rPr>
              <a:t>“Variabilidad” </a:t>
            </a:r>
            <a:r>
              <a:rPr lang="es-MX" sz="2200" dirty="0">
                <a:latin typeface="Montserrat"/>
              </a:rPr>
              <a:t>respectivamente.</a:t>
            </a:r>
          </a:p>
        </p:txBody>
      </p:sp>
      <p:pic>
        <p:nvPicPr>
          <p:cNvPr id="6" name="Picture 5">
            <a:extLst>
              <a:ext uri="{FF2B5EF4-FFF2-40B4-BE49-F238E27FC236}">
                <a16:creationId xmlns:a16="http://schemas.microsoft.com/office/drawing/2014/main" id="{430FFE9A-453B-4965-9EEF-256011828C11}"/>
              </a:ext>
            </a:extLst>
          </p:cNvPr>
          <p:cNvPicPr>
            <a:picLocks noChangeAspect="1"/>
          </p:cNvPicPr>
          <p:nvPr/>
        </p:nvPicPr>
        <p:blipFill>
          <a:blip r:embed="rId2"/>
          <a:stretch>
            <a:fillRect/>
          </a:stretch>
        </p:blipFill>
        <p:spPr>
          <a:xfrm>
            <a:off x="6038652" y="1815353"/>
            <a:ext cx="5550471" cy="3643152"/>
          </a:xfrm>
          <a:prstGeom prst="rect">
            <a:avLst/>
          </a:prstGeom>
        </p:spPr>
      </p:pic>
      <p:sp>
        <p:nvSpPr>
          <p:cNvPr id="7" name="Content Placeholder 2">
            <a:extLst>
              <a:ext uri="{FF2B5EF4-FFF2-40B4-BE49-F238E27FC236}">
                <a16:creationId xmlns:a16="http://schemas.microsoft.com/office/drawing/2014/main" id="{E99D34A2-9E00-406C-BDFC-B4C479BB1A3D}"/>
              </a:ext>
            </a:extLst>
          </p:cNvPr>
          <p:cNvSpPr txBox="1">
            <a:spLocks/>
          </p:cNvSpPr>
          <p:nvPr/>
        </p:nvSpPr>
        <p:spPr>
          <a:xfrm>
            <a:off x="6038651" y="5458505"/>
            <a:ext cx="5550471" cy="772298"/>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spcBef>
                <a:spcPts val="0"/>
              </a:spcBef>
              <a:buFont typeface="Wingdings 3" charset="2"/>
              <a:buNone/>
            </a:pPr>
            <a:r>
              <a:rPr lang="es-MX" i="1" dirty="0">
                <a:solidFill>
                  <a:schemeClr val="bg1">
                    <a:lumMod val="50000"/>
                  </a:schemeClr>
                </a:solidFill>
              </a:rPr>
              <a:t>La estabilidad y variabilidad nunca son negativas.</a:t>
            </a:r>
          </a:p>
        </p:txBody>
      </p:sp>
    </p:spTree>
    <p:extLst>
      <p:ext uri="{BB962C8B-B14F-4D97-AF65-F5344CB8AC3E}">
        <p14:creationId xmlns:p14="http://schemas.microsoft.com/office/powerpoint/2010/main" val="32819626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D71F32C-3ABB-41E6-9623-64931C1C1618}"/>
              </a:ext>
            </a:extLst>
          </p:cNvPr>
          <p:cNvSpPr/>
          <p:nvPr/>
        </p:nvSpPr>
        <p:spPr>
          <a:xfrm>
            <a:off x="0" y="0"/>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3" name="Content Placeholder 2">
            <a:extLst>
              <a:ext uri="{FF2B5EF4-FFF2-40B4-BE49-F238E27FC236}">
                <a16:creationId xmlns:a16="http://schemas.microsoft.com/office/drawing/2014/main" id="{2DF9D151-82C0-43EE-B707-76C5539F5847}"/>
              </a:ext>
            </a:extLst>
          </p:cNvPr>
          <p:cNvSpPr>
            <a:spLocks noGrp="1"/>
          </p:cNvSpPr>
          <p:nvPr>
            <p:ph idx="1"/>
          </p:nvPr>
        </p:nvSpPr>
        <p:spPr>
          <a:xfrm>
            <a:off x="602876" y="1450756"/>
            <a:ext cx="8285629" cy="3201926"/>
          </a:xfrm>
        </p:spPr>
        <p:txBody>
          <a:bodyPr>
            <a:normAutofit fontScale="77500" lnSpcReduction="20000"/>
          </a:bodyPr>
          <a:lstStyle/>
          <a:p>
            <a:pPr marL="0" indent="0" algn="just">
              <a:lnSpc>
                <a:spcPct val="150000"/>
              </a:lnSpc>
              <a:buNone/>
            </a:pPr>
            <a:r>
              <a:rPr lang="es-MX" sz="2200" dirty="0">
                <a:latin typeface="Montserrat"/>
              </a:rPr>
              <a:t>La idea ahora es buscar para cada producto aquellas ciudades que cuenten con una estabilidad “fuerte” y una variabilidad “baja” y posteriormente poner especial atención en aquellos en los que al menos una de las tres ciudades de Hidalgo se encuentre. Siendo estas:</a:t>
            </a:r>
          </a:p>
          <a:p>
            <a:pPr>
              <a:lnSpc>
                <a:spcPct val="150000"/>
              </a:lnSpc>
            </a:pPr>
            <a:r>
              <a:rPr lang="es-MX" sz="2200" b="1" dirty="0">
                <a:solidFill>
                  <a:srgbClr val="92081C"/>
                </a:solidFill>
                <a:latin typeface="Montserrat" panose="00000500000000000000" pitchFamily="50" charset="0"/>
              </a:rPr>
              <a:t>Pachuca de Soto</a:t>
            </a:r>
          </a:p>
          <a:p>
            <a:pPr>
              <a:lnSpc>
                <a:spcPct val="150000"/>
              </a:lnSpc>
            </a:pPr>
            <a:r>
              <a:rPr lang="es-MX" sz="2200" b="1" dirty="0">
                <a:solidFill>
                  <a:srgbClr val="92081C"/>
                </a:solidFill>
                <a:latin typeface="Montserrat" panose="00000500000000000000" pitchFamily="50" charset="0"/>
              </a:rPr>
              <a:t>Tulancingo</a:t>
            </a:r>
          </a:p>
          <a:p>
            <a:pPr>
              <a:lnSpc>
                <a:spcPct val="150000"/>
              </a:lnSpc>
            </a:pPr>
            <a:r>
              <a:rPr lang="es-MX" sz="2200" b="1" dirty="0">
                <a:solidFill>
                  <a:srgbClr val="92081C"/>
                </a:solidFill>
                <a:latin typeface="Montserrat" panose="00000500000000000000" pitchFamily="50" charset="0"/>
              </a:rPr>
              <a:t>Área Metropolitana de la Ciudad de México (incluye Tizayuca)</a:t>
            </a:r>
          </a:p>
        </p:txBody>
      </p:sp>
      <p:pic>
        <p:nvPicPr>
          <p:cNvPr id="1026" name="Picture 2" descr="Precio bajo - Iconos gratis de comercio">
            <a:extLst>
              <a:ext uri="{FF2B5EF4-FFF2-40B4-BE49-F238E27FC236}">
                <a16:creationId xmlns:a16="http://schemas.microsoft.com/office/drawing/2014/main" id="{8CCBB939-32AF-4739-B3C4-CC92648941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88505" y="1517610"/>
            <a:ext cx="2985248" cy="2758172"/>
          </a:xfrm>
          <a:prstGeom prst="rect">
            <a:avLst/>
          </a:prstGeom>
          <a:noFill/>
          <a:extLst>
            <a:ext uri="{909E8E84-426E-40DD-AFC4-6F175D3DCCD1}">
              <a14:hiddenFill xmlns:a14="http://schemas.microsoft.com/office/drawing/2010/main">
                <a:solidFill>
                  <a:srgbClr val="FFFFFF"/>
                </a:solidFill>
              </a14:hiddenFill>
            </a:ext>
          </a:extLst>
        </p:spPr>
      </p:pic>
      <p:sp>
        <p:nvSpPr>
          <p:cNvPr id="11" name="Title 1">
            <a:extLst>
              <a:ext uri="{FF2B5EF4-FFF2-40B4-BE49-F238E27FC236}">
                <a16:creationId xmlns:a16="http://schemas.microsoft.com/office/drawing/2014/main" id="{9BABFDD8-976D-40F6-AE0E-0A243835EF83}"/>
              </a:ext>
            </a:extLst>
          </p:cNvPr>
          <p:cNvSpPr txBox="1">
            <a:spLocks/>
          </p:cNvSpPr>
          <p:nvPr/>
        </p:nvSpPr>
        <p:spPr>
          <a:xfrm>
            <a:off x="602876" y="-133709"/>
            <a:ext cx="10986247" cy="145075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b="1" dirty="0">
                <a:solidFill>
                  <a:schemeClr val="bg1"/>
                </a:solidFill>
                <a:latin typeface="Montserrat"/>
              </a:rPr>
              <a:t>Competitividad</a:t>
            </a:r>
          </a:p>
        </p:txBody>
      </p:sp>
      <p:sp>
        <p:nvSpPr>
          <p:cNvPr id="12" name="Content Placeholder 2">
            <a:extLst>
              <a:ext uri="{FF2B5EF4-FFF2-40B4-BE49-F238E27FC236}">
                <a16:creationId xmlns:a16="http://schemas.microsoft.com/office/drawing/2014/main" id="{9AD0B19D-F8F0-4AAB-88FE-0D9C3831C761}"/>
              </a:ext>
            </a:extLst>
          </p:cNvPr>
          <p:cNvSpPr txBox="1">
            <a:spLocks/>
          </p:cNvSpPr>
          <p:nvPr/>
        </p:nvSpPr>
        <p:spPr>
          <a:xfrm>
            <a:off x="602876" y="4786390"/>
            <a:ext cx="11109512" cy="495004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Font typeface="Arial" panose="020B0604020202020204" pitchFamily="34" charset="0"/>
              <a:buNone/>
            </a:pPr>
            <a:r>
              <a:rPr lang="es-MX" sz="1700" dirty="0">
                <a:latin typeface="Montserrat" panose="00000500000000000000" pitchFamily="50" charset="0"/>
              </a:rPr>
              <a:t>Para definir a una estabilidad como fuerte o a una variabilidad como baja naturalmente nos podemos fijar en aquellas que tengan valores bajos. En dicho caso, surge la pregunta</a:t>
            </a:r>
          </a:p>
          <a:p>
            <a:pPr marL="0" indent="0" algn="ctr">
              <a:lnSpc>
                <a:spcPct val="150000"/>
              </a:lnSpc>
              <a:buFont typeface="Arial" panose="020B0604020202020204" pitchFamily="34" charset="0"/>
              <a:buNone/>
            </a:pPr>
            <a:r>
              <a:rPr lang="es-MX" sz="2000" b="1" dirty="0">
                <a:latin typeface="Montserrat" panose="00000500000000000000" pitchFamily="50" charset="0"/>
              </a:rPr>
              <a:t>¿Qué valor o valores utilizar para poder decir “a partir de aquí se considera bajo”?</a:t>
            </a:r>
            <a:endParaRPr lang="es-MX" sz="1700" b="1" dirty="0">
              <a:latin typeface="Montserrat" panose="00000500000000000000" pitchFamily="50" charset="0"/>
            </a:endParaRPr>
          </a:p>
        </p:txBody>
      </p:sp>
    </p:spTree>
    <p:extLst>
      <p:ext uri="{BB962C8B-B14F-4D97-AF65-F5344CB8AC3E}">
        <p14:creationId xmlns:p14="http://schemas.microsoft.com/office/powerpoint/2010/main" val="30027884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F9D151-82C0-43EE-B707-76C5539F5847}"/>
              </a:ext>
            </a:extLst>
          </p:cNvPr>
          <p:cNvSpPr>
            <a:spLocks noGrp="1"/>
          </p:cNvSpPr>
          <p:nvPr>
            <p:ph idx="1"/>
          </p:nvPr>
        </p:nvSpPr>
        <p:spPr>
          <a:xfrm>
            <a:off x="602875" y="1445148"/>
            <a:ext cx="10986247" cy="4606027"/>
          </a:xfrm>
        </p:spPr>
        <p:txBody>
          <a:bodyPr>
            <a:normAutofit fontScale="92500" lnSpcReduction="10000"/>
          </a:bodyPr>
          <a:lstStyle/>
          <a:p>
            <a:pPr marL="0" indent="0" algn="just">
              <a:lnSpc>
                <a:spcPct val="150000"/>
              </a:lnSpc>
              <a:buNone/>
            </a:pPr>
            <a:r>
              <a:rPr lang="es-MX" sz="2400" dirty="0">
                <a:latin typeface="Montserrat" panose="00000500000000000000" pitchFamily="50" charset="0"/>
              </a:rPr>
              <a:t>Para responder a la última pregunta se proponen dos posibles soluciones:</a:t>
            </a:r>
          </a:p>
          <a:p>
            <a:pPr algn="just">
              <a:lnSpc>
                <a:spcPct val="150000"/>
              </a:lnSpc>
            </a:pPr>
            <a:r>
              <a:rPr lang="es-MX" sz="2400" b="1" dirty="0">
                <a:latin typeface="Montserrat" panose="00000500000000000000" pitchFamily="50" charset="0"/>
              </a:rPr>
              <a:t>Opción 1.</a:t>
            </a:r>
          </a:p>
          <a:p>
            <a:pPr marL="0" indent="0" algn="just">
              <a:lnSpc>
                <a:spcPct val="150000"/>
              </a:lnSpc>
              <a:buNone/>
            </a:pPr>
            <a:r>
              <a:rPr lang="es-MX" sz="2400" dirty="0">
                <a:latin typeface="Montserrat" panose="00000500000000000000" pitchFamily="50" charset="0"/>
              </a:rPr>
              <a:t>	Utilizar la media de la estabilidad y la media de la variabilidad por 	genérico.</a:t>
            </a:r>
          </a:p>
          <a:p>
            <a:pPr algn="just">
              <a:lnSpc>
                <a:spcPct val="150000"/>
              </a:lnSpc>
            </a:pPr>
            <a:r>
              <a:rPr lang="es-MX" sz="2400" b="1" dirty="0">
                <a:latin typeface="Montserrat" panose="00000500000000000000" pitchFamily="50" charset="0"/>
              </a:rPr>
              <a:t>Opción 2.</a:t>
            </a:r>
          </a:p>
          <a:p>
            <a:pPr marL="0" indent="0" algn="just">
              <a:lnSpc>
                <a:spcPct val="150000"/>
              </a:lnSpc>
              <a:buNone/>
            </a:pPr>
            <a:r>
              <a:rPr lang="es-MX" sz="2400" dirty="0">
                <a:latin typeface="Montserrat" panose="00000500000000000000" pitchFamily="50" charset="0"/>
              </a:rPr>
              <a:t>	Generar un índice de la combinación ponderada de la estabilidad 	normalizada y la variabilidad normalizada por genérico y calcular la 	media del índice por genérico.</a:t>
            </a:r>
            <a:endParaRPr lang="es-MX" sz="2400" i="1" dirty="0">
              <a:latin typeface="Montserrat" panose="00000500000000000000" pitchFamily="50" charset="0"/>
            </a:endParaRPr>
          </a:p>
          <a:p>
            <a:pPr marL="0" indent="0">
              <a:buNone/>
            </a:pPr>
            <a:endParaRPr lang="es-MX" sz="2000" b="1" dirty="0"/>
          </a:p>
        </p:txBody>
      </p:sp>
      <p:sp>
        <p:nvSpPr>
          <p:cNvPr id="7" name="Rectangle 6">
            <a:extLst>
              <a:ext uri="{FF2B5EF4-FFF2-40B4-BE49-F238E27FC236}">
                <a16:creationId xmlns:a16="http://schemas.microsoft.com/office/drawing/2014/main" id="{D1E2749B-86DC-45DB-828C-9FB1C9D12B25}"/>
              </a:ext>
            </a:extLst>
          </p:cNvPr>
          <p:cNvSpPr/>
          <p:nvPr/>
        </p:nvSpPr>
        <p:spPr>
          <a:xfrm>
            <a:off x="0" y="0"/>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8" name="Title 1">
            <a:extLst>
              <a:ext uri="{FF2B5EF4-FFF2-40B4-BE49-F238E27FC236}">
                <a16:creationId xmlns:a16="http://schemas.microsoft.com/office/drawing/2014/main" id="{2C5A6804-A111-4238-8072-1DBAE3582C13}"/>
              </a:ext>
            </a:extLst>
          </p:cNvPr>
          <p:cNvSpPr txBox="1">
            <a:spLocks/>
          </p:cNvSpPr>
          <p:nvPr/>
        </p:nvSpPr>
        <p:spPr>
          <a:xfrm>
            <a:off x="602876" y="-133709"/>
            <a:ext cx="10986247" cy="145075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b="1" dirty="0">
                <a:solidFill>
                  <a:schemeClr val="bg1"/>
                </a:solidFill>
                <a:latin typeface="Montserrat"/>
              </a:rPr>
              <a:t>Propuestas</a:t>
            </a:r>
          </a:p>
        </p:txBody>
      </p:sp>
    </p:spTree>
    <p:extLst>
      <p:ext uri="{BB962C8B-B14F-4D97-AF65-F5344CB8AC3E}">
        <p14:creationId xmlns:p14="http://schemas.microsoft.com/office/powerpoint/2010/main" val="3828063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DF9D151-82C0-43EE-B707-76C5539F5847}"/>
                  </a:ext>
                </a:extLst>
              </p:cNvPr>
              <p:cNvSpPr>
                <a:spLocks noGrp="1"/>
              </p:cNvSpPr>
              <p:nvPr>
                <p:ph idx="1"/>
              </p:nvPr>
            </p:nvSpPr>
            <p:spPr>
              <a:xfrm>
                <a:off x="602875" y="1317048"/>
                <a:ext cx="10986247" cy="1685498"/>
              </a:xfrm>
            </p:spPr>
            <p:txBody>
              <a:bodyPr>
                <a:normAutofit fontScale="92500" lnSpcReduction="20000"/>
              </a:bodyPr>
              <a:lstStyle/>
              <a:p>
                <a:pPr marL="0" indent="0">
                  <a:lnSpc>
                    <a:spcPct val="150000"/>
                  </a:lnSpc>
                  <a:buNone/>
                </a:pPr>
                <a:r>
                  <a:rPr lang="es-MX" sz="2200" dirty="0">
                    <a:latin typeface="Montserrat" panose="00000500000000000000" pitchFamily="50" charset="0"/>
                  </a:rPr>
                  <a:t>Agrupamos a las ciudades por genérico, calculamos la media de la estabilidad y la media de la variabilidad y consideramos a aquellas ciudades que cumplan que ambos valores son menores estrictos que sus medias respectivas. De esta forma definimos para cada ciudad </a:t>
                </a:r>
                <a14:m>
                  <m:oMath xmlns:m="http://schemas.openxmlformats.org/officeDocument/2006/math">
                    <m:r>
                      <a:rPr lang="es-MX" sz="2200" i="1" dirty="0" smtClean="0">
                        <a:latin typeface="Cambria Math" panose="02040503050406030204" pitchFamily="18" charset="0"/>
                      </a:rPr>
                      <m:t>𝑐</m:t>
                    </m:r>
                  </m:oMath>
                </a14:m>
                <a:r>
                  <a:rPr lang="es-MX" sz="2200" dirty="0">
                    <a:latin typeface="Montserrat" panose="00000500000000000000" pitchFamily="50" charset="0"/>
                  </a:rPr>
                  <a:t> y cada  genérico </a:t>
                </a:r>
                <a14:m>
                  <m:oMath xmlns:m="http://schemas.openxmlformats.org/officeDocument/2006/math">
                    <m:r>
                      <a:rPr lang="es-MX" sz="2200" i="1" dirty="0" smtClean="0">
                        <a:latin typeface="Cambria Math" panose="02040503050406030204" pitchFamily="18" charset="0"/>
                      </a:rPr>
                      <m:t>𝑔</m:t>
                    </m:r>
                  </m:oMath>
                </a14:m>
                <a:endParaRPr lang="es-MX" sz="2200" dirty="0">
                  <a:latin typeface="Montserrat" panose="00000500000000000000" pitchFamily="50" charset="0"/>
                </a:endParaRPr>
              </a:p>
              <a:p>
                <a:pPr marL="0" indent="0">
                  <a:buNone/>
                </a:pPr>
                <a:endParaRPr lang="es-MX" sz="2000" dirty="0"/>
              </a:p>
            </p:txBody>
          </p:sp>
        </mc:Choice>
        <mc:Fallback xmlns="">
          <p:sp>
            <p:nvSpPr>
              <p:cNvPr id="3" name="Content Placeholder 2">
                <a:extLst>
                  <a:ext uri="{FF2B5EF4-FFF2-40B4-BE49-F238E27FC236}">
                    <a16:creationId xmlns:a16="http://schemas.microsoft.com/office/drawing/2014/main" id="{2DF9D151-82C0-43EE-B707-76C5539F5847}"/>
                  </a:ext>
                </a:extLst>
              </p:cNvPr>
              <p:cNvSpPr>
                <a:spLocks noGrp="1" noRot="1" noChangeAspect="1" noMove="1" noResize="1" noEditPoints="1" noAdjustHandles="1" noChangeArrowheads="1" noChangeShapeType="1" noTextEdit="1"/>
              </p:cNvSpPr>
              <p:nvPr>
                <p:ph idx="1"/>
              </p:nvPr>
            </p:nvSpPr>
            <p:spPr>
              <a:xfrm>
                <a:off x="602875" y="1317048"/>
                <a:ext cx="10986247" cy="1685498"/>
              </a:xfrm>
              <a:blipFill>
                <a:blip r:embed="rId2"/>
                <a:stretch>
                  <a:fillRect l="-610" b="-3971"/>
                </a:stretch>
              </a:blipFill>
            </p:spPr>
            <p:txBody>
              <a:bodyPr/>
              <a:lstStyle/>
              <a:p>
                <a:r>
                  <a:rPr lang="es-MX">
                    <a:noFill/>
                  </a:rPr>
                  <a:t> </a:t>
                </a:r>
              </a:p>
            </p:txBody>
          </p:sp>
        </mc:Fallback>
      </mc:AlternateContent>
      <mc:AlternateContent xmlns:mc="http://schemas.openxmlformats.org/markup-compatibility/2006">
        <mc:Choice xmlns:a14="http://schemas.microsoft.com/office/drawing/2010/main" Requires="a14">
          <p:sp>
            <p:nvSpPr>
              <p:cNvPr id="7" name="Content Placeholder 2">
                <a:extLst>
                  <a:ext uri="{FF2B5EF4-FFF2-40B4-BE49-F238E27FC236}">
                    <a16:creationId xmlns:a16="http://schemas.microsoft.com/office/drawing/2014/main" id="{0649287A-C27A-4814-951C-4DBBC869EA2B}"/>
                  </a:ext>
                </a:extLst>
              </p:cNvPr>
              <p:cNvSpPr txBox="1">
                <a:spLocks/>
              </p:cNvSpPr>
              <p:nvPr/>
            </p:nvSpPr>
            <p:spPr>
              <a:xfrm>
                <a:off x="1075764" y="3136253"/>
                <a:ext cx="11722573" cy="2995605"/>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Font typeface="Wingdings 3" charset="2"/>
                  <a:buNone/>
                </a:pPr>
                <a14:m>
                  <m:oMath xmlns:m="http://schemas.openxmlformats.org/officeDocument/2006/math">
                    <m:r>
                      <a:rPr lang="es-ES" sz="2000" b="1" i="0" smtClean="0">
                        <a:solidFill>
                          <a:schemeClr val="tx1">
                            <a:lumMod val="85000"/>
                            <a:lumOff val="15000"/>
                          </a:schemeClr>
                        </a:solidFill>
                        <a:latin typeface="Cambria Math" panose="02040503050406030204" pitchFamily="18" charset="0"/>
                      </a:rPr>
                      <m:t>𝐄𝐬𝐭𝐚𝐛𝐢𝐥𝐢𝐝𝐚𝐝</m:t>
                    </m:r>
                    <m:r>
                      <a:rPr lang="es-ES" sz="2000" b="1" i="1" smtClean="0">
                        <a:solidFill>
                          <a:schemeClr val="tx1">
                            <a:lumMod val="85000"/>
                            <a:lumOff val="15000"/>
                          </a:schemeClr>
                        </a:solidFill>
                        <a:latin typeface="Cambria Math" panose="02040503050406030204" pitchFamily="18" charset="0"/>
                      </a:rPr>
                      <m:t>_</m:t>
                    </m:r>
                    <m:r>
                      <a:rPr lang="es-ES" sz="2000" b="1" i="1" smtClean="0">
                        <a:solidFill>
                          <a:schemeClr val="tx1">
                            <a:lumMod val="85000"/>
                            <a:lumOff val="15000"/>
                          </a:schemeClr>
                        </a:solidFill>
                        <a:latin typeface="Cambria Math" panose="02040503050406030204" pitchFamily="18" charset="0"/>
                      </a:rPr>
                      <m:t>𝑪𝒐𝒎𝒑𝒆𝒕𝒊𝒕𝒊𝒗</m:t>
                    </m:r>
                    <m:sSub>
                      <m:sSubPr>
                        <m:ctrlPr>
                          <a:rPr lang="es-ES" sz="2000" b="1" i="1" smtClean="0">
                            <a:solidFill>
                              <a:schemeClr val="tx1">
                                <a:lumMod val="85000"/>
                                <a:lumOff val="15000"/>
                              </a:schemeClr>
                            </a:solidFill>
                            <a:latin typeface="Cambria Math" panose="02040503050406030204" pitchFamily="18" charset="0"/>
                          </a:rPr>
                        </m:ctrlPr>
                      </m:sSubPr>
                      <m:e>
                        <m:r>
                          <a:rPr lang="es-ES" sz="2000" b="1" i="1" smtClean="0">
                            <a:solidFill>
                              <a:schemeClr val="tx1">
                                <a:lumMod val="85000"/>
                                <a:lumOff val="15000"/>
                              </a:schemeClr>
                            </a:solidFill>
                            <a:latin typeface="Cambria Math" panose="02040503050406030204" pitchFamily="18" charset="0"/>
                          </a:rPr>
                          <m:t>𝒂</m:t>
                        </m:r>
                      </m:e>
                      <m:sub>
                        <m:r>
                          <a:rPr lang="es-ES" sz="2000" b="1" i="1" smtClean="0">
                            <a:solidFill>
                              <a:schemeClr val="tx1">
                                <a:lumMod val="85000"/>
                                <a:lumOff val="15000"/>
                              </a:schemeClr>
                            </a:solidFill>
                            <a:latin typeface="Cambria Math" panose="02040503050406030204" pitchFamily="18" charset="0"/>
                          </a:rPr>
                          <m:t>𝒄</m:t>
                        </m:r>
                        <m:r>
                          <a:rPr lang="es-ES" sz="2000" b="1" i="1" smtClean="0">
                            <a:solidFill>
                              <a:schemeClr val="tx1">
                                <a:lumMod val="85000"/>
                                <a:lumOff val="15000"/>
                              </a:schemeClr>
                            </a:solidFill>
                            <a:latin typeface="Cambria Math" panose="02040503050406030204" pitchFamily="18" charset="0"/>
                          </a:rPr>
                          <m:t>,</m:t>
                        </m:r>
                        <m:r>
                          <a:rPr lang="es-ES" sz="2000" b="1" i="1" smtClean="0">
                            <a:solidFill>
                              <a:schemeClr val="tx1">
                                <a:lumMod val="85000"/>
                                <a:lumOff val="15000"/>
                              </a:schemeClr>
                            </a:solidFill>
                            <a:latin typeface="Cambria Math" panose="02040503050406030204" pitchFamily="18" charset="0"/>
                          </a:rPr>
                          <m:t>𝒈</m:t>
                        </m:r>
                      </m:sub>
                    </m:sSub>
                  </m:oMath>
                </a14:m>
                <a:r>
                  <a:rPr lang="es-MX" sz="2000" b="1" dirty="0">
                    <a:solidFill>
                      <a:schemeClr val="tx1">
                        <a:lumMod val="85000"/>
                        <a:lumOff val="15000"/>
                      </a:schemeClr>
                    </a:solidFill>
                  </a:rPr>
                  <a:t> </a:t>
                </a:r>
                <a14:m>
                  <m:oMath xmlns:m="http://schemas.openxmlformats.org/officeDocument/2006/math">
                    <m:r>
                      <a:rPr lang="es-ES" sz="2000" b="1" i="1" dirty="0" smtClean="0">
                        <a:solidFill>
                          <a:schemeClr val="tx1">
                            <a:lumMod val="85000"/>
                            <a:lumOff val="15000"/>
                          </a:schemeClr>
                        </a:solidFill>
                        <a:latin typeface="Cambria Math" panose="02040503050406030204" pitchFamily="18" charset="0"/>
                      </a:rPr>
                      <m:t>=</m:t>
                    </m:r>
                    <m:d>
                      <m:dPr>
                        <m:begChr m:val="{"/>
                        <m:endChr m:val=""/>
                        <m:ctrlPr>
                          <a:rPr lang="es-ES" sz="2000" b="1" i="1" dirty="0" smtClean="0">
                            <a:solidFill>
                              <a:schemeClr val="tx1">
                                <a:lumMod val="85000"/>
                                <a:lumOff val="15000"/>
                              </a:schemeClr>
                            </a:solidFill>
                            <a:latin typeface="Cambria Math" panose="02040503050406030204" pitchFamily="18" charset="0"/>
                          </a:rPr>
                        </m:ctrlPr>
                      </m:dPr>
                      <m:e>
                        <m:eqArr>
                          <m:eqArrPr>
                            <m:ctrlPr>
                              <a:rPr lang="es-ES" sz="2000" b="1" i="1" dirty="0" smtClean="0">
                                <a:solidFill>
                                  <a:schemeClr val="tx1">
                                    <a:lumMod val="85000"/>
                                    <a:lumOff val="15000"/>
                                  </a:schemeClr>
                                </a:solidFill>
                                <a:latin typeface="Cambria Math" panose="02040503050406030204" pitchFamily="18" charset="0"/>
                              </a:rPr>
                            </m:ctrlPr>
                          </m:eqArrPr>
                          <m:e>
                            <m:r>
                              <a:rPr lang="es-ES" sz="2000" b="1" i="1" dirty="0" smtClean="0">
                                <a:solidFill>
                                  <a:schemeClr val="tx1">
                                    <a:lumMod val="85000"/>
                                    <a:lumOff val="15000"/>
                                  </a:schemeClr>
                                </a:solidFill>
                                <a:latin typeface="Cambria Math" panose="02040503050406030204" pitchFamily="18" charset="0"/>
                              </a:rPr>
                              <m:t>𝟏</m:t>
                            </m:r>
                            <m:r>
                              <a:rPr lang="es-ES" sz="2000" b="1" i="1" dirty="0" smtClean="0">
                                <a:solidFill>
                                  <a:schemeClr val="tx1">
                                    <a:lumMod val="85000"/>
                                    <a:lumOff val="15000"/>
                                  </a:schemeClr>
                                </a:solidFill>
                                <a:latin typeface="Cambria Math" panose="02040503050406030204" pitchFamily="18" charset="0"/>
                              </a:rPr>
                              <m:t>, </m:t>
                            </m:r>
                            <m:r>
                              <a:rPr lang="es-ES" sz="2000" b="1" i="1" dirty="0" smtClean="0">
                                <a:solidFill>
                                  <a:schemeClr val="tx1">
                                    <a:lumMod val="85000"/>
                                    <a:lumOff val="15000"/>
                                  </a:schemeClr>
                                </a:solidFill>
                                <a:latin typeface="Cambria Math" panose="02040503050406030204" pitchFamily="18" charset="0"/>
                              </a:rPr>
                              <m:t>𝒔𝒊</m:t>
                            </m:r>
                            <m:r>
                              <a:rPr lang="es-ES" sz="2000" b="1" i="1" dirty="0" smtClean="0">
                                <a:solidFill>
                                  <a:schemeClr val="tx1">
                                    <a:lumMod val="85000"/>
                                    <a:lumOff val="15000"/>
                                  </a:schemeClr>
                                </a:solidFill>
                                <a:latin typeface="Cambria Math" panose="02040503050406030204" pitchFamily="18" charset="0"/>
                              </a:rPr>
                              <m:t> </m:t>
                            </m:r>
                            <m:r>
                              <a:rPr lang="es-ES" sz="2000" b="1" i="1" dirty="0" smtClean="0">
                                <a:solidFill>
                                  <a:schemeClr val="tx1">
                                    <a:lumMod val="85000"/>
                                    <a:lumOff val="15000"/>
                                  </a:schemeClr>
                                </a:solidFill>
                                <a:latin typeface="Cambria Math" panose="02040503050406030204" pitchFamily="18" charset="0"/>
                              </a:rPr>
                              <m:t>𝑬𝒔𝒕𝒂𝒃𝒊𝒍𝒊𝒅𝒂</m:t>
                            </m:r>
                            <m:sSub>
                              <m:sSubPr>
                                <m:ctrlPr>
                                  <a:rPr lang="es-ES" sz="2000" b="1" i="1" dirty="0" smtClean="0">
                                    <a:solidFill>
                                      <a:schemeClr val="tx1">
                                        <a:lumMod val="85000"/>
                                        <a:lumOff val="15000"/>
                                      </a:schemeClr>
                                    </a:solidFill>
                                    <a:latin typeface="Cambria Math" panose="02040503050406030204" pitchFamily="18" charset="0"/>
                                  </a:rPr>
                                </m:ctrlPr>
                              </m:sSubPr>
                              <m:e>
                                <m:r>
                                  <a:rPr lang="es-ES" sz="2000" b="1" i="1" dirty="0" smtClean="0">
                                    <a:solidFill>
                                      <a:schemeClr val="tx1">
                                        <a:lumMod val="85000"/>
                                        <a:lumOff val="15000"/>
                                      </a:schemeClr>
                                    </a:solidFill>
                                    <a:latin typeface="Cambria Math" panose="02040503050406030204" pitchFamily="18" charset="0"/>
                                  </a:rPr>
                                  <m:t>𝒅</m:t>
                                </m:r>
                              </m:e>
                              <m:sub>
                                <m:r>
                                  <a:rPr lang="es-ES" sz="2000" b="1" i="1" dirty="0" smtClean="0">
                                    <a:solidFill>
                                      <a:schemeClr val="tx1">
                                        <a:lumMod val="85000"/>
                                        <a:lumOff val="15000"/>
                                      </a:schemeClr>
                                    </a:solidFill>
                                    <a:latin typeface="Cambria Math" panose="02040503050406030204" pitchFamily="18" charset="0"/>
                                  </a:rPr>
                                  <m:t>𝒄</m:t>
                                </m:r>
                                <m:r>
                                  <a:rPr lang="es-ES" sz="2000" b="1" i="1" dirty="0" smtClean="0">
                                    <a:solidFill>
                                      <a:schemeClr val="tx1">
                                        <a:lumMod val="85000"/>
                                        <a:lumOff val="15000"/>
                                      </a:schemeClr>
                                    </a:solidFill>
                                    <a:latin typeface="Cambria Math" panose="02040503050406030204" pitchFamily="18" charset="0"/>
                                  </a:rPr>
                                  <m:t>,</m:t>
                                </m:r>
                                <m:r>
                                  <a:rPr lang="es-ES" sz="2000" b="1" i="1" dirty="0" smtClean="0">
                                    <a:solidFill>
                                      <a:schemeClr val="tx1">
                                        <a:lumMod val="85000"/>
                                        <a:lumOff val="15000"/>
                                      </a:schemeClr>
                                    </a:solidFill>
                                    <a:latin typeface="Cambria Math" panose="02040503050406030204" pitchFamily="18" charset="0"/>
                                  </a:rPr>
                                  <m:t>𝒈</m:t>
                                </m:r>
                              </m:sub>
                            </m:sSub>
                            <m:r>
                              <a:rPr lang="es-ES" sz="2000" b="1" i="1" dirty="0" smtClean="0">
                                <a:solidFill>
                                  <a:schemeClr val="tx1">
                                    <a:lumMod val="85000"/>
                                    <a:lumOff val="15000"/>
                                  </a:schemeClr>
                                </a:solidFill>
                                <a:latin typeface="Cambria Math" panose="02040503050406030204" pitchFamily="18" charset="0"/>
                              </a:rPr>
                              <m:t>&lt;</m:t>
                            </m:r>
                            <m:r>
                              <a:rPr lang="es-ES" sz="2000" b="1" i="1" dirty="0" smtClean="0">
                                <a:solidFill>
                                  <a:schemeClr val="tx1">
                                    <a:lumMod val="85000"/>
                                    <a:lumOff val="15000"/>
                                  </a:schemeClr>
                                </a:solidFill>
                                <a:latin typeface="Cambria Math" panose="02040503050406030204" pitchFamily="18" charset="0"/>
                              </a:rPr>
                              <m:t>𝑴𝒆𝒅𝒊𝒂</m:t>
                            </m:r>
                            <m:r>
                              <a:rPr lang="es-ES" sz="2000" b="1" i="1" dirty="0" smtClean="0">
                                <a:solidFill>
                                  <a:schemeClr val="tx1">
                                    <a:lumMod val="85000"/>
                                    <a:lumOff val="15000"/>
                                  </a:schemeClr>
                                </a:solidFill>
                                <a:latin typeface="Cambria Math" panose="02040503050406030204" pitchFamily="18" charset="0"/>
                              </a:rPr>
                              <m:t>_</m:t>
                            </m:r>
                            <m:r>
                              <a:rPr lang="es-ES" sz="2000" b="1" i="1" dirty="0" smtClean="0">
                                <a:solidFill>
                                  <a:schemeClr val="tx1">
                                    <a:lumMod val="85000"/>
                                    <a:lumOff val="15000"/>
                                  </a:schemeClr>
                                </a:solidFill>
                                <a:latin typeface="Cambria Math" panose="02040503050406030204" pitchFamily="18" charset="0"/>
                              </a:rPr>
                              <m:t>𝑬𝒔𝒕𝒂𝒃𝒊𝒍𝒊𝒅𝒂</m:t>
                            </m:r>
                            <m:sSub>
                              <m:sSubPr>
                                <m:ctrlPr>
                                  <a:rPr lang="es-ES" sz="2000" b="1" i="1" dirty="0" smtClean="0">
                                    <a:solidFill>
                                      <a:schemeClr val="tx1">
                                        <a:lumMod val="85000"/>
                                        <a:lumOff val="15000"/>
                                      </a:schemeClr>
                                    </a:solidFill>
                                    <a:latin typeface="Cambria Math" panose="02040503050406030204" pitchFamily="18" charset="0"/>
                                  </a:rPr>
                                </m:ctrlPr>
                              </m:sSubPr>
                              <m:e>
                                <m:r>
                                  <a:rPr lang="es-ES" sz="2000" b="1" i="1" dirty="0" smtClean="0">
                                    <a:solidFill>
                                      <a:schemeClr val="tx1">
                                        <a:lumMod val="85000"/>
                                        <a:lumOff val="15000"/>
                                      </a:schemeClr>
                                    </a:solidFill>
                                    <a:latin typeface="Cambria Math" panose="02040503050406030204" pitchFamily="18" charset="0"/>
                                  </a:rPr>
                                  <m:t>𝒅</m:t>
                                </m:r>
                              </m:e>
                              <m:sub>
                                <m:r>
                                  <a:rPr lang="es-ES" sz="2000" b="1" i="1" dirty="0" smtClean="0">
                                    <a:solidFill>
                                      <a:schemeClr val="tx1">
                                        <a:lumMod val="85000"/>
                                        <a:lumOff val="15000"/>
                                      </a:schemeClr>
                                    </a:solidFill>
                                    <a:latin typeface="Cambria Math" panose="02040503050406030204" pitchFamily="18" charset="0"/>
                                  </a:rPr>
                                  <m:t>𝒈</m:t>
                                </m:r>
                              </m:sub>
                            </m:sSub>
                          </m:e>
                          <m:e>
                            <m:r>
                              <a:rPr lang="es-ES" sz="2000" b="1" i="1" dirty="0" smtClean="0">
                                <a:solidFill>
                                  <a:schemeClr val="tx1">
                                    <a:lumMod val="85000"/>
                                    <a:lumOff val="15000"/>
                                  </a:schemeClr>
                                </a:solidFill>
                                <a:latin typeface="Cambria Math" panose="02040503050406030204" pitchFamily="18" charset="0"/>
                              </a:rPr>
                              <m:t>𝟎</m:t>
                            </m:r>
                            <m:r>
                              <a:rPr lang="es-ES" sz="2000" b="1" i="1" dirty="0" smtClean="0">
                                <a:solidFill>
                                  <a:schemeClr val="tx1">
                                    <a:lumMod val="85000"/>
                                    <a:lumOff val="15000"/>
                                  </a:schemeClr>
                                </a:solidFill>
                                <a:latin typeface="Cambria Math" panose="02040503050406030204" pitchFamily="18" charset="0"/>
                              </a:rPr>
                              <m:t>, </m:t>
                            </m:r>
                            <m:r>
                              <a:rPr lang="es-ES" sz="2000" b="1" i="1" dirty="0" smtClean="0">
                                <a:solidFill>
                                  <a:schemeClr val="tx1">
                                    <a:lumMod val="85000"/>
                                    <a:lumOff val="15000"/>
                                  </a:schemeClr>
                                </a:solidFill>
                                <a:latin typeface="Cambria Math" panose="02040503050406030204" pitchFamily="18" charset="0"/>
                              </a:rPr>
                              <m:t>𝒐𝒕𝒓𝒐</m:t>
                            </m:r>
                            <m:r>
                              <a:rPr lang="es-ES" sz="2000" b="1" i="1" dirty="0" smtClean="0">
                                <a:solidFill>
                                  <a:schemeClr val="tx1">
                                    <a:lumMod val="85000"/>
                                    <a:lumOff val="15000"/>
                                  </a:schemeClr>
                                </a:solidFill>
                                <a:latin typeface="Cambria Math" panose="02040503050406030204" pitchFamily="18" charset="0"/>
                              </a:rPr>
                              <m:t> </m:t>
                            </m:r>
                            <m:r>
                              <a:rPr lang="es-ES" sz="2000" b="1" i="1" dirty="0" smtClean="0">
                                <a:solidFill>
                                  <a:schemeClr val="tx1">
                                    <a:lumMod val="85000"/>
                                    <a:lumOff val="15000"/>
                                  </a:schemeClr>
                                </a:solidFill>
                                <a:latin typeface="Cambria Math" panose="02040503050406030204" pitchFamily="18" charset="0"/>
                              </a:rPr>
                              <m:t>𝒄𝒂𝒔𝒐</m:t>
                            </m:r>
                          </m:e>
                        </m:eqArr>
                      </m:e>
                    </m:d>
                  </m:oMath>
                </a14:m>
                <a:r>
                  <a:rPr lang="es-MX" sz="2000" b="1" dirty="0">
                    <a:solidFill>
                      <a:schemeClr val="tx1">
                        <a:lumMod val="85000"/>
                        <a:lumOff val="15000"/>
                      </a:schemeClr>
                    </a:solidFill>
                  </a:rPr>
                  <a:t>  ,</a:t>
                </a:r>
              </a:p>
              <a:p>
                <a:pPr marL="0" indent="0">
                  <a:buNone/>
                </a:pPr>
                <a14:m>
                  <m:oMath xmlns:m="http://schemas.openxmlformats.org/officeDocument/2006/math">
                    <m:r>
                      <a:rPr lang="es-ES" sz="2000" b="1" i="1" smtClean="0">
                        <a:solidFill>
                          <a:schemeClr val="tx1">
                            <a:lumMod val="85000"/>
                            <a:lumOff val="15000"/>
                          </a:schemeClr>
                        </a:solidFill>
                        <a:latin typeface="Cambria Math" panose="02040503050406030204" pitchFamily="18" charset="0"/>
                      </a:rPr>
                      <m:t>𝑽𝒂𝒓𝒊𝒂𝒃𝒊𝒍𝒊𝒅𝒂𝒅</m:t>
                    </m:r>
                    <m:r>
                      <a:rPr lang="es-ES" sz="2000" b="1" i="1">
                        <a:solidFill>
                          <a:schemeClr val="tx1">
                            <a:lumMod val="85000"/>
                            <a:lumOff val="15000"/>
                          </a:schemeClr>
                        </a:solidFill>
                        <a:latin typeface="Cambria Math" panose="02040503050406030204" pitchFamily="18" charset="0"/>
                      </a:rPr>
                      <m:t>_</m:t>
                    </m:r>
                    <m:r>
                      <a:rPr lang="es-ES" sz="2000" b="1" i="1">
                        <a:solidFill>
                          <a:schemeClr val="tx1">
                            <a:lumMod val="85000"/>
                            <a:lumOff val="15000"/>
                          </a:schemeClr>
                        </a:solidFill>
                        <a:latin typeface="Cambria Math" panose="02040503050406030204" pitchFamily="18" charset="0"/>
                      </a:rPr>
                      <m:t>𝑪𝒐𝒎𝒑𝒆𝒕𝒊𝒕𝒊𝒗</m:t>
                    </m:r>
                    <m:sSub>
                      <m:sSubPr>
                        <m:ctrlPr>
                          <a:rPr lang="es-ES" sz="2000" b="1" i="1" smtClean="0">
                            <a:solidFill>
                              <a:schemeClr val="tx1">
                                <a:lumMod val="85000"/>
                                <a:lumOff val="15000"/>
                              </a:schemeClr>
                            </a:solidFill>
                            <a:latin typeface="Cambria Math" panose="02040503050406030204" pitchFamily="18" charset="0"/>
                          </a:rPr>
                        </m:ctrlPr>
                      </m:sSubPr>
                      <m:e>
                        <m:r>
                          <a:rPr lang="es-ES" sz="2000" b="1" i="1">
                            <a:solidFill>
                              <a:schemeClr val="tx1">
                                <a:lumMod val="85000"/>
                                <a:lumOff val="15000"/>
                              </a:schemeClr>
                            </a:solidFill>
                            <a:latin typeface="Cambria Math" panose="02040503050406030204" pitchFamily="18" charset="0"/>
                          </a:rPr>
                          <m:t>𝒂</m:t>
                        </m:r>
                      </m:e>
                      <m:sub>
                        <m:r>
                          <a:rPr lang="es-ES" sz="2000" b="1" i="1" smtClean="0">
                            <a:solidFill>
                              <a:schemeClr val="tx1">
                                <a:lumMod val="85000"/>
                                <a:lumOff val="15000"/>
                              </a:schemeClr>
                            </a:solidFill>
                            <a:latin typeface="Cambria Math" panose="02040503050406030204" pitchFamily="18" charset="0"/>
                          </a:rPr>
                          <m:t>𝒄</m:t>
                        </m:r>
                        <m:r>
                          <a:rPr lang="es-ES" sz="2000" b="1" i="1" smtClean="0">
                            <a:solidFill>
                              <a:schemeClr val="tx1">
                                <a:lumMod val="85000"/>
                                <a:lumOff val="15000"/>
                              </a:schemeClr>
                            </a:solidFill>
                            <a:latin typeface="Cambria Math" panose="02040503050406030204" pitchFamily="18" charset="0"/>
                          </a:rPr>
                          <m:t>,</m:t>
                        </m:r>
                        <m:r>
                          <a:rPr lang="es-ES" sz="2000" b="1" i="1" smtClean="0">
                            <a:solidFill>
                              <a:schemeClr val="tx1">
                                <a:lumMod val="85000"/>
                                <a:lumOff val="15000"/>
                              </a:schemeClr>
                            </a:solidFill>
                            <a:latin typeface="Cambria Math" panose="02040503050406030204" pitchFamily="18" charset="0"/>
                          </a:rPr>
                          <m:t>𝒈</m:t>
                        </m:r>
                      </m:sub>
                    </m:sSub>
                  </m:oMath>
                </a14:m>
                <a:r>
                  <a:rPr lang="es-MX" sz="2000" b="1" dirty="0">
                    <a:solidFill>
                      <a:schemeClr val="tx1">
                        <a:lumMod val="85000"/>
                        <a:lumOff val="15000"/>
                      </a:schemeClr>
                    </a:solidFill>
                  </a:rPr>
                  <a:t> </a:t>
                </a:r>
                <a14:m>
                  <m:oMath xmlns:m="http://schemas.openxmlformats.org/officeDocument/2006/math">
                    <m:r>
                      <a:rPr lang="es-ES" sz="2000" b="1" i="1" dirty="0">
                        <a:solidFill>
                          <a:schemeClr val="tx1">
                            <a:lumMod val="85000"/>
                            <a:lumOff val="15000"/>
                          </a:schemeClr>
                        </a:solidFill>
                        <a:latin typeface="Cambria Math" panose="02040503050406030204" pitchFamily="18" charset="0"/>
                      </a:rPr>
                      <m:t>=</m:t>
                    </m:r>
                    <m:d>
                      <m:dPr>
                        <m:begChr m:val="{"/>
                        <m:endChr m:val=""/>
                        <m:ctrlPr>
                          <a:rPr lang="es-ES" sz="2000" b="1" i="1" dirty="0">
                            <a:solidFill>
                              <a:schemeClr val="tx1">
                                <a:lumMod val="85000"/>
                                <a:lumOff val="15000"/>
                              </a:schemeClr>
                            </a:solidFill>
                            <a:latin typeface="Cambria Math" panose="02040503050406030204" pitchFamily="18" charset="0"/>
                          </a:rPr>
                        </m:ctrlPr>
                      </m:dPr>
                      <m:e>
                        <m:eqArr>
                          <m:eqArrPr>
                            <m:ctrlPr>
                              <a:rPr lang="es-ES" sz="2000" b="1" i="1" dirty="0">
                                <a:solidFill>
                                  <a:schemeClr val="tx1">
                                    <a:lumMod val="85000"/>
                                    <a:lumOff val="15000"/>
                                  </a:schemeClr>
                                </a:solidFill>
                                <a:latin typeface="Cambria Math" panose="02040503050406030204" pitchFamily="18" charset="0"/>
                              </a:rPr>
                            </m:ctrlPr>
                          </m:eqArrPr>
                          <m:e>
                            <m:r>
                              <a:rPr lang="es-ES" sz="2000" b="1" i="1" dirty="0">
                                <a:solidFill>
                                  <a:schemeClr val="tx1">
                                    <a:lumMod val="85000"/>
                                    <a:lumOff val="15000"/>
                                  </a:schemeClr>
                                </a:solidFill>
                                <a:latin typeface="Cambria Math" panose="02040503050406030204" pitchFamily="18" charset="0"/>
                              </a:rPr>
                              <m:t>𝟏</m:t>
                            </m:r>
                            <m:r>
                              <a:rPr lang="es-ES" sz="2000" b="1" i="1" dirty="0">
                                <a:solidFill>
                                  <a:schemeClr val="tx1">
                                    <a:lumMod val="85000"/>
                                    <a:lumOff val="15000"/>
                                  </a:schemeClr>
                                </a:solidFill>
                                <a:latin typeface="Cambria Math" panose="02040503050406030204" pitchFamily="18" charset="0"/>
                              </a:rPr>
                              <m:t>, </m:t>
                            </m:r>
                            <m:r>
                              <a:rPr lang="es-ES" sz="2000" b="1" i="1" dirty="0">
                                <a:solidFill>
                                  <a:schemeClr val="tx1">
                                    <a:lumMod val="85000"/>
                                    <a:lumOff val="15000"/>
                                  </a:schemeClr>
                                </a:solidFill>
                                <a:latin typeface="Cambria Math" panose="02040503050406030204" pitchFamily="18" charset="0"/>
                              </a:rPr>
                              <m:t>𝒔𝒊</m:t>
                            </m:r>
                            <m:r>
                              <a:rPr lang="es-ES" sz="2000" b="1" i="1" dirty="0" smtClean="0">
                                <a:solidFill>
                                  <a:schemeClr val="tx1">
                                    <a:lumMod val="85000"/>
                                    <a:lumOff val="15000"/>
                                  </a:schemeClr>
                                </a:solidFill>
                                <a:latin typeface="Cambria Math" panose="02040503050406030204" pitchFamily="18" charset="0"/>
                              </a:rPr>
                              <m:t> </m:t>
                            </m:r>
                            <m:r>
                              <a:rPr lang="es-ES" sz="2000" b="1" i="1" dirty="0" smtClean="0">
                                <a:solidFill>
                                  <a:schemeClr val="tx1">
                                    <a:lumMod val="85000"/>
                                    <a:lumOff val="15000"/>
                                  </a:schemeClr>
                                </a:solidFill>
                                <a:latin typeface="Cambria Math" panose="02040503050406030204" pitchFamily="18" charset="0"/>
                              </a:rPr>
                              <m:t>𝑽𝒂𝒓𝒊𝒂𝒃𝒊𝒍𝒊𝒅𝒂</m:t>
                            </m:r>
                            <m:sSub>
                              <m:sSubPr>
                                <m:ctrlPr>
                                  <a:rPr lang="es-ES" sz="2000" b="1" i="1" dirty="0" smtClean="0">
                                    <a:solidFill>
                                      <a:schemeClr val="tx1">
                                        <a:lumMod val="85000"/>
                                        <a:lumOff val="15000"/>
                                      </a:schemeClr>
                                    </a:solidFill>
                                    <a:latin typeface="Cambria Math" panose="02040503050406030204" pitchFamily="18" charset="0"/>
                                  </a:rPr>
                                </m:ctrlPr>
                              </m:sSubPr>
                              <m:e>
                                <m:r>
                                  <a:rPr lang="es-ES" sz="2000" b="1" i="1" dirty="0" smtClean="0">
                                    <a:solidFill>
                                      <a:schemeClr val="tx1">
                                        <a:lumMod val="85000"/>
                                        <a:lumOff val="15000"/>
                                      </a:schemeClr>
                                    </a:solidFill>
                                    <a:latin typeface="Cambria Math" panose="02040503050406030204" pitchFamily="18" charset="0"/>
                                  </a:rPr>
                                  <m:t>𝒅</m:t>
                                </m:r>
                              </m:e>
                              <m:sub>
                                <m:r>
                                  <a:rPr lang="es-ES" sz="2000" b="1" i="1" dirty="0" smtClean="0">
                                    <a:solidFill>
                                      <a:schemeClr val="tx1">
                                        <a:lumMod val="85000"/>
                                        <a:lumOff val="15000"/>
                                      </a:schemeClr>
                                    </a:solidFill>
                                    <a:latin typeface="Cambria Math" panose="02040503050406030204" pitchFamily="18" charset="0"/>
                                  </a:rPr>
                                  <m:t>𝒄</m:t>
                                </m:r>
                                <m:r>
                                  <a:rPr lang="es-ES" sz="2000" b="1" i="1" dirty="0" smtClean="0">
                                    <a:solidFill>
                                      <a:schemeClr val="tx1">
                                        <a:lumMod val="85000"/>
                                        <a:lumOff val="15000"/>
                                      </a:schemeClr>
                                    </a:solidFill>
                                    <a:latin typeface="Cambria Math" panose="02040503050406030204" pitchFamily="18" charset="0"/>
                                  </a:rPr>
                                  <m:t>,</m:t>
                                </m:r>
                                <m:r>
                                  <a:rPr lang="es-ES" sz="2000" b="1" i="1" dirty="0" smtClean="0">
                                    <a:solidFill>
                                      <a:schemeClr val="tx1">
                                        <a:lumMod val="85000"/>
                                        <a:lumOff val="15000"/>
                                      </a:schemeClr>
                                    </a:solidFill>
                                    <a:latin typeface="Cambria Math" panose="02040503050406030204" pitchFamily="18" charset="0"/>
                                  </a:rPr>
                                  <m:t>𝒈</m:t>
                                </m:r>
                              </m:sub>
                            </m:sSub>
                            <m:r>
                              <a:rPr lang="es-ES" sz="2000" b="1" i="1" dirty="0" smtClean="0">
                                <a:solidFill>
                                  <a:schemeClr val="tx1">
                                    <a:lumMod val="85000"/>
                                    <a:lumOff val="15000"/>
                                  </a:schemeClr>
                                </a:solidFill>
                                <a:latin typeface="Cambria Math" panose="02040503050406030204" pitchFamily="18" charset="0"/>
                              </a:rPr>
                              <m:t>&lt;</m:t>
                            </m:r>
                            <m:r>
                              <a:rPr lang="es-ES" sz="2000" b="1" i="1" dirty="0" smtClean="0">
                                <a:solidFill>
                                  <a:schemeClr val="tx1">
                                    <a:lumMod val="85000"/>
                                    <a:lumOff val="15000"/>
                                  </a:schemeClr>
                                </a:solidFill>
                                <a:latin typeface="Cambria Math" panose="02040503050406030204" pitchFamily="18" charset="0"/>
                              </a:rPr>
                              <m:t>𝑴𝒆𝒅𝒊𝒂</m:t>
                            </m:r>
                            <m:r>
                              <a:rPr lang="es-ES" sz="2000" b="1" i="1" dirty="0" smtClean="0">
                                <a:solidFill>
                                  <a:schemeClr val="tx1">
                                    <a:lumMod val="85000"/>
                                    <a:lumOff val="15000"/>
                                  </a:schemeClr>
                                </a:solidFill>
                                <a:latin typeface="Cambria Math" panose="02040503050406030204" pitchFamily="18" charset="0"/>
                              </a:rPr>
                              <m:t>_</m:t>
                            </m:r>
                            <m:r>
                              <a:rPr lang="es-ES" sz="2000" b="1" i="1" dirty="0" smtClean="0">
                                <a:solidFill>
                                  <a:schemeClr val="tx1">
                                    <a:lumMod val="85000"/>
                                    <a:lumOff val="15000"/>
                                  </a:schemeClr>
                                </a:solidFill>
                                <a:latin typeface="Cambria Math" panose="02040503050406030204" pitchFamily="18" charset="0"/>
                              </a:rPr>
                              <m:t>𝑽𝒂𝒓𝒊𝒂𝒃𝒊𝒍𝒊𝒅𝒂</m:t>
                            </m:r>
                            <m:sSub>
                              <m:sSubPr>
                                <m:ctrlPr>
                                  <a:rPr lang="es-ES" sz="2000" b="1" i="1" dirty="0" smtClean="0">
                                    <a:solidFill>
                                      <a:schemeClr val="tx1">
                                        <a:lumMod val="85000"/>
                                        <a:lumOff val="15000"/>
                                      </a:schemeClr>
                                    </a:solidFill>
                                    <a:latin typeface="Cambria Math" panose="02040503050406030204" pitchFamily="18" charset="0"/>
                                  </a:rPr>
                                </m:ctrlPr>
                              </m:sSubPr>
                              <m:e>
                                <m:r>
                                  <a:rPr lang="es-ES" sz="2000" b="1" i="1" dirty="0" smtClean="0">
                                    <a:solidFill>
                                      <a:schemeClr val="tx1">
                                        <a:lumMod val="85000"/>
                                        <a:lumOff val="15000"/>
                                      </a:schemeClr>
                                    </a:solidFill>
                                    <a:latin typeface="Cambria Math" panose="02040503050406030204" pitchFamily="18" charset="0"/>
                                  </a:rPr>
                                  <m:t>𝒅</m:t>
                                </m:r>
                              </m:e>
                              <m:sub>
                                <m:r>
                                  <a:rPr lang="es-ES" sz="2000" b="1" i="1" dirty="0" smtClean="0">
                                    <a:solidFill>
                                      <a:schemeClr val="tx1">
                                        <a:lumMod val="85000"/>
                                        <a:lumOff val="15000"/>
                                      </a:schemeClr>
                                    </a:solidFill>
                                    <a:latin typeface="Cambria Math" panose="02040503050406030204" pitchFamily="18" charset="0"/>
                                  </a:rPr>
                                  <m:t>𝒈</m:t>
                                </m:r>
                              </m:sub>
                            </m:sSub>
                          </m:e>
                          <m:e>
                            <m:r>
                              <a:rPr lang="es-ES" sz="2000" b="1" i="1" dirty="0">
                                <a:solidFill>
                                  <a:schemeClr val="tx1">
                                    <a:lumMod val="85000"/>
                                    <a:lumOff val="15000"/>
                                  </a:schemeClr>
                                </a:solidFill>
                                <a:latin typeface="Cambria Math" panose="02040503050406030204" pitchFamily="18" charset="0"/>
                              </a:rPr>
                              <m:t>𝟎</m:t>
                            </m:r>
                            <m:r>
                              <a:rPr lang="es-ES" sz="2000" b="1" i="1" dirty="0">
                                <a:solidFill>
                                  <a:schemeClr val="tx1">
                                    <a:lumMod val="85000"/>
                                    <a:lumOff val="15000"/>
                                  </a:schemeClr>
                                </a:solidFill>
                                <a:latin typeface="Cambria Math" panose="02040503050406030204" pitchFamily="18" charset="0"/>
                              </a:rPr>
                              <m:t>, </m:t>
                            </m:r>
                            <m:r>
                              <a:rPr lang="es-ES" sz="2000" b="1" i="1" dirty="0">
                                <a:solidFill>
                                  <a:schemeClr val="tx1">
                                    <a:lumMod val="85000"/>
                                    <a:lumOff val="15000"/>
                                  </a:schemeClr>
                                </a:solidFill>
                                <a:latin typeface="Cambria Math" panose="02040503050406030204" pitchFamily="18" charset="0"/>
                              </a:rPr>
                              <m:t>𝒐𝒕𝒓𝒐</m:t>
                            </m:r>
                            <m:r>
                              <a:rPr lang="es-ES" sz="2000" b="1" i="1" dirty="0">
                                <a:solidFill>
                                  <a:schemeClr val="tx1">
                                    <a:lumMod val="85000"/>
                                    <a:lumOff val="15000"/>
                                  </a:schemeClr>
                                </a:solidFill>
                                <a:latin typeface="Cambria Math" panose="02040503050406030204" pitchFamily="18" charset="0"/>
                              </a:rPr>
                              <m:t> </m:t>
                            </m:r>
                            <m:r>
                              <a:rPr lang="es-ES" sz="2000" b="1" i="1" dirty="0">
                                <a:solidFill>
                                  <a:schemeClr val="tx1">
                                    <a:lumMod val="85000"/>
                                    <a:lumOff val="15000"/>
                                  </a:schemeClr>
                                </a:solidFill>
                                <a:latin typeface="Cambria Math" panose="02040503050406030204" pitchFamily="18" charset="0"/>
                              </a:rPr>
                              <m:t>𝒄𝒂𝒔𝒐</m:t>
                            </m:r>
                          </m:e>
                        </m:eqArr>
                      </m:e>
                    </m:d>
                  </m:oMath>
                </a14:m>
                <a:r>
                  <a:rPr lang="es-MX" sz="2000" b="1" dirty="0">
                    <a:solidFill>
                      <a:schemeClr val="tx1">
                        <a:lumMod val="85000"/>
                        <a:lumOff val="15000"/>
                      </a:schemeClr>
                    </a:solidFill>
                  </a:rPr>
                  <a:t>  y</a:t>
                </a:r>
              </a:p>
              <a:p>
                <a:pPr marL="0" indent="0">
                  <a:buNone/>
                </a:pPr>
                <a:r>
                  <a:rPr lang="es-MX" sz="1200" b="1" dirty="0">
                    <a:solidFill>
                      <a:schemeClr val="bg1"/>
                    </a:solidFill>
                  </a:rPr>
                  <a:t>j</a:t>
                </a:r>
                <a:endParaRPr lang="es-MX" sz="1100" b="1" dirty="0">
                  <a:solidFill>
                    <a:schemeClr val="bg1"/>
                  </a:solidFill>
                </a:endParaRPr>
              </a:p>
              <a:p>
                <a:pPr marL="0" indent="0">
                  <a:buNone/>
                </a:pPr>
                <a14:m>
                  <m:oMathPara xmlns:m="http://schemas.openxmlformats.org/officeDocument/2006/math">
                    <m:oMathParaPr>
                      <m:jc m:val="left"/>
                    </m:oMathParaPr>
                    <m:oMath xmlns:m="http://schemas.openxmlformats.org/officeDocument/2006/math">
                      <m:r>
                        <a:rPr lang="es-ES" sz="2000" b="1" i="1" smtClean="0">
                          <a:solidFill>
                            <a:schemeClr val="tx1">
                              <a:lumMod val="85000"/>
                              <a:lumOff val="15000"/>
                            </a:schemeClr>
                          </a:solidFill>
                          <a:latin typeface="Cambria Math" panose="02040503050406030204" pitchFamily="18" charset="0"/>
                        </a:rPr>
                        <m:t>𝑪𝒐𝒎𝒑𝒆𝒕𝒊𝒕𝒊𝒗</m:t>
                      </m:r>
                      <m:sSub>
                        <m:sSubPr>
                          <m:ctrlPr>
                            <a:rPr lang="es-ES" sz="2000" b="1" i="1" smtClean="0">
                              <a:solidFill>
                                <a:schemeClr val="tx1">
                                  <a:lumMod val="85000"/>
                                  <a:lumOff val="15000"/>
                                </a:schemeClr>
                              </a:solidFill>
                              <a:latin typeface="Cambria Math" panose="02040503050406030204" pitchFamily="18" charset="0"/>
                            </a:rPr>
                          </m:ctrlPr>
                        </m:sSubPr>
                        <m:e>
                          <m:r>
                            <a:rPr lang="es-ES" sz="2000" b="1" i="1" smtClean="0">
                              <a:solidFill>
                                <a:schemeClr val="tx1">
                                  <a:lumMod val="85000"/>
                                  <a:lumOff val="15000"/>
                                </a:schemeClr>
                              </a:solidFill>
                              <a:latin typeface="Cambria Math" panose="02040503050406030204" pitchFamily="18" charset="0"/>
                            </a:rPr>
                            <m:t>𝒐</m:t>
                          </m:r>
                        </m:e>
                        <m:sub>
                          <m:r>
                            <a:rPr lang="es-ES" sz="2000" b="1" i="1" smtClean="0">
                              <a:solidFill>
                                <a:schemeClr val="tx1">
                                  <a:lumMod val="85000"/>
                                  <a:lumOff val="15000"/>
                                </a:schemeClr>
                              </a:solidFill>
                              <a:latin typeface="Cambria Math" panose="02040503050406030204" pitchFamily="18" charset="0"/>
                            </a:rPr>
                            <m:t>𝒄</m:t>
                          </m:r>
                          <m:r>
                            <a:rPr lang="es-ES" sz="2000" b="1" i="1" smtClean="0">
                              <a:solidFill>
                                <a:schemeClr val="tx1">
                                  <a:lumMod val="85000"/>
                                  <a:lumOff val="15000"/>
                                </a:schemeClr>
                              </a:solidFill>
                              <a:latin typeface="Cambria Math" panose="02040503050406030204" pitchFamily="18" charset="0"/>
                            </a:rPr>
                            <m:t>,</m:t>
                          </m:r>
                          <m:r>
                            <a:rPr lang="es-ES" sz="2000" b="1" i="1" smtClean="0">
                              <a:solidFill>
                                <a:schemeClr val="tx1">
                                  <a:lumMod val="85000"/>
                                  <a:lumOff val="15000"/>
                                </a:schemeClr>
                              </a:solidFill>
                              <a:latin typeface="Cambria Math" panose="02040503050406030204" pitchFamily="18" charset="0"/>
                            </a:rPr>
                            <m:t>𝒈</m:t>
                          </m:r>
                        </m:sub>
                      </m:sSub>
                      <m:r>
                        <a:rPr lang="es-ES" sz="2000" b="1" i="1" smtClean="0">
                          <a:solidFill>
                            <a:schemeClr val="tx1">
                              <a:lumMod val="85000"/>
                              <a:lumOff val="15000"/>
                            </a:schemeClr>
                          </a:solidFill>
                          <a:latin typeface="Cambria Math" panose="02040503050406030204" pitchFamily="18" charset="0"/>
                        </a:rPr>
                        <m:t>=</m:t>
                      </m:r>
                      <m:r>
                        <a:rPr lang="es-ES" sz="2000" b="1" i="1" smtClean="0">
                          <a:solidFill>
                            <a:schemeClr val="tx1">
                              <a:lumMod val="85000"/>
                              <a:lumOff val="15000"/>
                            </a:schemeClr>
                          </a:solidFill>
                          <a:latin typeface="Cambria Math" panose="02040503050406030204" pitchFamily="18" charset="0"/>
                        </a:rPr>
                        <m:t>𝑬𝒔𝒕𝒂𝒃𝒊𝒍𝒊𝒅𝒂𝒅</m:t>
                      </m:r>
                      <m:r>
                        <a:rPr lang="es-ES" sz="2000" b="1" i="1" smtClean="0">
                          <a:solidFill>
                            <a:schemeClr val="tx1">
                              <a:lumMod val="85000"/>
                              <a:lumOff val="15000"/>
                            </a:schemeClr>
                          </a:solidFill>
                          <a:latin typeface="Cambria Math" panose="02040503050406030204" pitchFamily="18" charset="0"/>
                        </a:rPr>
                        <m:t>_</m:t>
                      </m:r>
                      <m:r>
                        <a:rPr lang="es-ES" sz="2000" b="1" i="1" smtClean="0">
                          <a:solidFill>
                            <a:schemeClr val="tx1">
                              <a:lumMod val="85000"/>
                              <a:lumOff val="15000"/>
                            </a:schemeClr>
                          </a:solidFill>
                          <a:latin typeface="Cambria Math" panose="02040503050406030204" pitchFamily="18" charset="0"/>
                        </a:rPr>
                        <m:t>𝑪𝒐𝒎𝒑𝒆𝒕𝒊𝒕𝒊𝒗</m:t>
                      </m:r>
                      <m:sSub>
                        <m:sSubPr>
                          <m:ctrlPr>
                            <a:rPr lang="es-ES" sz="2000" b="1" i="1" smtClean="0">
                              <a:solidFill>
                                <a:schemeClr val="tx1">
                                  <a:lumMod val="85000"/>
                                  <a:lumOff val="15000"/>
                                </a:schemeClr>
                              </a:solidFill>
                              <a:latin typeface="Cambria Math" panose="02040503050406030204" pitchFamily="18" charset="0"/>
                            </a:rPr>
                          </m:ctrlPr>
                        </m:sSubPr>
                        <m:e>
                          <m:r>
                            <a:rPr lang="es-ES" sz="2000" b="1" i="1" smtClean="0">
                              <a:solidFill>
                                <a:schemeClr val="tx1">
                                  <a:lumMod val="85000"/>
                                  <a:lumOff val="15000"/>
                                </a:schemeClr>
                              </a:solidFill>
                              <a:latin typeface="Cambria Math" panose="02040503050406030204" pitchFamily="18" charset="0"/>
                            </a:rPr>
                            <m:t>𝒂</m:t>
                          </m:r>
                        </m:e>
                        <m:sub>
                          <m:r>
                            <a:rPr lang="es-ES" sz="2000" b="1" i="1" smtClean="0">
                              <a:solidFill>
                                <a:schemeClr val="tx1">
                                  <a:lumMod val="85000"/>
                                  <a:lumOff val="15000"/>
                                </a:schemeClr>
                              </a:solidFill>
                              <a:latin typeface="Cambria Math" panose="02040503050406030204" pitchFamily="18" charset="0"/>
                            </a:rPr>
                            <m:t>𝒄</m:t>
                          </m:r>
                          <m:r>
                            <a:rPr lang="es-ES" sz="2000" b="1" i="1" smtClean="0">
                              <a:solidFill>
                                <a:schemeClr val="tx1">
                                  <a:lumMod val="85000"/>
                                  <a:lumOff val="15000"/>
                                </a:schemeClr>
                              </a:solidFill>
                              <a:latin typeface="Cambria Math" panose="02040503050406030204" pitchFamily="18" charset="0"/>
                            </a:rPr>
                            <m:t>,</m:t>
                          </m:r>
                          <m:r>
                            <a:rPr lang="es-ES" sz="2000" b="1" i="1" smtClean="0">
                              <a:solidFill>
                                <a:schemeClr val="tx1">
                                  <a:lumMod val="85000"/>
                                  <a:lumOff val="15000"/>
                                </a:schemeClr>
                              </a:solidFill>
                              <a:latin typeface="Cambria Math" panose="02040503050406030204" pitchFamily="18" charset="0"/>
                            </a:rPr>
                            <m:t>𝒈</m:t>
                          </m:r>
                        </m:sub>
                      </m:sSub>
                      <m: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t>×</m:t>
                      </m:r>
                      <m: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t>𝑽𝒂𝒓𝒊𝒂𝒃𝒊𝒍𝒊𝒅𝒂𝒅</m:t>
                      </m:r>
                      <m: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t>_</m:t>
                      </m:r>
                      <m: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t>𝑪𝒐𝒎𝒑𝒆𝒕𝒊𝒕𝒊𝒗</m:t>
                      </m:r>
                      <m:sSub>
                        <m:sSubPr>
                          <m:ctrlP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ctrlPr>
                        </m:sSubPr>
                        <m:e>
                          <m: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t>𝒂</m:t>
                          </m:r>
                        </m:e>
                        <m:sub>
                          <m: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t>𝒄</m:t>
                          </m:r>
                          <m: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t>,</m:t>
                          </m:r>
                          <m: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t>𝒈</m:t>
                          </m:r>
                        </m:sub>
                      </m:sSub>
                    </m:oMath>
                  </m:oMathPara>
                </a14:m>
                <a:endParaRPr lang="es-MX" sz="2000" b="1" dirty="0">
                  <a:solidFill>
                    <a:schemeClr val="tx1">
                      <a:lumMod val="85000"/>
                      <a:lumOff val="15000"/>
                    </a:schemeClr>
                  </a:solidFill>
                </a:endParaRPr>
              </a:p>
            </p:txBody>
          </p:sp>
        </mc:Choice>
        <mc:Fallback>
          <p:sp>
            <p:nvSpPr>
              <p:cNvPr id="7" name="Content Placeholder 2">
                <a:extLst>
                  <a:ext uri="{FF2B5EF4-FFF2-40B4-BE49-F238E27FC236}">
                    <a16:creationId xmlns:a16="http://schemas.microsoft.com/office/drawing/2014/main" id="{0649287A-C27A-4814-951C-4DBBC869EA2B}"/>
                  </a:ext>
                </a:extLst>
              </p:cNvPr>
              <p:cNvSpPr txBox="1">
                <a:spLocks noRot="1" noChangeAspect="1" noMove="1" noResize="1" noEditPoints="1" noAdjustHandles="1" noChangeArrowheads="1" noChangeShapeType="1" noTextEdit="1"/>
              </p:cNvSpPr>
              <p:nvPr/>
            </p:nvSpPr>
            <p:spPr>
              <a:xfrm>
                <a:off x="1075764" y="3136253"/>
                <a:ext cx="11722573" cy="2995605"/>
              </a:xfrm>
              <a:prstGeom prst="rect">
                <a:avLst/>
              </a:prstGeom>
              <a:blipFill>
                <a:blip r:embed="rId3"/>
                <a:stretch>
                  <a:fillRect l="-208"/>
                </a:stretch>
              </a:blipFill>
            </p:spPr>
            <p:txBody>
              <a:bodyPr/>
              <a:lstStyle/>
              <a:p>
                <a:r>
                  <a:rPr lang="es-MX">
                    <a:noFill/>
                  </a:rPr>
                  <a:t> </a:t>
                </a:r>
              </a:p>
            </p:txBody>
          </p:sp>
        </mc:Fallback>
      </mc:AlternateContent>
      <p:sp>
        <p:nvSpPr>
          <p:cNvPr id="10" name="Rectangle 9">
            <a:extLst>
              <a:ext uri="{FF2B5EF4-FFF2-40B4-BE49-F238E27FC236}">
                <a16:creationId xmlns:a16="http://schemas.microsoft.com/office/drawing/2014/main" id="{4A6A0329-01AC-421F-BD13-B9FA1BDCEE9E}"/>
              </a:ext>
            </a:extLst>
          </p:cNvPr>
          <p:cNvSpPr/>
          <p:nvPr/>
        </p:nvSpPr>
        <p:spPr>
          <a:xfrm>
            <a:off x="0" y="0"/>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1" name="Title 1">
            <a:extLst>
              <a:ext uri="{FF2B5EF4-FFF2-40B4-BE49-F238E27FC236}">
                <a16:creationId xmlns:a16="http://schemas.microsoft.com/office/drawing/2014/main" id="{6FB051C5-5B54-465D-9973-F9B3FFE8BD8B}"/>
              </a:ext>
            </a:extLst>
          </p:cNvPr>
          <p:cNvSpPr txBox="1">
            <a:spLocks/>
          </p:cNvSpPr>
          <p:nvPr/>
        </p:nvSpPr>
        <p:spPr>
          <a:xfrm>
            <a:off x="602876" y="-133709"/>
            <a:ext cx="10986247" cy="145075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b="1" dirty="0">
                <a:solidFill>
                  <a:schemeClr val="bg1"/>
                </a:solidFill>
                <a:latin typeface="Montserrat"/>
              </a:rPr>
              <a:t>Opción 1. Desarrollo</a:t>
            </a:r>
          </a:p>
        </p:txBody>
      </p:sp>
    </p:spTree>
    <p:extLst>
      <p:ext uri="{BB962C8B-B14F-4D97-AF65-F5344CB8AC3E}">
        <p14:creationId xmlns:p14="http://schemas.microsoft.com/office/powerpoint/2010/main" val="1207223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A6A0329-01AC-421F-BD13-B9FA1BDCEE9E}"/>
              </a:ext>
            </a:extLst>
          </p:cNvPr>
          <p:cNvSpPr/>
          <p:nvPr/>
        </p:nvSpPr>
        <p:spPr>
          <a:xfrm>
            <a:off x="0" y="0"/>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1" name="Title 1">
            <a:extLst>
              <a:ext uri="{FF2B5EF4-FFF2-40B4-BE49-F238E27FC236}">
                <a16:creationId xmlns:a16="http://schemas.microsoft.com/office/drawing/2014/main" id="{6FB051C5-5B54-465D-9973-F9B3FFE8BD8B}"/>
              </a:ext>
            </a:extLst>
          </p:cNvPr>
          <p:cNvSpPr txBox="1">
            <a:spLocks/>
          </p:cNvSpPr>
          <p:nvPr/>
        </p:nvSpPr>
        <p:spPr>
          <a:xfrm>
            <a:off x="602876" y="-133709"/>
            <a:ext cx="10986247" cy="145075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b="1" dirty="0">
                <a:solidFill>
                  <a:schemeClr val="bg1"/>
                </a:solidFill>
                <a:latin typeface="Montserrat"/>
              </a:rPr>
              <a:t>Opción 1. Desarrollo</a:t>
            </a:r>
          </a:p>
        </p:txBody>
      </p:sp>
      <mc:AlternateContent xmlns:mc="http://schemas.openxmlformats.org/markup-compatibility/2006" xmlns:a14="http://schemas.microsoft.com/office/drawing/2010/main">
        <mc:Choice Requires="a14">
          <p:sp>
            <p:nvSpPr>
              <p:cNvPr id="13" name="Content Placeholder 2">
                <a:extLst>
                  <a:ext uri="{FF2B5EF4-FFF2-40B4-BE49-F238E27FC236}">
                    <a16:creationId xmlns:a16="http://schemas.microsoft.com/office/drawing/2014/main" id="{1CCDF5FD-E588-4E1B-A4AE-9E378FC21E8D}"/>
                  </a:ext>
                </a:extLst>
              </p:cNvPr>
              <p:cNvSpPr txBox="1">
                <a:spLocks/>
              </p:cNvSpPr>
              <p:nvPr/>
            </p:nvSpPr>
            <p:spPr>
              <a:xfrm>
                <a:off x="589101" y="1337769"/>
                <a:ext cx="12087887" cy="2839281"/>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14:m>
                  <m:oMath xmlns:m="http://schemas.openxmlformats.org/officeDocument/2006/math">
                    <m:r>
                      <a:rPr lang="es-ES" b="1" i="1" dirty="0">
                        <a:solidFill>
                          <a:schemeClr val="tx1">
                            <a:lumMod val="85000"/>
                            <a:lumOff val="15000"/>
                          </a:schemeClr>
                        </a:solidFill>
                        <a:latin typeface="Cambria Math" panose="02040503050406030204" pitchFamily="18" charset="0"/>
                      </a:rPr>
                      <m:t>𝑬𝒔𝒕𝒂𝒃𝒊𝒍𝒊𝒅𝒂</m:t>
                    </m:r>
                    <m:sSub>
                      <m:sSubPr>
                        <m:ctrlPr>
                          <a:rPr lang="es-ES" b="1" i="1" dirty="0">
                            <a:solidFill>
                              <a:schemeClr val="tx1">
                                <a:lumMod val="85000"/>
                                <a:lumOff val="15000"/>
                              </a:schemeClr>
                            </a:solidFill>
                            <a:latin typeface="Cambria Math" panose="02040503050406030204" pitchFamily="18" charset="0"/>
                          </a:rPr>
                        </m:ctrlPr>
                      </m:sSubPr>
                      <m:e>
                        <m:r>
                          <a:rPr lang="es-ES" b="1" i="1" dirty="0">
                            <a:solidFill>
                              <a:schemeClr val="tx1">
                                <a:lumMod val="85000"/>
                                <a:lumOff val="15000"/>
                              </a:schemeClr>
                            </a:solidFill>
                            <a:latin typeface="Cambria Math" panose="02040503050406030204" pitchFamily="18" charset="0"/>
                          </a:rPr>
                          <m:t>𝒅</m:t>
                        </m:r>
                      </m:e>
                      <m:sub>
                        <m:r>
                          <a:rPr lang="es-ES" b="1" i="1" dirty="0">
                            <a:solidFill>
                              <a:schemeClr val="tx1">
                                <a:lumMod val="85000"/>
                                <a:lumOff val="15000"/>
                              </a:schemeClr>
                            </a:solidFill>
                            <a:latin typeface="Cambria Math" panose="02040503050406030204" pitchFamily="18" charset="0"/>
                          </a:rPr>
                          <m:t>𝒄</m:t>
                        </m:r>
                        <m:r>
                          <a:rPr lang="es-ES" b="1" i="1" dirty="0">
                            <a:solidFill>
                              <a:schemeClr val="tx1">
                                <a:lumMod val="85000"/>
                                <a:lumOff val="15000"/>
                              </a:schemeClr>
                            </a:solidFill>
                            <a:latin typeface="Cambria Math" panose="02040503050406030204" pitchFamily="18" charset="0"/>
                          </a:rPr>
                          <m:t>,</m:t>
                        </m:r>
                        <m:r>
                          <a:rPr lang="es-ES" b="1" i="1" dirty="0">
                            <a:solidFill>
                              <a:schemeClr val="tx1">
                                <a:lumMod val="85000"/>
                                <a:lumOff val="15000"/>
                              </a:schemeClr>
                            </a:solidFill>
                            <a:latin typeface="Cambria Math" panose="02040503050406030204" pitchFamily="18" charset="0"/>
                          </a:rPr>
                          <m:t>𝒈</m:t>
                        </m:r>
                      </m:sub>
                    </m:sSub>
                  </m:oMath>
                </a14:m>
                <a:r>
                  <a:rPr lang="es-MX" b="1" dirty="0">
                    <a:solidFill>
                      <a:schemeClr val="tx1">
                        <a:lumMod val="85000"/>
                        <a:lumOff val="15000"/>
                      </a:schemeClr>
                    </a:solidFill>
                  </a:rPr>
                  <a:t> </a:t>
                </a:r>
                <a:r>
                  <a:rPr lang="es-MX" dirty="0">
                    <a:solidFill>
                      <a:schemeClr val="tx1">
                        <a:lumMod val="85000"/>
                        <a:lumOff val="15000"/>
                      </a:schemeClr>
                    </a:solidFill>
                  </a:rPr>
                  <a:t>es la estabilidad de la ciudad </a:t>
                </a:r>
                <a14:m>
                  <m:oMath xmlns:m="http://schemas.openxmlformats.org/officeDocument/2006/math">
                    <m:r>
                      <a:rPr lang="es-MX" b="1" i="1" dirty="0" smtClean="0">
                        <a:solidFill>
                          <a:schemeClr val="tx1">
                            <a:lumMod val="85000"/>
                            <a:lumOff val="15000"/>
                          </a:schemeClr>
                        </a:solidFill>
                        <a:latin typeface="Cambria Math" panose="02040503050406030204" pitchFamily="18" charset="0"/>
                      </a:rPr>
                      <m:t>𝒄</m:t>
                    </m:r>
                  </m:oMath>
                </a14:m>
                <a:r>
                  <a:rPr lang="es-MX" b="1" dirty="0">
                    <a:solidFill>
                      <a:schemeClr val="tx1">
                        <a:lumMod val="85000"/>
                        <a:lumOff val="15000"/>
                      </a:schemeClr>
                    </a:solidFill>
                  </a:rPr>
                  <a:t> </a:t>
                </a:r>
                <a:r>
                  <a:rPr lang="es-MX" dirty="0">
                    <a:solidFill>
                      <a:schemeClr val="tx1">
                        <a:lumMod val="85000"/>
                        <a:lumOff val="15000"/>
                      </a:schemeClr>
                    </a:solidFill>
                  </a:rPr>
                  <a:t>del genérico </a:t>
                </a:r>
                <a14:m>
                  <m:oMath xmlns:m="http://schemas.openxmlformats.org/officeDocument/2006/math">
                    <m:r>
                      <a:rPr lang="es-MX" b="1" i="1" dirty="0" smtClean="0">
                        <a:solidFill>
                          <a:schemeClr val="tx1">
                            <a:lumMod val="85000"/>
                            <a:lumOff val="15000"/>
                          </a:schemeClr>
                        </a:solidFill>
                        <a:latin typeface="Cambria Math" panose="02040503050406030204" pitchFamily="18" charset="0"/>
                      </a:rPr>
                      <m:t>𝒈</m:t>
                    </m:r>
                  </m:oMath>
                </a14:m>
                <a:r>
                  <a:rPr lang="es-MX" b="1" dirty="0">
                    <a:solidFill>
                      <a:schemeClr val="tx1">
                        <a:lumMod val="85000"/>
                        <a:lumOff val="15000"/>
                      </a:schemeClr>
                    </a:solidFill>
                  </a:rPr>
                  <a:t>.</a:t>
                </a:r>
              </a:p>
              <a:p>
                <a:pPr marL="0" indent="0">
                  <a:buNone/>
                </a:pPr>
                <a14:m>
                  <m:oMath xmlns:m="http://schemas.openxmlformats.org/officeDocument/2006/math">
                    <m:r>
                      <a:rPr lang="es-ES" b="1" i="1" dirty="0">
                        <a:solidFill>
                          <a:schemeClr val="tx1">
                            <a:lumMod val="85000"/>
                            <a:lumOff val="15000"/>
                          </a:schemeClr>
                        </a:solidFill>
                        <a:latin typeface="Cambria Math" panose="02040503050406030204" pitchFamily="18" charset="0"/>
                      </a:rPr>
                      <m:t>𝑴𝒆𝒅𝒊𝒂</m:t>
                    </m:r>
                    <m:r>
                      <a:rPr lang="es-ES" b="1" i="1" dirty="0">
                        <a:solidFill>
                          <a:schemeClr val="tx1">
                            <a:lumMod val="85000"/>
                            <a:lumOff val="15000"/>
                          </a:schemeClr>
                        </a:solidFill>
                        <a:latin typeface="Cambria Math" panose="02040503050406030204" pitchFamily="18" charset="0"/>
                      </a:rPr>
                      <m:t>_</m:t>
                    </m:r>
                    <m:r>
                      <a:rPr lang="es-ES" b="1" i="1" dirty="0">
                        <a:solidFill>
                          <a:schemeClr val="tx1">
                            <a:lumMod val="85000"/>
                            <a:lumOff val="15000"/>
                          </a:schemeClr>
                        </a:solidFill>
                        <a:latin typeface="Cambria Math" panose="02040503050406030204" pitchFamily="18" charset="0"/>
                      </a:rPr>
                      <m:t>𝑬𝒔𝒕𝒂𝒃𝒊𝒍𝒊𝒅𝒂</m:t>
                    </m:r>
                    <m:sSub>
                      <m:sSubPr>
                        <m:ctrlPr>
                          <a:rPr lang="es-ES" b="1" i="1" dirty="0">
                            <a:solidFill>
                              <a:schemeClr val="tx1">
                                <a:lumMod val="85000"/>
                                <a:lumOff val="15000"/>
                              </a:schemeClr>
                            </a:solidFill>
                            <a:latin typeface="Cambria Math" panose="02040503050406030204" pitchFamily="18" charset="0"/>
                          </a:rPr>
                        </m:ctrlPr>
                      </m:sSubPr>
                      <m:e>
                        <m:r>
                          <a:rPr lang="es-ES" b="1" i="1" dirty="0">
                            <a:solidFill>
                              <a:schemeClr val="tx1">
                                <a:lumMod val="85000"/>
                                <a:lumOff val="15000"/>
                              </a:schemeClr>
                            </a:solidFill>
                            <a:latin typeface="Cambria Math" panose="02040503050406030204" pitchFamily="18" charset="0"/>
                          </a:rPr>
                          <m:t>𝒅</m:t>
                        </m:r>
                      </m:e>
                      <m:sub>
                        <m:r>
                          <a:rPr lang="es-ES" b="1" i="1" dirty="0">
                            <a:solidFill>
                              <a:schemeClr val="tx1">
                                <a:lumMod val="85000"/>
                                <a:lumOff val="15000"/>
                              </a:schemeClr>
                            </a:solidFill>
                            <a:latin typeface="Cambria Math" panose="02040503050406030204" pitchFamily="18" charset="0"/>
                          </a:rPr>
                          <m:t>𝒈</m:t>
                        </m:r>
                      </m:sub>
                    </m:sSub>
                  </m:oMath>
                </a14:m>
                <a:r>
                  <a:rPr lang="es-MX" b="1" dirty="0">
                    <a:solidFill>
                      <a:schemeClr val="tx1">
                        <a:lumMod val="85000"/>
                        <a:lumOff val="15000"/>
                      </a:schemeClr>
                    </a:solidFill>
                  </a:rPr>
                  <a:t> </a:t>
                </a:r>
                <a:r>
                  <a:rPr lang="es-MX" dirty="0">
                    <a:solidFill>
                      <a:schemeClr val="tx1">
                        <a:lumMod val="85000"/>
                        <a:lumOff val="15000"/>
                      </a:schemeClr>
                    </a:solidFill>
                  </a:rPr>
                  <a:t>es la media de las estabilidades de todas las ciudades para el genérico</a:t>
                </a:r>
                <a:r>
                  <a:rPr lang="es-MX" b="1" dirty="0">
                    <a:solidFill>
                      <a:schemeClr val="tx1">
                        <a:lumMod val="85000"/>
                        <a:lumOff val="15000"/>
                      </a:schemeClr>
                    </a:solidFill>
                  </a:rPr>
                  <a:t> </a:t>
                </a:r>
                <a14:m>
                  <m:oMath xmlns:m="http://schemas.openxmlformats.org/officeDocument/2006/math">
                    <m:r>
                      <a:rPr lang="es-MX" b="1" i="1" dirty="0" smtClean="0">
                        <a:solidFill>
                          <a:schemeClr val="tx1">
                            <a:lumMod val="85000"/>
                            <a:lumOff val="15000"/>
                          </a:schemeClr>
                        </a:solidFill>
                        <a:latin typeface="Cambria Math" panose="02040503050406030204" pitchFamily="18" charset="0"/>
                      </a:rPr>
                      <m:t>𝒈</m:t>
                    </m:r>
                  </m:oMath>
                </a14:m>
                <a:r>
                  <a:rPr lang="es-MX" b="1" dirty="0">
                    <a:solidFill>
                      <a:schemeClr val="tx1">
                        <a:lumMod val="85000"/>
                        <a:lumOff val="15000"/>
                      </a:schemeClr>
                    </a:solidFill>
                  </a:rPr>
                  <a:t>.</a:t>
                </a:r>
              </a:p>
              <a:p>
                <a:pPr marL="0" indent="0">
                  <a:buNone/>
                </a:pPr>
                <a14:m>
                  <m:oMath xmlns:m="http://schemas.openxmlformats.org/officeDocument/2006/math">
                    <m:r>
                      <a:rPr lang="es-ES" b="1" i="1" dirty="0">
                        <a:solidFill>
                          <a:schemeClr val="tx1">
                            <a:lumMod val="85000"/>
                            <a:lumOff val="15000"/>
                          </a:schemeClr>
                        </a:solidFill>
                        <a:latin typeface="Cambria Math" panose="02040503050406030204" pitchFamily="18" charset="0"/>
                      </a:rPr>
                      <m:t>𝑽𝒂𝒓𝒊𝒂𝒃𝒊𝒍𝒊𝒅𝒂</m:t>
                    </m:r>
                    <m:sSub>
                      <m:sSubPr>
                        <m:ctrlPr>
                          <a:rPr lang="es-ES" b="1" i="1" dirty="0">
                            <a:solidFill>
                              <a:schemeClr val="tx1">
                                <a:lumMod val="85000"/>
                                <a:lumOff val="15000"/>
                              </a:schemeClr>
                            </a:solidFill>
                            <a:latin typeface="Cambria Math" panose="02040503050406030204" pitchFamily="18" charset="0"/>
                          </a:rPr>
                        </m:ctrlPr>
                      </m:sSubPr>
                      <m:e>
                        <m:r>
                          <a:rPr lang="es-ES" b="1" i="1" dirty="0">
                            <a:solidFill>
                              <a:schemeClr val="tx1">
                                <a:lumMod val="85000"/>
                                <a:lumOff val="15000"/>
                              </a:schemeClr>
                            </a:solidFill>
                            <a:latin typeface="Cambria Math" panose="02040503050406030204" pitchFamily="18" charset="0"/>
                          </a:rPr>
                          <m:t>𝒅</m:t>
                        </m:r>
                      </m:e>
                      <m:sub>
                        <m:r>
                          <a:rPr lang="es-ES" b="1" i="1" dirty="0">
                            <a:solidFill>
                              <a:schemeClr val="tx1">
                                <a:lumMod val="85000"/>
                                <a:lumOff val="15000"/>
                              </a:schemeClr>
                            </a:solidFill>
                            <a:latin typeface="Cambria Math" panose="02040503050406030204" pitchFamily="18" charset="0"/>
                          </a:rPr>
                          <m:t>𝒄</m:t>
                        </m:r>
                        <m:r>
                          <a:rPr lang="es-ES" b="1" i="1" dirty="0">
                            <a:solidFill>
                              <a:schemeClr val="tx1">
                                <a:lumMod val="85000"/>
                                <a:lumOff val="15000"/>
                              </a:schemeClr>
                            </a:solidFill>
                            <a:latin typeface="Cambria Math" panose="02040503050406030204" pitchFamily="18" charset="0"/>
                          </a:rPr>
                          <m:t>,</m:t>
                        </m:r>
                        <m:r>
                          <a:rPr lang="es-ES" b="1" i="1" dirty="0">
                            <a:solidFill>
                              <a:schemeClr val="tx1">
                                <a:lumMod val="85000"/>
                                <a:lumOff val="15000"/>
                              </a:schemeClr>
                            </a:solidFill>
                            <a:latin typeface="Cambria Math" panose="02040503050406030204" pitchFamily="18" charset="0"/>
                          </a:rPr>
                          <m:t>𝒈</m:t>
                        </m:r>
                      </m:sub>
                    </m:sSub>
                  </m:oMath>
                </a14:m>
                <a:r>
                  <a:rPr lang="es-MX" b="1" dirty="0">
                    <a:solidFill>
                      <a:schemeClr val="tx1">
                        <a:lumMod val="85000"/>
                        <a:lumOff val="15000"/>
                      </a:schemeClr>
                    </a:solidFill>
                  </a:rPr>
                  <a:t> </a:t>
                </a:r>
                <a:r>
                  <a:rPr lang="es-MX" dirty="0">
                    <a:solidFill>
                      <a:schemeClr val="tx1">
                        <a:lumMod val="85000"/>
                        <a:lumOff val="15000"/>
                      </a:schemeClr>
                    </a:solidFill>
                  </a:rPr>
                  <a:t>es la variabilidad de la ciudad </a:t>
                </a:r>
                <a14:m>
                  <m:oMath xmlns:m="http://schemas.openxmlformats.org/officeDocument/2006/math">
                    <m:r>
                      <a:rPr lang="es-MX" b="1" i="1" dirty="0">
                        <a:solidFill>
                          <a:schemeClr val="tx1">
                            <a:lumMod val="85000"/>
                            <a:lumOff val="15000"/>
                          </a:schemeClr>
                        </a:solidFill>
                        <a:latin typeface="Cambria Math" panose="02040503050406030204" pitchFamily="18" charset="0"/>
                      </a:rPr>
                      <m:t>𝒄</m:t>
                    </m:r>
                  </m:oMath>
                </a14:m>
                <a:r>
                  <a:rPr lang="es-MX" dirty="0">
                    <a:solidFill>
                      <a:schemeClr val="tx1">
                        <a:lumMod val="85000"/>
                        <a:lumOff val="15000"/>
                      </a:schemeClr>
                    </a:solidFill>
                  </a:rPr>
                  <a:t> del genérico </a:t>
                </a:r>
                <a14:m>
                  <m:oMath xmlns:m="http://schemas.openxmlformats.org/officeDocument/2006/math">
                    <m:r>
                      <a:rPr lang="es-MX" b="1" i="1" dirty="0">
                        <a:solidFill>
                          <a:schemeClr val="tx1">
                            <a:lumMod val="85000"/>
                            <a:lumOff val="15000"/>
                          </a:schemeClr>
                        </a:solidFill>
                        <a:latin typeface="Cambria Math" panose="02040503050406030204" pitchFamily="18" charset="0"/>
                      </a:rPr>
                      <m:t>𝒈</m:t>
                    </m:r>
                  </m:oMath>
                </a14:m>
                <a:r>
                  <a:rPr lang="es-MX" b="1" dirty="0">
                    <a:solidFill>
                      <a:schemeClr val="tx1">
                        <a:lumMod val="85000"/>
                        <a:lumOff val="15000"/>
                      </a:schemeClr>
                    </a:solidFill>
                  </a:rPr>
                  <a:t>.</a:t>
                </a:r>
              </a:p>
              <a:p>
                <a:pPr marL="0" indent="0">
                  <a:buNone/>
                </a:pPr>
                <a14:m>
                  <m:oMath xmlns:m="http://schemas.openxmlformats.org/officeDocument/2006/math">
                    <m:r>
                      <a:rPr lang="es-ES" b="1" i="1" dirty="0">
                        <a:solidFill>
                          <a:schemeClr val="tx1">
                            <a:lumMod val="85000"/>
                            <a:lumOff val="15000"/>
                          </a:schemeClr>
                        </a:solidFill>
                        <a:latin typeface="Cambria Math" panose="02040503050406030204" pitchFamily="18" charset="0"/>
                      </a:rPr>
                      <m:t>𝑴𝒆𝒅𝒊𝒂</m:t>
                    </m:r>
                    <m:r>
                      <a:rPr lang="es-ES" b="1" i="1" dirty="0">
                        <a:solidFill>
                          <a:schemeClr val="tx1">
                            <a:lumMod val="85000"/>
                            <a:lumOff val="15000"/>
                          </a:schemeClr>
                        </a:solidFill>
                        <a:latin typeface="Cambria Math" panose="02040503050406030204" pitchFamily="18" charset="0"/>
                      </a:rPr>
                      <m:t>_</m:t>
                    </m:r>
                    <m:r>
                      <a:rPr lang="es-ES" b="1" i="1" dirty="0">
                        <a:solidFill>
                          <a:schemeClr val="tx1">
                            <a:lumMod val="85000"/>
                            <a:lumOff val="15000"/>
                          </a:schemeClr>
                        </a:solidFill>
                        <a:latin typeface="Cambria Math" panose="02040503050406030204" pitchFamily="18" charset="0"/>
                      </a:rPr>
                      <m:t>𝑽𝒂𝒓𝒊𝒂𝒃𝒊𝒍𝒊𝒅𝒂</m:t>
                    </m:r>
                    <m:sSub>
                      <m:sSubPr>
                        <m:ctrlPr>
                          <a:rPr lang="es-ES" b="1" i="1" dirty="0">
                            <a:solidFill>
                              <a:schemeClr val="tx1">
                                <a:lumMod val="85000"/>
                                <a:lumOff val="15000"/>
                              </a:schemeClr>
                            </a:solidFill>
                            <a:latin typeface="Cambria Math" panose="02040503050406030204" pitchFamily="18" charset="0"/>
                          </a:rPr>
                        </m:ctrlPr>
                      </m:sSubPr>
                      <m:e>
                        <m:r>
                          <a:rPr lang="es-ES" b="1" i="1" dirty="0">
                            <a:solidFill>
                              <a:schemeClr val="tx1">
                                <a:lumMod val="85000"/>
                                <a:lumOff val="15000"/>
                              </a:schemeClr>
                            </a:solidFill>
                            <a:latin typeface="Cambria Math" panose="02040503050406030204" pitchFamily="18" charset="0"/>
                          </a:rPr>
                          <m:t>𝒅</m:t>
                        </m:r>
                      </m:e>
                      <m:sub>
                        <m:r>
                          <a:rPr lang="es-ES" b="1" i="1" dirty="0">
                            <a:solidFill>
                              <a:schemeClr val="tx1">
                                <a:lumMod val="85000"/>
                                <a:lumOff val="15000"/>
                              </a:schemeClr>
                            </a:solidFill>
                            <a:latin typeface="Cambria Math" panose="02040503050406030204" pitchFamily="18" charset="0"/>
                          </a:rPr>
                          <m:t>𝒈</m:t>
                        </m:r>
                      </m:sub>
                    </m:sSub>
                  </m:oMath>
                </a14:m>
                <a:r>
                  <a:rPr lang="es-MX" b="1" dirty="0">
                    <a:solidFill>
                      <a:schemeClr val="tx1">
                        <a:lumMod val="85000"/>
                        <a:lumOff val="15000"/>
                      </a:schemeClr>
                    </a:solidFill>
                  </a:rPr>
                  <a:t> </a:t>
                </a:r>
                <a:r>
                  <a:rPr lang="es-MX" dirty="0">
                    <a:solidFill>
                      <a:schemeClr val="tx1">
                        <a:lumMod val="85000"/>
                        <a:lumOff val="15000"/>
                      </a:schemeClr>
                    </a:solidFill>
                  </a:rPr>
                  <a:t>es la media de las variabilidades de todas las ciudades para el genérico </a:t>
                </a:r>
                <a14:m>
                  <m:oMath xmlns:m="http://schemas.openxmlformats.org/officeDocument/2006/math">
                    <m:r>
                      <a:rPr lang="es-MX" b="1" i="1" dirty="0">
                        <a:solidFill>
                          <a:schemeClr val="tx1">
                            <a:lumMod val="85000"/>
                            <a:lumOff val="15000"/>
                          </a:schemeClr>
                        </a:solidFill>
                        <a:latin typeface="Cambria Math" panose="02040503050406030204" pitchFamily="18" charset="0"/>
                      </a:rPr>
                      <m:t>𝒈</m:t>
                    </m:r>
                    <m:r>
                      <a:rPr lang="es-ES" b="1" i="1" dirty="0" smtClean="0">
                        <a:solidFill>
                          <a:schemeClr val="tx1">
                            <a:lumMod val="85000"/>
                            <a:lumOff val="15000"/>
                          </a:schemeClr>
                        </a:solidFill>
                        <a:latin typeface="Cambria Math" panose="02040503050406030204" pitchFamily="18" charset="0"/>
                      </a:rPr>
                      <m:t>.</m:t>
                    </m:r>
                  </m:oMath>
                </a14:m>
                <a:endParaRPr lang="es-MX" b="1" dirty="0">
                  <a:solidFill>
                    <a:schemeClr val="tx1">
                      <a:lumMod val="85000"/>
                      <a:lumOff val="15000"/>
                    </a:schemeClr>
                  </a:solidFill>
                </a:endParaRPr>
              </a:p>
              <a:p>
                <a:pPr marL="0" indent="0">
                  <a:buNone/>
                </a:pPr>
                <a:r>
                  <a:rPr lang="es-MX" dirty="0">
                    <a:solidFill>
                      <a:schemeClr val="tx1">
                        <a:lumMod val="85000"/>
                        <a:lumOff val="15000"/>
                      </a:schemeClr>
                    </a:solidFill>
                  </a:rPr>
                  <a:t>De esta forma nos centramos en aquellas ciudades que tengan valor 1 en la variable de Competitivo.</a:t>
                </a:r>
              </a:p>
              <a:p>
                <a:pPr marL="0" indent="0">
                  <a:buNone/>
                </a:pPr>
                <a:endParaRPr lang="es-MX" sz="2000" b="1" dirty="0">
                  <a:solidFill>
                    <a:schemeClr val="tx1">
                      <a:lumMod val="85000"/>
                      <a:lumOff val="15000"/>
                    </a:schemeClr>
                  </a:solidFill>
                </a:endParaRPr>
              </a:p>
            </p:txBody>
          </p:sp>
        </mc:Choice>
        <mc:Fallback xmlns="">
          <p:sp>
            <p:nvSpPr>
              <p:cNvPr id="13" name="Content Placeholder 2">
                <a:extLst>
                  <a:ext uri="{FF2B5EF4-FFF2-40B4-BE49-F238E27FC236}">
                    <a16:creationId xmlns:a16="http://schemas.microsoft.com/office/drawing/2014/main" id="{1CCDF5FD-E588-4E1B-A4AE-9E378FC21E8D}"/>
                  </a:ext>
                </a:extLst>
              </p:cNvPr>
              <p:cNvSpPr txBox="1">
                <a:spLocks noRot="1" noChangeAspect="1" noMove="1" noResize="1" noEditPoints="1" noAdjustHandles="1" noChangeArrowheads="1" noChangeShapeType="1" noTextEdit="1"/>
              </p:cNvSpPr>
              <p:nvPr/>
            </p:nvSpPr>
            <p:spPr>
              <a:xfrm>
                <a:off x="589101" y="1337769"/>
                <a:ext cx="12087887" cy="2839281"/>
              </a:xfrm>
              <a:prstGeom prst="rect">
                <a:avLst/>
              </a:prstGeom>
              <a:blipFill>
                <a:blip r:embed="rId2"/>
                <a:stretch>
                  <a:fillRect l="-454" t="-858"/>
                </a:stretch>
              </a:blipFill>
            </p:spPr>
            <p:txBody>
              <a:bodyPr/>
              <a:lstStyle/>
              <a:p>
                <a:r>
                  <a:rPr lang="es-MX">
                    <a:noFill/>
                  </a:rPr>
                  <a:t> </a:t>
                </a:r>
              </a:p>
            </p:txBody>
          </p:sp>
        </mc:Fallback>
      </mc:AlternateContent>
      <p:pic>
        <p:nvPicPr>
          <p:cNvPr id="5" name="Picture 4">
            <a:extLst>
              <a:ext uri="{FF2B5EF4-FFF2-40B4-BE49-F238E27FC236}">
                <a16:creationId xmlns:a16="http://schemas.microsoft.com/office/drawing/2014/main" id="{4634788A-F36F-4BF6-B8DC-662E03A83E52}"/>
              </a:ext>
            </a:extLst>
          </p:cNvPr>
          <p:cNvPicPr>
            <a:picLocks noChangeAspect="1"/>
          </p:cNvPicPr>
          <p:nvPr/>
        </p:nvPicPr>
        <p:blipFill>
          <a:blip r:embed="rId3"/>
          <a:stretch>
            <a:fillRect/>
          </a:stretch>
        </p:blipFill>
        <p:spPr>
          <a:xfrm>
            <a:off x="589101" y="3429000"/>
            <a:ext cx="6592235" cy="3212460"/>
          </a:xfrm>
          <a:prstGeom prst="rect">
            <a:avLst/>
          </a:prstGeom>
        </p:spPr>
      </p:pic>
      <p:sp>
        <p:nvSpPr>
          <p:cNvPr id="12" name="Content Placeholder 2">
            <a:extLst>
              <a:ext uri="{FF2B5EF4-FFF2-40B4-BE49-F238E27FC236}">
                <a16:creationId xmlns:a16="http://schemas.microsoft.com/office/drawing/2014/main" id="{42A0E92F-9B8B-4879-A56B-7148C468FCEA}"/>
              </a:ext>
            </a:extLst>
          </p:cNvPr>
          <p:cNvSpPr txBox="1">
            <a:spLocks/>
          </p:cNvSpPr>
          <p:nvPr/>
        </p:nvSpPr>
        <p:spPr>
          <a:xfrm>
            <a:off x="7181336" y="6085702"/>
            <a:ext cx="4316930" cy="772298"/>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spcBef>
                <a:spcPts val="0"/>
              </a:spcBef>
              <a:buFont typeface="Wingdings 3" charset="2"/>
              <a:buNone/>
            </a:pPr>
            <a:r>
              <a:rPr lang="es-MX" i="1" dirty="0">
                <a:solidFill>
                  <a:schemeClr val="bg1">
                    <a:lumMod val="50000"/>
                  </a:schemeClr>
                </a:solidFill>
              </a:rPr>
              <a:t>Algunas ciudades con todos sus valores para el genérico “001 Arroz”.</a:t>
            </a:r>
          </a:p>
        </p:txBody>
      </p:sp>
    </p:spTree>
    <p:extLst>
      <p:ext uri="{BB962C8B-B14F-4D97-AF65-F5344CB8AC3E}">
        <p14:creationId xmlns:p14="http://schemas.microsoft.com/office/powerpoint/2010/main" val="8570237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2">
            <a:extLst>
              <a:ext uri="{FF2B5EF4-FFF2-40B4-BE49-F238E27FC236}">
                <a16:creationId xmlns:a16="http://schemas.microsoft.com/office/drawing/2014/main" id="{0649287A-C27A-4814-951C-4DBBC869EA2B}"/>
              </a:ext>
            </a:extLst>
          </p:cNvPr>
          <p:cNvSpPr txBox="1">
            <a:spLocks/>
          </p:cNvSpPr>
          <p:nvPr/>
        </p:nvSpPr>
        <p:spPr>
          <a:xfrm>
            <a:off x="6096000" y="1501564"/>
            <a:ext cx="5670175" cy="4788741"/>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lgn="just">
              <a:lnSpc>
                <a:spcPct val="150000"/>
              </a:lnSpc>
              <a:buFont typeface="Wingdings 3" charset="2"/>
              <a:buNone/>
            </a:pPr>
            <a:r>
              <a:rPr lang="es-ES" sz="2200" dirty="0">
                <a:solidFill>
                  <a:schemeClr val="tx1">
                    <a:lumMod val="85000"/>
                    <a:lumOff val="15000"/>
                  </a:schemeClr>
                </a:solidFill>
                <a:latin typeface="Montserrat" panose="00000500000000000000" pitchFamily="50" charset="0"/>
              </a:rPr>
              <a:t>Visualmente lo podemos ver al graficar las ciudades como puntos de coordenadas (Estabilidad, Variabilidad) colocar las rectas que corresponden a las medias de cada coordenada (azul para estabilidad y roja para variabilidad) y ver aquellas que caigan sobre el cuadrante inferior izquierdo.</a:t>
            </a:r>
            <a:endParaRPr lang="es-MX" sz="2200" dirty="0">
              <a:solidFill>
                <a:schemeClr val="tx1">
                  <a:lumMod val="85000"/>
                  <a:lumOff val="15000"/>
                </a:schemeClr>
              </a:solidFill>
              <a:latin typeface="Montserrat" panose="00000500000000000000" pitchFamily="50" charset="0"/>
            </a:endParaRPr>
          </a:p>
        </p:txBody>
      </p:sp>
      <p:sp>
        <p:nvSpPr>
          <p:cNvPr id="8" name="Content Placeholder 2">
            <a:extLst>
              <a:ext uri="{FF2B5EF4-FFF2-40B4-BE49-F238E27FC236}">
                <a16:creationId xmlns:a16="http://schemas.microsoft.com/office/drawing/2014/main" id="{6EB05FD7-C5C7-4280-B2FC-F8B64BDDB45A}"/>
              </a:ext>
            </a:extLst>
          </p:cNvPr>
          <p:cNvSpPr txBox="1">
            <a:spLocks/>
          </p:cNvSpPr>
          <p:nvPr/>
        </p:nvSpPr>
        <p:spPr>
          <a:xfrm>
            <a:off x="602876" y="5621797"/>
            <a:ext cx="5493122" cy="933871"/>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spcBef>
                <a:spcPts val="0"/>
              </a:spcBef>
              <a:buFont typeface="Wingdings 3" charset="2"/>
              <a:buNone/>
            </a:pPr>
            <a:r>
              <a:rPr lang="es-MX" i="1" dirty="0">
                <a:solidFill>
                  <a:srgbClr val="545454"/>
                </a:solidFill>
              </a:rPr>
              <a:t>Gráfica de los datos para el genérico “001 Arroz”. </a:t>
            </a:r>
          </a:p>
          <a:p>
            <a:pPr marL="0" indent="0">
              <a:spcBef>
                <a:spcPts val="0"/>
              </a:spcBef>
              <a:buFont typeface="Wingdings 3" charset="2"/>
              <a:buNone/>
            </a:pPr>
            <a:r>
              <a:rPr lang="es-MX" i="1" dirty="0">
                <a:solidFill>
                  <a:srgbClr val="545454"/>
                </a:solidFill>
              </a:rPr>
              <a:t>23 ciudades entraron en el rango de interés, entre ellas las 3 ciudades de Hidalgo. </a:t>
            </a:r>
          </a:p>
          <a:p>
            <a:pPr marL="0" indent="0">
              <a:buFont typeface="Wingdings 3" charset="2"/>
              <a:buNone/>
            </a:pPr>
            <a:endParaRPr lang="es-MX" sz="2000" dirty="0"/>
          </a:p>
          <a:p>
            <a:pPr marL="0" indent="0">
              <a:buFont typeface="Wingdings 3" charset="2"/>
              <a:buNone/>
            </a:pPr>
            <a:endParaRPr lang="es-MX" sz="2000" dirty="0"/>
          </a:p>
        </p:txBody>
      </p:sp>
      <p:sp>
        <p:nvSpPr>
          <p:cNvPr id="10" name="Rectangle 9">
            <a:extLst>
              <a:ext uri="{FF2B5EF4-FFF2-40B4-BE49-F238E27FC236}">
                <a16:creationId xmlns:a16="http://schemas.microsoft.com/office/drawing/2014/main" id="{7BBBF394-0E09-4E1A-8669-152233DC6E6D}"/>
              </a:ext>
            </a:extLst>
          </p:cNvPr>
          <p:cNvSpPr/>
          <p:nvPr/>
        </p:nvSpPr>
        <p:spPr>
          <a:xfrm>
            <a:off x="0" y="0"/>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1" name="Title 1">
            <a:extLst>
              <a:ext uri="{FF2B5EF4-FFF2-40B4-BE49-F238E27FC236}">
                <a16:creationId xmlns:a16="http://schemas.microsoft.com/office/drawing/2014/main" id="{134F4EA7-B5AC-4E9B-9414-5F4546BBB821}"/>
              </a:ext>
            </a:extLst>
          </p:cNvPr>
          <p:cNvSpPr txBox="1">
            <a:spLocks/>
          </p:cNvSpPr>
          <p:nvPr/>
        </p:nvSpPr>
        <p:spPr>
          <a:xfrm>
            <a:off x="602876" y="-133709"/>
            <a:ext cx="10986247" cy="145075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b="1" dirty="0">
                <a:solidFill>
                  <a:schemeClr val="bg1"/>
                </a:solidFill>
                <a:latin typeface="Montserrat"/>
              </a:rPr>
              <a:t>Opción 1. Resultados</a:t>
            </a:r>
          </a:p>
        </p:txBody>
      </p:sp>
      <p:pic>
        <p:nvPicPr>
          <p:cNvPr id="15" name="Picture 14">
            <a:extLst>
              <a:ext uri="{FF2B5EF4-FFF2-40B4-BE49-F238E27FC236}">
                <a16:creationId xmlns:a16="http://schemas.microsoft.com/office/drawing/2014/main" id="{891A4178-8DE6-4AC7-B2C7-95C9CB8324C8}"/>
              </a:ext>
            </a:extLst>
          </p:cNvPr>
          <p:cNvPicPr>
            <a:picLocks noChangeAspect="1"/>
          </p:cNvPicPr>
          <p:nvPr/>
        </p:nvPicPr>
        <p:blipFill>
          <a:blip r:embed="rId2"/>
          <a:stretch>
            <a:fillRect/>
          </a:stretch>
        </p:blipFill>
        <p:spPr>
          <a:xfrm>
            <a:off x="602876" y="1342001"/>
            <a:ext cx="5313830" cy="4279032"/>
          </a:xfrm>
          <a:prstGeom prst="rect">
            <a:avLst/>
          </a:prstGeom>
        </p:spPr>
      </p:pic>
    </p:spTree>
    <p:extLst>
      <p:ext uri="{BB962C8B-B14F-4D97-AF65-F5344CB8AC3E}">
        <p14:creationId xmlns:p14="http://schemas.microsoft.com/office/powerpoint/2010/main" val="18529958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DF9D151-82C0-43EE-B707-76C5539F5847}"/>
                  </a:ext>
                </a:extLst>
              </p:cNvPr>
              <p:cNvSpPr>
                <a:spLocks noGrp="1"/>
              </p:cNvSpPr>
              <p:nvPr>
                <p:ph idx="1"/>
              </p:nvPr>
            </p:nvSpPr>
            <p:spPr>
              <a:xfrm>
                <a:off x="602876" y="1385048"/>
                <a:ext cx="10986247" cy="5069540"/>
              </a:xfrm>
            </p:spPr>
            <p:txBody>
              <a:bodyPr>
                <a:normAutofit fontScale="85000" lnSpcReduction="10000"/>
              </a:bodyPr>
              <a:lstStyle/>
              <a:p>
                <a:pPr marL="0" indent="0">
                  <a:lnSpc>
                    <a:spcPct val="150000"/>
                  </a:lnSpc>
                  <a:buNone/>
                </a:pPr>
                <a:r>
                  <a:rPr lang="es-MX" sz="2000" dirty="0">
                    <a:latin typeface="Montserrat" panose="00000500000000000000" pitchFamily="50" charset="0"/>
                  </a:rPr>
                  <a:t>Agrupamos a las ciudades por genérico, se calcula la media y la desviación estándar de la estabilidad así como de la variabilidad, con ellos normalizamos los datos (restarles la media y dividirlos entre su desviación estándar). El índice será la suma de la mitad de ambos.</a:t>
                </a:r>
              </a:p>
              <a:p>
                <a:pPr marL="0" indent="0" algn="ctr">
                  <a:lnSpc>
                    <a:spcPct val="150000"/>
                  </a:lnSpc>
                  <a:buNone/>
                </a:pPr>
                <a14:m>
                  <m:oMathPara xmlns:m="http://schemas.openxmlformats.org/officeDocument/2006/math">
                    <m:oMathParaPr>
                      <m:jc m:val="centerGroup"/>
                    </m:oMathParaPr>
                    <m:oMath xmlns:m="http://schemas.openxmlformats.org/officeDocument/2006/math">
                      <m:r>
                        <a:rPr lang="es-ES" sz="2000" b="1" i="1" smtClean="0">
                          <a:latin typeface="Cambria Math" panose="02040503050406030204" pitchFamily="18" charset="0"/>
                        </a:rPr>
                        <m:t>𝑬𝒔𝒕𝒂𝒃𝒊𝒍𝒊𝒅𝒂𝒅</m:t>
                      </m:r>
                      <m:r>
                        <a:rPr lang="es-ES" sz="2000" b="1" i="1" smtClean="0">
                          <a:latin typeface="Cambria Math" panose="02040503050406030204" pitchFamily="18" charset="0"/>
                        </a:rPr>
                        <m:t>_</m:t>
                      </m:r>
                      <m:r>
                        <a:rPr lang="es-ES" sz="2000" b="1" i="1" smtClean="0">
                          <a:latin typeface="Cambria Math" panose="02040503050406030204" pitchFamily="18" charset="0"/>
                        </a:rPr>
                        <m:t>𝑵𝒐𝒓𝒎𝒂𝒍𝒊𝒛𝒂𝒅𝒂</m:t>
                      </m:r>
                      <m:r>
                        <a:rPr lang="es-ES" sz="2000" b="1" i="1" smtClean="0">
                          <a:latin typeface="Cambria Math" panose="02040503050406030204" pitchFamily="18" charset="0"/>
                        </a:rPr>
                        <m:t>=(</m:t>
                      </m:r>
                      <m:r>
                        <a:rPr lang="es-ES" sz="2000" b="1" i="1" smtClean="0">
                          <a:latin typeface="Cambria Math" panose="02040503050406030204" pitchFamily="18" charset="0"/>
                        </a:rPr>
                        <m:t>𝑬𝒔𝒕𝒂𝒃𝒊𝒍𝒊𝒅𝒂</m:t>
                      </m:r>
                      <m:sSub>
                        <m:sSubPr>
                          <m:ctrlPr>
                            <a:rPr lang="es-ES" sz="2000" b="1" i="1" smtClean="0">
                              <a:latin typeface="Cambria Math" panose="02040503050406030204" pitchFamily="18" charset="0"/>
                            </a:rPr>
                          </m:ctrlPr>
                        </m:sSubPr>
                        <m:e>
                          <m:r>
                            <a:rPr lang="es-ES" sz="2000" b="1" i="1" smtClean="0">
                              <a:latin typeface="Cambria Math" panose="02040503050406030204" pitchFamily="18" charset="0"/>
                            </a:rPr>
                            <m:t>𝒅</m:t>
                          </m:r>
                        </m:e>
                        <m:sub>
                          <m:r>
                            <a:rPr lang="es-ES" sz="2000" b="1" i="1" smtClean="0">
                              <a:latin typeface="Cambria Math" panose="02040503050406030204" pitchFamily="18" charset="0"/>
                            </a:rPr>
                            <m:t>𝒄</m:t>
                          </m:r>
                          <m:r>
                            <a:rPr lang="es-ES" sz="2000" b="1" i="1" smtClean="0">
                              <a:latin typeface="Cambria Math" panose="02040503050406030204" pitchFamily="18" charset="0"/>
                            </a:rPr>
                            <m:t>,</m:t>
                          </m:r>
                          <m:r>
                            <a:rPr lang="es-ES" sz="2000" b="1" i="1" smtClean="0">
                              <a:latin typeface="Cambria Math" panose="02040503050406030204" pitchFamily="18" charset="0"/>
                            </a:rPr>
                            <m:t>𝒈</m:t>
                          </m:r>
                        </m:sub>
                      </m:sSub>
                      <m:r>
                        <a:rPr lang="es-ES" sz="2000" b="1" i="1" smtClean="0">
                          <a:latin typeface="Cambria Math" panose="02040503050406030204" pitchFamily="18" charset="0"/>
                        </a:rPr>
                        <m:t>−</m:t>
                      </m:r>
                      <m:r>
                        <a:rPr lang="es-ES" sz="2000" b="1" i="1" dirty="0">
                          <a:solidFill>
                            <a:schemeClr val="tx1">
                              <a:lumMod val="85000"/>
                              <a:lumOff val="15000"/>
                            </a:schemeClr>
                          </a:solidFill>
                          <a:latin typeface="Cambria Math" panose="02040503050406030204" pitchFamily="18" charset="0"/>
                        </a:rPr>
                        <m:t>𝑴𝒆𝒅𝒊𝒂</m:t>
                      </m:r>
                      <m:r>
                        <a:rPr lang="es-ES" sz="2000" b="1" i="1" dirty="0">
                          <a:solidFill>
                            <a:schemeClr val="tx1">
                              <a:lumMod val="85000"/>
                              <a:lumOff val="15000"/>
                            </a:schemeClr>
                          </a:solidFill>
                          <a:latin typeface="Cambria Math" panose="02040503050406030204" pitchFamily="18" charset="0"/>
                        </a:rPr>
                        <m:t>_</m:t>
                      </m:r>
                      <m:r>
                        <a:rPr lang="es-ES" sz="2000" b="1" i="1" dirty="0">
                          <a:solidFill>
                            <a:schemeClr val="tx1">
                              <a:lumMod val="85000"/>
                              <a:lumOff val="15000"/>
                            </a:schemeClr>
                          </a:solidFill>
                          <a:latin typeface="Cambria Math" panose="02040503050406030204" pitchFamily="18" charset="0"/>
                        </a:rPr>
                        <m:t>𝑬𝒔𝒕𝒂𝒃𝒊𝒍𝒊𝒅𝒂</m:t>
                      </m:r>
                      <m:sSub>
                        <m:sSubPr>
                          <m:ctrlPr>
                            <a:rPr lang="es-ES" sz="2000" b="1" i="1" dirty="0">
                              <a:solidFill>
                                <a:schemeClr val="tx1">
                                  <a:lumMod val="85000"/>
                                  <a:lumOff val="15000"/>
                                </a:schemeClr>
                              </a:solidFill>
                              <a:latin typeface="Cambria Math" panose="02040503050406030204" pitchFamily="18" charset="0"/>
                            </a:rPr>
                          </m:ctrlPr>
                        </m:sSubPr>
                        <m:e>
                          <m:r>
                            <a:rPr lang="es-ES" sz="2000" b="1" i="1" dirty="0">
                              <a:solidFill>
                                <a:schemeClr val="tx1">
                                  <a:lumMod val="85000"/>
                                  <a:lumOff val="15000"/>
                                </a:schemeClr>
                              </a:solidFill>
                              <a:latin typeface="Cambria Math" panose="02040503050406030204" pitchFamily="18" charset="0"/>
                            </a:rPr>
                            <m:t>𝒅</m:t>
                          </m:r>
                        </m:e>
                        <m:sub>
                          <m:r>
                            <a:rPr lang="es-ES" sz="2000" b="1" i="1" dirty="0">
                              <a:solidFill>
                                <a:schemeClr val="tx1">
                                  <a:lumMod val="85000"/>
                                  <a:lumOff val="15000"/>
                                </a:schemeClr>
                              </a:solidFill>
                              <a:latin typeface="Cambria Math" panose="02040503050406030204" pitchFamily="18" charset="0"/>
                            </a:rPr>
                            <m:t>𝒈</m:t>
                          </m:r>
                        </m:sub>
                      </m:sSub>
                      <m:r>
                        <a:rPr lang="es-ES" sz="2000" b="1" i="1" smtClean="0">
                          <a:latin typeface="Cambria Math" panose="02040503050406030204" pitchFamily="18" charset="0"/>
                        </a:rPr>
                        <m:t>)/</m:t>
                      </m:r>
                      <m:r>
                        <a:rPr lang="es-ES" sz="2000" b="1" i="1" smtClean="0">
                          <a:latin typeface="Cambria Math" panose="02040503050406030204" pitchFamily="18" charset="0"/>
                        </a:rPr>
                        <m:t>𝑫𝒔</m:t>
                      </m:r>
                      <m:r>
                        <a:rPr lang="es-ES" sz="2000" b="1" i="1" dirty="0">
                          <a:solidFill>
                            <a:schemeClr val="tx1">
                              <a:lumMod val="85000"/>
                              <a:lumOff val="15000"/>
                            </a:schemeClr>
                          </a:solidFill>
                          <a:latin typeface="Cambria Math" panose="02040503050406030204" pitchFamily="18" charset="0"/>
                        </a:rPr>
                        <m:t>_</m:t>
                      </m:r>
                      <m:r>
                        <a:rPr lang="es-ES" sz="2000" b="1" i="1" dirty="0">
                          <a:solidFill>
                            <a:schemeClr val="tx1">
                              <a:lumMod val="85000"/>
                              <a:lumOff val="15000"/>
                            </a:schemeClr>
                          </a:solidFill>
                          <a:latin typeface="Cambria Math" panose="02040503050406030204" pitchFamily="18" charset="0"/>
                        </a:rPr>
                        <m:t>𝑬𝒔𝒕𝒂𝒃𝒊𝒍𝒊𝒅𝒂</m:t>
                      </m:r>
                      <m:sSub>
                        <m:sSubPr>
                          <m:ctrlPr>
                            <a:rPr lang="es-ES" sz="2000" b="1" i="1" dirty="0">
                              <a:solidFill>
                                <a:schemeClr val="tx1">
                                  <a:lumMod val="85000"/>
                                  <a:lumOff val="15000"/>
                                </a:schemeClr>
                              </a:solidFill>
                              <a:latin typeface="Cambria Math" panose="02040503050406030204" pitchFamily="18" charset="0"/>
                            </a:rPr>
                          </m:ctrlPr>
                        </m:sSubPr>
                        <m:e>
                          <m:r>
                            <a:rPr lang="es-ES" sz="2000" b="1" i="1" dirty="0">
                              <a:solidFill>
                                <a:schemeClr val="tx1">
                                  <a:lumMod val="85000"/>
                                  <a:lumOff val="15000"/>
                                </a:schemeClr>
                              </a:solidFill>
                              <a:latin typeface="Cambria Math" panose="02040503050406030204" pitchFamily="18" charset="0"/>
                            </a:rPr>
                            <m:t>𝒅</m:t>
                          </m:r>
                        </m:e>
                        <m:sub>
                          <m:r>
                            <a:rPr lang="es-ES" sz="2000" b="1" i="1" dirty="0">
                              <a:solidFill>
                                <a:schemeClr val="tx1">
                                  <a:lumMod val="85000"/>
                                  <a:lumOff val="15000"/>
                                </a:schemeClr>
                              </a:solidFill>
                              <a:latin typeface="Cambria Math" panose="02040503050406030204" pitchFamily="18" charset="0"/>
                            </a:rPr>
                            <m:t>𝒈</m:t>
                          </m:r>
                        </m:sub>
                      </m:sSub>
                    </m:oMath>
                  </m:oMathPara>
                </a14:m>
                <a:endParaRPr lang="es-MX" sz="2000" b="1" dirty="0">
                  <a:latin typeface="Montserrat" panose="00000500000000000000" pitchFamily="50" charset="0"/>
                </a:endParaRPr>
              </a:p>
              <a:p>
                <a:pPr marL="0" indent="0" algn="ctr">
                  <a:lnSpc>
                    <a:spcPct val="150000"/>
                  </a:lnSpc>
                  <a:buNone/>
                </a:pPr>
                <a14:m>
                  <m:oMathPara xmlns:m="http://schemas.openxmlformats.org/officeDocument/2006/math">
                    <m:oMathParaPr>
                      <m:jc m:val="centerGroup"/>
                    </m:oMathParaPr>
                    <m:oMath xmlns:m="http://schemas.openxmlformats.org/officeDocument/2006/math">
                      <m:r>
                        <a:rPr lang="es-ES" sz="2000" b="1" i="1" smtClean="0">
                          <a:latin typeface="Cambria Math" panose="02040503050406030204" pitchFamily="18" charset="0"/>
                        </a:rPr>
                        <m:t>𝑽𝒂𝒓𝒊𝒂𝒃𝒊𝒍𝒊𝒅𝒂𝒅</m:t>
                      </m:r>
                      <m:r>
                        <a:rPr lang="es-ES" sz="2000" b="1" i="1" smtClean="0">
                          <a:latin typeface="Cambria Math" panose="02040503050406030204" pitchFamily="18" charset="0"/>
                        </a:rPr>
                        <m:t>_</m:t>
                      </m:r>
                      <m:r>
                        <a:rPr lang="es-ES" sz="2000" b="1" i="1" smtClean="0">
                          <a:latin typeface="Cambria Math" panose="02040503050406030204" pitchFamily="18" charset="0"/>
                        </a:rPr>
                        <m:t>𝑵𝒐𝒓𝒎𝒂𝒍𝒊𝒛𝒂𝒅𝒂</m:t>
                      </m:r>
                      <m:r>
                        <a:rPr lang="es-ES" sz="2000" b="1" i="1">
                          <a:latin typeface="Cambria Math" panose="02040503050406030204" pitchFamily="18" charset="0"/>
                        </a:rPr>
                        <m:t>=(</m:t>
                      </m:r>
                      <m:r>
                        <a:rPr lang="es-ES" sz="2000" b="1" i="1" smtClean="0">
                          <a:latin typeface="Cambria Math" panose="02040503050406030204" pitchFamily="18" charset="0"/>
                        </a:rPr>
                        <m:t>𝑽𝒂𝒓𝒊𝒂𝒃𝒊𝒍𝒊𝒅𝒂</m:t>
                      </m:r>
                      <m:sSub>
                        <m:sSubPr>
                          <m:ctrlPr>
                            <a:rPr lang="es-ES" sz="2000" b="1" i="1">
                              <a:latin typeface="Cambria Math" panose="02040503050406030204" pitchFamily="18" charset="0"/>
                            </a:rPr>
                          </m:ctrlPr>
                        </m:sSubPr>
                        <m:e>
                          <m:r>
                            <a:rPr lang="es-ES" sz="2000" b="1" i="1">
                              <a:latin typeface="Cambria Math" panose="02040503050406030204" pitchFamily="18" charset="0"/>
                            </a:rPr>
                            <m:t>𝒅</m:t>
                          </m:r>
                        </m:e>
                        <m:sub>
                          <m:r>
                            <a:rPr lang="es-ES" sz="2000" b="1" i="1">
                              <a:latin typeface="Cambria Math" panose="02040503050406030204" pitchFamily="18" charset="0"/>
                            </a:rPr>
                            <m:t>𝒄</m:t>
                          </m:r>
                          <m:r>
                            <a:rPr lang="es-ES" sz="2000" b="1" i="1">
                              <a:latin typeface="Cambria Math" panose="02040503050406030204" pitchFamily="18" charset="0"/>
                            </a:rPr>
                            <m:t>,</m:t>
                          </m:r>
                          <m:r>
                            <a:rPr lang="es-ES" sz="2000" b="1" i="1">
                              <a:latin typeface="Cambria Math" panose="02040503050406030204" pitchFamily="18" charset="0"/>
                            </a:rPr>
                            <m:t>𝒈</m:t>
                          </m:r>
                        </m:sub>
                      </m:sSub>
                      <m:r>
                        <a:rPr lang="es-ES" sz="2000" b="1" i="1">
                          <a:latin typeface="Cambria Math" panose="02040503050406030204" pitchFamily="18" charset="0"/>
                        </a:rPr>
                        <m:t>−</m:t>
                      </m:r>
                      <m:r>
                        <a:rPr lang="es-ES" sz="2000" b="1" i="1" dirty="0">
                          <a:solidFill>
                            <a:schemeClr val="tx1">
                              <a:lumMod val="85000"/>
                              <a:lumOff val="15000"/>
                            </a:schemeClr>
                          </a:solidFill>
                          <a:latin typeface="Cambria Math" panose="02040503050406030204" pitchFamily="18" charset="0"/>
                        </a:rPr>
                        <m:t>𝑴𝒆𝒅𝒊𝒂</m:t>
                      </m:r>
                      <m:r>
                        <a:rPr lang="es-ES" sz="2000" b="1" i="1" dirty="0">
                          <a:solidFill>
                            <a:schemeClr val="tx1">
                              <a:lumMod val="85000"/>
                              <a:lumOff val="15000"/>
                            </a:schemeClr>
                          </a:solidFill>
                          <a:latin typeface="Cambria Math" panose="02040503050406030204" pitchFamily="18" charset="0"/>
                        </a:rPr>
                        <m:t>_</m:t>
                      </m:r>
                      <m:r>
                        <a:rPr lang="es-ES" sz="2000" b="1" i="1" dirty="0" smtClean="0">
                          <a:solidFill>
                            <a:schemeClr val="tx1">
                              <a:lumMod val="85000"/>
                              <a:lumOff val="15000"/>
                            </a:schemeClr>
                          </a:solidFill>
                          <a:latin typeface="Cambria Math" panose="02040503050406030204" pitchFamily="18" charset="0"/>
                        </a:rPr>
                        <m:t>𝑽𝒂𝒓𝒊𝒂</m:t>
                      </m:r>
                      <m:r>
                        <a:rPr lang="es-ES" sz="2000" b="1" i="1" dirty="0">
                          <a:solidFill>
                            <a:schemeClr val="tx1">
                              <a:lumMod val="85000"/>
                              <a:lumOff val="15000"/>
                            </a:schemeClr>
                          </a:solidFill>
                          <a:latin typeface="Cambria Math" panose="02040503050406030204" pitchFamily="18" charset="0"/>
                        </a:rPr>
                        <m:t>𝒃𝒊𝒍𝒊𝒅𝒂</m:t>
                      </m:r>
                      <m:sSub>
                        <m:sSubPr>
                          <m:ctrlPr>
                            <a:rPr lang="es-ES" sz="2000" b="1" i="1" dirty="0">
                              <a:solidFill>
                                <a:schemeClr val="tx1">
                                  <a:lumMod val="85000"/>
                                  <a:lumOff val="15000"/>
                                </a:schemeClr>
                              </a:solidFill>
                              <a:latin typeface="Cambria Math" panose="02040503050406030204" pitchFamily="18" charset="0"/>
                            </a:rPr>
                          </m:ctrlPr>
                        </m:sSubPr>
                        <m:e>
                          <m:r>
                            <a:rPr lang="es-ES" sz="2000" b="1" i="1" dirty="0">
                              <a:solidFill>
                                <a:schemeClr val="tx1">
                                  <a:lumMod val="85000"/>
                                  <a:lumOff val="15000"/>
                                </a:schemeClr>
                              </a:solidFill>
                              <a:latin typeface="Cambria Math" panose="02040503050406030204" pitchFamily="18" charset="0"/>
                            </a:rPr>
                            <m:t>𝒅</m:t>
                          </m:r>
                        </m:e>
                        <m:sub>
                          <m:r>
                            <a:rPr lang="es-ES" sz="2000" b="1" i="1" dirty="0">
                              <a:solidFill>
                                <a:schemeClr val="tx1">
                                  <a:lumMod val="85000"/>
                                  <a:lumOff val="15000"/>
                                </a:schemeClr>
                              </a:solidFill>
                              <a:latin typeface="Cambria Math" panose="02040503050406030204" pitchFamily="18" charset="0"/>
                            </a:rPr>
                            <m:t>𝒈</m:t>
                          </m:r>
                        </m:sub>
                      </m:sSub>
                      <m:r>
                        <a:rPr lang="es-ES" sz="2000" b="1" i="1">
                          <a:latin typeface="Cambria Math" panose="02040503050406030204" pitchFamily="18" charset="0"/>
                        </a:rPr>
                        <m:t>)</m:t>
                      </m:r>
                      <m:r>
                        <a:rPr lang="es-ES" sz="2000" b="1" i="0" smtClean="0">
                          <a:latin typeface="Cambria Math" panose="02040503050406030204" pitchFamily="18" charset="0"/>
                        </a:rPr>
                        <m:t>/</m:t>
                      </m:r>
                      <m:r>
                        <a:rPr lang="es-ES" sz="2000" b="1" i="0" smtClean="0">
                          <a:latin typeface="Cambria Math" panose="02040503050406030204" pitchFamily="18" charset="0"/>
                        </a:rPr>
                        <m:t>𝐃𝐬</m:t>
                      </m:r>
                      <m:r>
                        <a:rPr lang="es-ES" sz="2000" b="1" i="1" dirty="0">
                          <a:solidFill>
                            <a:schemeClr val="tx1">
                              <a:lumMod val="85000"/>
                              <a:lumOff val="15000"/>
                            </a:schemeClr>
                          </a:solidFill>
                          <a:latin typeface="Cambria Math" panose="02040503050406030204" pitchFamily="18" charset="0"/>
                        </a:rPr>
                        <m:t>_</m:t>
                      </m:r>
                      <m:r>
                        <a:rPr lang="es-ES" sz="2000" b="1" i="1" dirty="0" smtClean="0">
                          <a:solidFill>
                            <a:schemeClr val="tx1">
                              <a:lumMod val="85000"/>
                              <a:lumOff val="15000"/>
                            </a:schemeClr>
                          </a:solidFill>
                          <a:latin typeface="Cambria Math" panose="02040503050406030204" pitchFamily="18" charset="0"/>
                        </a:rPr>
                        <m:t>𝑽𝒂𝒓𝒊𝒂</m:t>
                      </m:r>
                      <m:r>
                        <a:rPr lang="es-ES" sz="2000" b="1" i="1" dirty="0">
                          <a:solidFill>
                            <a:schemeClr val="tx1">
                              <a:lumMod val="85000"/>
                              <a:lumOff val="15000"/>
                            </a:schemeClr>
                          </a:solidFill>
                          <a:latin typeface="Cambria Math" panose="02040503050406030204" pitchFamily="18" charset="0"/>
                        </a:rPr>
                        <m:t>𝒃𝒊𝒍𝒊𝒅𝒂</m:t>
                      </m:r>
                      <m:sSub>
                        <m:sSubPr>
                          <m:ctrlPr>
                            <a:rPr lang="es-ES" sz="2000" b="1" i="1" dirty="0">
                              <a:solidFill>
                                <a:schemeClr val="tx1">
                                  <a:lumMod val="85000"/>
                                  <a:lumOff val="15000"/>
                                </a:schemeClr>
                              </a:solidFill>
                              <a:latin typeface="Cambria Math" panose="02040503050406030204" pitchFamily="18" charset="0"/>
                            </a:rPr>
                          </m:ctrlPr>
                        </m:sSubPr>
                        <m:e>
                          <m:r>
                            <a:rPr lang="es-ES" sz="2000" b="1" i="1" dirty="0">
                              <a:solidFill>
                                <a:schemeClr val="tx1">
                                  <a:lumMod val="85000"/>
                                  <a:lumOff val="15000"/>
                                </a:schemeClr>
                              </a:solidFill>
                              <a:latin typeface="Cambria Math" panose="02040503050406030204" pitchFamily="18" charset="0"/>
                            </a:rPr>
                            <m:t>𝒅</m:t>
                          </m:r>
                        </m:e>
                        <m:sub>
                          <m:r>
                            <a:rPr lang="es-ES" sz="2000" b="1" i="1" dirty="0">
                              <a:solidFill>
                                <a:schemeClr val="tx1">
                                  <a:lumMod val="85000"/>
                                  <a:lumOff val="15000"/>
                                </a:schemeClr>
                              </a:solidFill>
                              <a:latin typeface="Cambria Math" panose="02040503050406030204" pitchFamily="18" charset="0"/>
                            </a:rPr>
                            <m:t>𝒈</m:t>
                          </m:r>
                        </m:sub>
                      </m:sSub>
                    </m:oMath>
                  </m:oMathPara>
                </a14:m>
                <a:endParaRPr lang="es-MX" sz="200" dirty="0">
                  <a:solidFill>
                    <a:schemeClr val="bg1"/>
                  </a:solidFill>
                  <a:latin typeface="Montserrat" panose="00000500000000000000" pitchFamily="50" charset="0"/>
                </a:endParaRPr>
              </a:p>
              <a:p>
                <a:pPr marL="0" indent="0" algn="ctr">
                  <a:lnSpc>
                    <a:spcPct val="150000"/>
                  </a:lnSpc>
                  <a:buNone/>
                </a:pPr>
                <a14:m>
                  <m:oMathPara xmlns:m="http://schemas.openxmlformats.org/officeDocument/2006/math">
                    <m:oMathParaPr>
                      <m:jc m:val="centerGroup"/>
                    </m:oMathParaPr>
                    <m:oMath xmlns:m="http://schemas.openxmlformats.org/officeDocument/2006/math">
                      <m:sSub>
                        <m:sSubPr>
                          <m:ctrlPr>
                            <a:rPr lang="es-ES" sz="2000" b="1" i="0" smtClean="0">
                              <a:solidFill>
                                <a:schemeClr val="tx1">
                                  <a:lumMod val="85000"/>
                                  <a:lumOff val="15000"/>
                                </a:schemeClr>
                              </a:solidFill>
                              <a:latin typeface="Cambria Math" panose="02040503050406030204" pitchFamily="18" charset="0"/>
                            </a:rPr>
                          </m:ctrlPr>
                        </m:sSubPr>
                        <m:e>
                          <m:r>
                            <a:rPr lang="es-ES" sz="2000" b="1" i="0" smtClean="0">
                              <a:solidFill>
                                <a:schemeClr val="tx1">
                                  <a:lumMod val="85000"/>
                                  <a:lumOff val="15000"/>
                                </a:schemeClr>
                              </a:solidFill>
                              <a:latin typeface="Cambria Math" panose="02040503050406030204" pitchFamily="18" charset="0"/>
                            </a:rPr>
                            <m:t>𝐈𝐧𝐝𝐢𝐜𝐞</m:t>
                          </m:r>
                        </m:e>
                        <m:sub>
                          <m:r>
                            <a:rPr lang="es-ES" sz="2000" b="1" i="0" smtClean="0">
                              <a:solidFill>
                                <a:schemeClr val="tx1">
                                  <a:lumMod val="85000"/>
                                  <a:lumOff val="15000"/>
                                </a:schemeClr>
                              </a:solidFill>
                              <a:latin typeface="Cambria Math" panose="02040503050406030204" pitchFamily="18" charset="0"/>
                            </a:rPr>
                            <m:t>𝐜</m:t>
                          </m:r>
                          <m:r>
                            <a:rPr lang="es-ES" sz="2000" b="1" i="0" smtClean="0">
                              <a:solidFill>
                                <a:schemeClr val="tx1">
                                  <a:lumMod val="85000"/>
                                  <a:lumOff val="15000"/>
                                </a:schemeClr>
                              </a:solidFill>
                              <a:latin typeface="Cambria Math" panose="02040503050406030204" pitchFamily="18" charset="0"/>
                            </a:rPr>
                            <m:t>,</m:t>
                          </m:r>
                          <m:r>
                            <a:rPr lang="es-ES" sz="2000" b="1" i="0" smtClean="0">
                              <a:solidFill>
                                <a:schemeClr val="tx1">
                                  <a:lumMod val="85000"/>
                                  <a:lumOff val="15000"/>
                                </a:schemeClr>
                              </a:solidFill>
                              <a:latin typeface="Cambria Math" panose="02040503050406030204" pitchFamily="18" charset="0"/>
                            </a:rPr>
                            <m:t>𝐠</m:t>
                          </m:r>
                        </m:sub>
                      </m:sSub>
                      <m:r>
                        <a:rPr lang="es-ES" sz="2000" b="1" i="1">
                          <a:solidFill>
                            <a:schemeClr val="tx1">
                              <a:lumMod val="85000"/>
                              <a:lumOff val="15000"/>
                            </a:schemeClr>
                          </a:solidFill>
                          <a:latin typeface="Cambria Math" panose="02040503050406030204" pitchFamily="18" charset="0"/>
                        </a:rPr>
                        <m:t>=</m:t>
                      </m:r>
                      <m:f>
                        <m:fPr>
                          <m:ctrlPr>
                            <a:rPr lang="es-ES" sz="2000" b="1" i="1" smtClean="0">
                              <a:solidFill>
                                <a:schemeClr val="tx1">
                                  <a:lumMod val="85000"/>
                                  <a:lumOff val="15000"/>
                                </a:schemeClr>
                              </a:solidFill>
                              <a:latin typeface="Cambria Math" panose="02040503050406030204" pitchFamily="18" charset="0"/>
                            </a:rPr>
                          </m:ctrlPr>
                        </m:fPr>
                        <m:num>
                          <m:r>
                            <a:rPr lang="es-ES" sz="2000" b="1" i="1" smtClean="0">
                              <a:solidFill>
                                <a:schemeClr val="tx1">
                                  <a:lumMod val="85000"/>
                                  <a:lumOff val="15000"/>
                                </a:schemeClr>
                              </a:solidFill>
                              <a:latin typeface="Cambria Math" panose="02040503050406030204" pitchFamily="18" charset="0"/>
                            </a:rPr>
                            <m:t>𝟏</m:t>
                          </m:r>
                        </m:num>
                        <m:den>
                          <m:r>
                            <a:rPr lang="es-ES" sz="2000" b="1" i="1" smtClean="0">
                              <a:solidFill>
                                <a:schemeClr val="tx1">
                                  <a:lumMod val="85000"/>
                                  <a:lumOff val="15000"/>
                                </a:schemeClr>
                              </a:solidFill>
                              <a:latin typeface="Cambria Math" panose="02040503050406030204" pitchFamily="18" charset="0"/>
                            </a:rPr>
                            <m:t>𝟐</m:t>
                          </m:r>
                        </m:den>
                      </m:f>
                      <m:r>
                        <a:rPr lang="es-ES" sz="2000" b="1" i="1" smtClean="0">
                          <a:solidFill>
                            <a:schemeClr val="tx1">
                              <a:lumMod val="85000"/>
                              <a:lumOff val="15000"/>
                            </a:schemeClr>
                          </a:solidFill>
                          <a:latin typeface="Cambria Math" panose="02040503050406030204" pitchFamily="18" charset="0"/>
                        </a:rPr>
                        <m:t>𝑬𝒔𝒕𝒂𝒃𝒊𝒍𝒊𝒅𝒂𝒅</m:t>
                      </m:r>
                      <m:r>
                        <a:rPr lang="es-ES" sz="2000" b="1" i="1">
                          <a:solidFill>
                            <a:schemeClr val="tx1">
                              <a:lumMod val="85000"/>
                              <a:lumOff val="15000"/>
                            </a:schemeClr>
                          </a:solidFill>
                          <a:latin typeface="Cambria Math" panose="02040503050406030204" pitchFamily="18" charset="0"/>
                        </a:rPr>
                        <m:t>_</m:t>
                      </m:r>
                      <m:sSub>
                        <m:sSubPr>
                          <m:ctrlPr>
                            <a:rPr lang="es-ES" sz="2000" b="1" i="1" smtClean="0">
                              <a:solidFill>
                                <a:schemeClr val="tx1">
                                  <a:lumMod val="85000"/>
                                  <a:lumOff val="15000"/>
                                </a:schemeClr>
                              </a:solidFill>
                              <a:latin typeface="Cambria Math" panose="02040503050406030204" pitchFamily="18" charset="0"/>
                            </a:rPr>
                          </m:ctrlPr>
                        </m:sSubPr>
                        <m:e>
                          <m:r>
                            <a:rPr lang="es-ES" sz="2000" b="1" i="1" smtClean="0">
                              <a:solidFill>
                                <a:schemeClr val="tx1">
                                  <a:lumMod val="85000"/>
                                  <a:lumOff val="15000"/>
                                </a:schemeClr>
                              </a:solidFill>
                              <a:latin typeface="Cambria Math" panose="02040503050406030204" pitchFamily="18" charset="0"/>
                            </a:rPr>
                            <m:t>𝑵𝒐𝒓𝒎𝒂𝒍𝒊𝒛𝒂𝒅𝒂</m:t>
                          </m:r>
                        </m:e>
                        <m:sub>
                          <m:r>
                            <a:rPr lang="es-ES" sz="2000" b="1" i="1" smtClean="0">
                              <a:solidFill>
                                <a:schemeClr val="tx1">
                                  <a:lumMod val="85000"/>
                                  <a:lumOff val="15000"/>
                                </a:schemeClr>
                              </a:solidFill>
                              <a:latin typeface="Cambria Math" panose="02040503050406030204" pitchFamily="18" charset="0"/>
                            </a:rPr>
                            <m:t>𝒄</m:t>
                          </m:r>
                          <m:r>
                            <a:rPr lang="es-ES" sz="2000" b="1" i="1" smtClean="0">
                              <a:solidFill>
                                <a:schemeClr val="tx1">
                                  <a:lumMod val="85000"/>
                                  <a:lumOff val="15000"/>
                                </a:schemeClr>
                              </a:solidFill>
                              <a:latin typeface="Cambria Math" panose="02040503050406030204" pitchFamily="18" charset="0"/>
                            </a:rPr>
                            <m:t>,</m:t>
                          </m:r>
                          <m:r>
                            <a:rPr lang="es-ES" sz="2000" b="1" i="1" smtClean="0">
                              <a:solidFill>
                                <a:schemeClr val="tx1">
                                  <a:lumMod val="85000"/>
                                  <a:lumOff val="15000"/>
                                </a:schemeClr>
                              </a:solidFill>
                              <a:latin typeface="Cambria Math" panose="02040503050406030204" pitchFamily="18" charset="0"/>
                            </a:rPr>
                            <m:t>𝒈</m:t>
                          </m:r>
                        </m:sub>
                      </m:sSub>
                      <m:r>
                        <a:rPr lang="es-ES" sz="2000" b="1" i="1">
                          <a:solidFill>
                            <a:schemeClr val="tx1">
                              <a:lumMod val="85000"/>
                              <a:lumOff val="15000"/>
                            </a:schemeClr>
                          </a:solidFill>
                          <a:latin typeface="Cambria Math" panose="02040503050406030204" pitchFamily="18" charset="0"/>
                          <a:ea typeface="Cambria Math" panose="02040503050406030204" pitchFamily="18" charset="0"/>
                        </a:rPr>
                        <m:t>+</m:t>
                      </m:r>
                      <m:f>
                        <m:fPr>
                          <m:ctrlP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ctrlPr>
                        </m:fPr>
                        <m:num>
                          <m: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t>𝟏</m:t>
                          </m:r>
                        </m:num>
                        <m:den>
                          <m: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t>𝟐</m:t>
                          </m:r>
                        </m:den>
                      </m:f>
                      <m: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t>𝑽𝒂𝒓𝒊𝒂𝒃𝒊𝒍𝒊𝒅𝒂𝒅</m:t>
                      </m:r>
                      <m:r>
                        <a:rPr lang="es-ES" sz="2000" b="1" i="1">
                          <a:solidFill>
                            <a:schemeClr val="tx1">
                              <a:lumMod val="85000"/>
                              <a:lumOff val="15000"/>
                            </a:schemeClr>
                          </a:solidFill>
                          <a:latin typeface="Cambria Math" panose="02040503050406030204" pitchFamily="18" charset="0"/>
                          <a:ea typeface="Cambria Math" panose="02040503050406030204" pitchFamily="18" charset="0"/>
                        </a:rPr>
                        <m:t>_</m:t>
                      </m:r>
                      <m:sSub>
                        <m:sSubPr>
                          <m:ctrlP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ctrlPr>
                        </m:sSubPr>
                        <m:e>
                          <m: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t>𝑵𝒐𝒓𝒎𝒂𝒍𝒊𝒛𝒂𝒅𝒂</m:t>
                          </m:r>
                        </m:e>
                        <m:sub>
                          <m: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t>𝒄</m:t>
                          </m:r>
                          <m: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t>,</m:t>
                          </m:r>
                          <m:r>
                            <a:rPr lang="es-ES" sz="2000" b="1" i="1" smtClean="0">
                              <a:solidFill>
                                <a:schemeClr val="tx1">
                                  <a:lumMod val="85000"/>
                                  <a:lumOff val="15000"/>
                                </a:schemeClr>
                              </a:solidFill>
                              <a:latin typeface="Cambria Math" panose="02040503050406030204" pitchFamily="18" charset="0"/>
                              <a:ea typeface="Cambria Math" panose="02040503050406030204" pitchFamily="18" charset="0"/>
                            </a:rPr>
                            <m:t>𝒈</m:t>
                          </m:r>
                        </m:sub>
                      </m:sSub>
                    </m:oMath>
                  </m:oMathPara>
                </a14:m>
                <a:endParaRPr lang="es-MX" sz="2000" b="1" dirty="0">
                  <a:latin typeface="Montserrat" panose="00000500000000000000" pitchFamily="50" charset="0"/>
                </a:endParaRPr>
              </a:p>
              <a:p>
                <a:pPr marL="0" indent="0">
                  <a:lnSpc>
                    <a:spcPct val="150000"/>
                  </a:lnSpc>
                  <a:buNone/>
                </a:pPr>
                <a:r>
                  <a:rPr lang="es-MX" sz="2000" dirty="0"/>
                  <a:t>Consideraremos para cada ciudad </a:t>
                </a:r>
                <a14:m>
                  <m:oMath xmlns:m="http://schemas.openxmlformats.org/officeDocument/2006/math">
                    <m:r>
                      <a:rPr lang="es-MX" sz="2100" b="1" i="1" dirty="0" smtClean="0">
                        <a:latin typeface="Cambria Math" panose="02040503050406030204" pitchFamily="18" charset="0"/>
                      </a:rPr>
                      <m:t>𝒄</m:t>
                    </m:r>
                    <m:r>
                      <a:rPr lang="es-MX" sz="2400" b="1" i="1" dirty="0">
                        <a:solidFill>
                          <a:schemeClr val="tx1">
                            <a:lumMod val="85000"/>
                            <a:lumOff val="15000"/>
                          </a:schemeClr>
                        </a:solidFill>
                      </a:rPr>
                      <m:t> </m:t>
                    </m:r>
                  </m:oMath>
                </a14:m>
                <a:r>
                  <a:rPr lang="es-MX" sz="2000" dirty="0"/>
                  <a:t>y genérico </a:t>
                </a:r>
                <a14:m>
                  <m:oMath xmlns:m="http://schemas.openxmlformats.org/officeDocument/2006/math">
                    <m:r>
                      <a:rPr lang="es-MX" sz="2100" b="1" i="1" dirty="0" smtClean="0">
                        <a:latin typeface="Cambria Math" panose="02040503050406030204" pitchFamily="18" charset="0"/>
                      </a:rPr>
                      <m:t>𝒈</m:t>
                    </m:r>
                  </m:oMath>
                </a14:m>
                <a:r>
                  <a:rPr lang="es-MX" sz="2000" dirty="0"/>
                  <a:t> si su valor de índice es menor estricto que la media del mismo índice por genérico.</a:t>
                </a:r>
              </a:p>
              <a:p>
                <a:pPr marL="0" indent="0">
                  <a:lnSpc>
                    <a:spcPct val="150000"/>
                  </a:lnSpc>
                  <a:buNone/>
                </a:pPr>
                <a14:m>
                  <m:oMathPara xmlns:m="http://schemas.openxmlformats.org/officeDocument/2006/math">
                    <m:oMathParaPr>
                      <m:jc m:val="centerGroup"/>
                    </m:oMathParaPr>
                    <m:oMath xmlns:m="http://schemas.openxmlformats.org/officeDocument/2006/math">
                      <m:sSub>
                        <m:sSubPr>
                          <m:ctrlPr>
                            <a:rPr lang="es-ES" sz="2000" b="1" i="1">
                              <a:solidFill>
                                <a:schemeClr val="tx1">
                                  <a:lumMod val="85000"/>
                                  <a:lumOff val="15000"/>
                                </a:schemeClr>
                              </a:solidFill>
                              <a:latin typeface="Cambria Math" panose="02040503050406030204" pitchFamily="18" charset="0"/>
                            </a:rPr>
                          </m:ctrlPr>
                        </m:sSubPr>
                        <m:e>
                          <m:r>
                            <a:rPr lang="es-ES" sz="2000" b="1" i="1">
                              <a:solidFill>
                                <a:schemeClr val="tx1">
                                  <a:lumMod val="85000"/>
                                  <a:lumOff val="15000"/>
                                </a:schemeClr>
                              </a:solidFill>
                              <a:latin typeface="Cambria Math" panose="02040503050406030204" pitchFamily="18" charset="0"/>
                            </a:rPr>
                            <m:t>𝑰𝒏𝒅𝒊𝒄𝒆</m:t>
                          </m:r>
                          <m:r>
                            <a:rPr lang="es-ES" sz="2000" b="1" i="1" smtClean="0">
                              <a:solidFill>
                                <a:schemeClr val="tx1">
                                  <a:lumMod val="85000"/>
                                  <a:lumOff val="15000"/>
                                </a:schemeClr>
                              </a:solidFill>
                              <a:latin typeface="Cambria Math" panose="02040503050406030204" pitchFamily="18" charset="0"/>
                            </a:rPr>
                            <m:t>_</m:t>
                          </m:r>
                          <m:r>
                            <a:rPr lang="es-ES" sz="2000" b="1" i="1" smtClean="0">
                              <a:solidFill>
                                <a:schemeClr val="tx1">
                                  <a:lumMod val="85000"/>
                                  <a:lumOff val="15000"/>
                                </a:schemeClr>
                              </a:solidFill>
                              <a:latin typeface="Cambria Math" panose="02040503050406030204" pitchFamily="18" charset="0"/>
                            </a:rPr>
                            <m:t>𝑪𝒐𝒎𝒑𝒆𝒕𝒊𝒕𝒊𝒗𝒐</m:t>
                          </m:r>
                        </m:e>
                        <m:sub>
                          <m:r>
                            <a:rPr lang="es-ES" sz="2000" b="1" i="1">
                              <a:solidFill>
                                <a:schemeClr val="tx1">
                                  <a:lumMod val="85000"/>
                                  <a:lumOff val="15000"/>
                                </a:schemeClr>
                              </a:solidFill>
                              <a:latin typeface="Cambria Math" panose="02040503050406030204" pitchFamily="18" charset="0"/>
                            </a:rPr>
                            <m:t>𝒄</m:t>
                          </m:r>
                          <m:r>
                            <a:rPr lang="es-ES" sz="2000" b="1" i="1">
                              <a:solidFill>
                                <a:schemeClr val="tx1">
                                  <a:lumMod val="85000"/>
                                  <a:lumOff val="15000"/>
                                </a:schemeClr>
                              </a:solidFill>
                              <a:latin typeface="Cambria Math" panose="02040503050406030204" pitchFamily="18" charset="0"/>
                            </a:rPr>
                            <m:t>,</m:t>
                          </m:r>
                          <m:r>
                            <a:rPr lang="es-ES" sz="2000" b="1" i="1">
                              <a:solidFill>
                                <a:schemeClr val="tx1">
                                  <a:lumMod val="85000"/>
                                  <a:lumOff val="15000"/>
                                </a:schemeClr>
                              </a:solidFill>
                              <a:latin typeface="Cambria Math" panose="02040503050406030204" pitchFamily="18" charset="0"/>
                            </a:rPr>
                            <m:t>𝒈</m:t>
                          </m:r>
                        </m:sub>
                      </m:sSub>
                      <m:r>
                        <a:rPr lang="es-ES" sz="2000" b="1" i="1" dirty="0">
                          <a:solidFill>
                            <a:schemeClr val="tx1">
                              <a:lumMod val="85000"/>
                              <a:lumOff val="15000"/>
                            </a:schemeClr>
                          </a:solidFill>
                          <a:latin typeface="Cambria Math" panose="02040503050406030204" pitchFamily="18" charset="0"/>
                        </a:rPr>
                        <m:t>=</m:t>
                      </m:r>
                      <m:d>
                        <m:dPr>
                          <m:begChr m:val="{"/>
                          <m:endChr m:val=""/>
                          <m:ctrlPr>
                            <a:rPr lang="es-ES" sz="2000" b="1" i="1" dirty="0">
                              <a:solidFill>
                                <a:schemeClr val="tx1">
                                  <a:lumMod val="85000"/>
                                  <a:lumOff val="15000"/>
                                </a:schemeClr>
                              </a:solidFill>
                              <a:latin typeface="Cambria Math" panose="02040503050406030204" pitchFamily="18" charset="0"/>
                            </a:rPr>
                          </m:ctrlPr>
                        </m:dPr>
                        <m:e>
                          <m:eqArr>
                            <m:eqArrPr>
                              <m:ctrlPr>
                                <a:rPr lang="es-ES" sz="2000" b="1" i="1" dirty="0">
                                  <a:solidFill>
                                    <a:schemeClr val="tx1">
                                      <a:lumMod val="85000"/>
                                      <a:lumOff val="15000"/>
                                    </a:schemeClr>
                                  </a:solidFill>
                                  <a:latin typeface="Cambria Math" panose="02040503050406030204" pitchFamily="18" charset="0"/>
                                </a:rPr>
                              </m:ctrlPr>
                            </m:eqArrPr>
                            <m:e>
                              <m:r>
                                <a:rPr lang="es-ES" sz="2000" b="1" i="1" dirty="0">
                                  <a:solidFill>
                                    <a:schemeClr val="tx1">
                                      <a:lumMod val="85000"/>
                                      <a:lumOff val="15000"/>
                                    </a:schemeClr>
                                  </a:solidFill>
                                  <a:latin typeface="Cambria Math" panose="02040503050406030204" pitchFamily="18" charset="0"/>
                                </a:rPr>
                                <m:t>𝟏</m:t>
                              </m:r>
                              <m:r>
                                <a:rPr lang="es-ES" sz="2000" b="1" i="1" dirty="0">
                                  <a:solidFill>
                                    <a:schemeClr val="tx1">
                                      <a:lumMod val="85000"/>
                                      <a:lumOff val="15000"/>
                                    </a:schemeClr>
                                  </a:solidFill>
                                  <a:latin typeface="Cambria Math" panose="02040503050406030204" pitchFamily="18" charset="0"/>
                                </a:rPr>
                                <m:t>, </m:t>
                              </m:r>
                              <m:r>
                                <a:rPr lang="es-ES" sz="2000" b="1" i="1" dirty="0">
                                  <a:solidFill>
                                    <a:schemeClr val="tx1">
                                      <a:lumMod val="85000"/>
                                      <a:lumOff val="15000"/>
                                    </a:schemeClr>
                                  </a:solidFill>
                                  <a:latin typeface="Cambria Math" panose="02040503050406030204" pitchFamily="18" charset="0"/>
                                </a:rPr>
                                <m:t>𝒔𝒊</m:t>
                              </m:r>
                              <m:r>
                                <a:rPr lang="es-ES" sz="2000" b="1" i="1" dirty="0">
                                  <a:solidFill>
                                    <a:schemeClr val="tx1">
                                      <a:lumMod val="85000"/>
                                      <a:lumOff val="15000"/>
                                    </a:schemeClr>
                                  </a:solidFill>
                                  <a:latin typeface="Cambria Math" panose="02040503050406030204" pitchFamily="18" charset="0"/>
                                </a:rPr>
                                <m:t> </m:t>
                              </m:r>
                              <m:r>
                                <a:rPr lang="es-ES" sz="2000" b="1" i="1" dirty="0" smtClean="0">
                                  <a:solidFill>
                                    <a:schemeClr val="tx1">
                                      <a:lumMod val="85000"/>
                                      <a:lumOff val="15000"/>
                                    </a:schemeClr>
                                  </a:solidFill>
                                  <a:latin typeface="Cambria Math" panose="02040503050406030204" pitchFamily="18" charset="0"/>
                                </a:rPr>
                                <m:t>𝑰𝒏𝒅𝒊𝒄</m:t>
                              </m:r>
                              <m:sSub>
                                <m:sSubPr>
                                  <m:ctrlPr>
                                    <a:rPr lang="es-ES" sz="2000" b="1" i="1" dirty="0" smtClean="0">
                                      <a:solidFill>
                                        <a:schemeClr val="tx1">
                                          <a:lumMod val="85000"/>
                                          <a:lumOff val="15000"/>
                                        </a:schemeClr>
                                      </a:solidFill>
                                      <a:latin typeface="Cambria Math" panose="02040503050406030204" pitchFamily="18" charset="0"/>
                                    </a:rPr>
                                  </m:ctrlPr>
                                </m:sSubPr>
                                <m:e>
                                  <m:r>
                                    <a:rPr lang="es-ES" sz="2000" b="1" i="1" dirty="0" smtClean="0">
                                      <a:solidFill>
                                        <a:schemeClr val="tx1">
                                          <a:lumMod val="85000"/>
                                          <a:lumOff val="15000"/>
                                        </a:schemeClr>
                                      </a:solidFill>
                                      <a:latin typeface="Cambria Math" panose="02040503050406030204" pitchFamily="18" charset="0"/>
                                    </a:rPr>
                                    <m:t>𝒆</m:t>
                                  </m:r>
                                </m:e>
                                <m:sub>
                                  <m:r>
                                    <a:rPr lang="es-ES" sz="2000" b="1" i="1" dirty="0">
                                      <a:solidFill>
                                        <a:schemeClr val="tx1">
                                          <a:lumMod val="85000"/>
                                          <a:lumOff val="15000"/>
                                        </a:schemeClr>
                                      </a:solidFill>
                                      <a:latin typeface="Cambria Math" panose="02040503050406030204" pitchFamily="18" charset="0"/>
                                    </a:rPr>
                                    <m:t>𝒄</m:t>
                                  </m:r>
                                  <m:r>
                                    <a:rPr lang="es-ES" sz="2000" b="1" i="1" dirty="0">
                                      <a:solidFill>
                                        <a:schemeClr val="tx1">
                                          <a:lumMod val="85000"/>
                                          <a:lumOff val="15000"/>
                                        </a:schemeClr>
                                      </a:solidFill>
                                      <a:latin typeface="Cambria Math" panose="02040503050406030204" pitchFamily="18" charset="0"/>
                                    </a:rPr>
                                    <m:t>,</m:t>
                                  </m:r>
                                  <m:r>
                                    <a:rPr lang="es-ES" sz="2000" b="1" i="1" dirty="0">
                                      <a:solidFill>
                                        <a:schemeClr val="tx1">
                                          <a:lumMod val="85000"/>
                                          <a:lumOff val="15000"/>
                                        </a:schemeClr>
                                      </a:solidFill>
                                      <a:latin typeface="Cambria Math" panose="02040503050406030204" pitchFamily="18" charset="0"/>
                                    </a:rPr>
                                    <m:t>𝒈</m:t>
                                  </m:r>
                                </m:sub>
                              </m:sSub>
                              <m:r>
                                <a:rPr lang="es-ES" sz="2000" b="1" i="1" dirty="0">
                                  <a:solidFill>
                                    <a:schemeClr val="tx1">
                                      <a:lumMod val="85000"/>
                                      <a:lumOff val="15000"/>
                                    </a:schemeClr>
                                  </a:solidFill>
                                  <a:latin typeface="Cambria Math" panose="02040503050406030204" pitchFamily="18" charset="0"/>
                                </a:rPr>
                                <m:t>&lt;</m:t>
                              </m:r>
                              <m:r>
                                <a:rPr lang="es-ES" sz="2000" b="1" i="1" dirty="0">
                                  <a:solidFill>
                                    <a:schemeClr val="tx1">
                                      <a:lumMod val="85000"/>
                                      <a:lumOff val="15000"/>
                                    </a:schemeClr>
                                  </a:solidFill>
                                  <a:latin typeface="Cambria Math" panose="02040503050406030204" pitchFamily="18" charset="0"/>
                                </a:rPr>
                                <m:t>𝑴𝒆𝒅𝒊𝒂</m:t>
                              </m:r>
                              <m:r>
                                <a:rPr lang="es-ES" sz="2000" b="1" i="1" dirty="0">
                                  <a:solidFill>
                                    <a:schemeClr val="tx1">
                                      <a:lumMod val="85000"/>
                                      <a:lumOff val="15000"/>
                                    </a:schemeClr>
                                  </a:solidFill>
                                  <a:latin typeface="Cambria Math" panose="02040503050406030204" pitchFamily="18" charset="0"/>
                                </a:rPr>
                                <m:t>_</m:t>
                              </m:r>
                              <m:r>
                                <a:rPr lang="es-ES" sz="2000" b="1" i="1" dirty="0" smtClean="0">
                                  <a:solidFill>
                                    <a:schemeClr val="tx1">
                                      <a:lumMod val="85000"/>
                                      <a:lumOff val="15000"/>
                                    </a:schemeClr>
                                  </a:solidFill>
                                  <a:latin typeface="Cambria Math" panose="02040503050406030204" pitchFamily="18" charset="0"/>
                                </a:rPr>
                                <m:t>𝑰𝒏𝒅𝒊𝒄</m:t>
                              </m:r>
                              <m:sSub>
                                <m:sSubPr>
                                  <m:ctrlPr>
                                    <a:rPr lang="es-ES" sz="2000" b="1" i="1" dirty="0">
                                      <a:solidFill>
                                        <a:schemeClr val="tx1">
                                          <a:lumMod val="85000"/>
                                          <a:lumOff val="15000"/>
                                        </a:schemeClr>
                                      </a:solidFill>
                                      <a:latin typeface="Cambria Math" panose="02040503050406030204" pitchFamily="18" charset="0"/>
                                    </a:rPr>
                                  </m:ctrlPr>
                                </m:sSubPr>
                                <m:e>
                                  <m:r>
                                    <a:rPr lang="es-ES" sz="2000" b="1" i="1" dirty="0" smtClean="0">
                                      <a:solidFill>
                                        <a:schemeClr val="tx1">
                                          <a:lumMod val="85000"/>
                                          <a:lumOff val="15000"/>
                                        </a:schemeClr>
                                      </a:solidFill>
                                      <a:latin typeface="Cambria Math" panose="02040503050406030204" pitchFamily="18" charset="0"/>
                                    </a:rPr>
                                    <m:t>𝒆</m:t>
                                  </m:r>
                                </m:e>
                                <m:sub>
                                  <m:r>
                                    <a:rPr lang="es-ES" sz="2000" b="1" i="1" dirty="0">
                                      <a:solidFill>
                                        <a:schemeClr val="tx1">
                                          <a:lumMod val="85000"/>
                                          <a:lumOff val="15000"/>
                                        </a:schemeClr>
                                      </a:solidFill>
                                      <a:latin typeface="Cambria Math" panose="02040503050406030204" pitchFamily="18" charset="0"/>
                                    </a:rPr>
                                    <m:t>𝒈</m:t>
                                  </m:r>
                                </m:sub>
                              </m:sSub>
                            </m:e>
                            <m:e>
                              <m:r>
                                <a:rPr lang="es-ES" sz="2000" b="1" i="1" dirty="0">
                                  <a:solidFill>
                                    <a:schemeClr val="tx1">
                                      <a:lumMod val="85000"/>
                                      <a:lumOff val="15000"/>
                                    </a:schemeClr>
                                  </a:solidFill>
                                  <a:latin typeface="Cambria Math" panose="02040503050406030204" pitchFamily="18" charset="0"/>
                                </a:rPr>
                                <m:t>𝟎</m:t>
                              </m:r>
                              <m:r>
                                <a:rPr lang="es-ES" sz="2000" b="1" i="1" dirty="0">
                                  <a:solidFill>
                                    <a:schemeClr val="tx1">
                                      <a:lumMod val="85000"/>
                                      <a:lumOff val="15000"/>
                                    </a:schemeClr>
                                  </a:solidFill>
                                  <a:latin typeface="Cambria Math" panose="02040503050406030204" pitchFamily="18" charset="0"/>
                                </a:rPr>
                                <m:t>, </m:t>
                              </m:r>
                              <m:r>
                                <a:rPr lang="es-ES" sz="2000" b="1" i="1" dirty="0">
                                  <a:solidFill>
                                    <a:schemeClr val="tx1">
                                      <a:lumMod val="85000"/>
                                      <a:lumOff val="15000"/>
                                    </a:schemeClr>
                                  </a:solidFill>
                                  <a:latin typeface="Cambria Math" panose="02040503050406030204" pitchFamily="18" charset="0"/>
                                </a:rPr>
                                <m:t>𝒐𝒕𝒓𝒐</m:t>
                              </m:r>
                              <m:r>
                                <a:rPr lang="es-ES" sz="2000" b="1" i="1" dirty="0">
                                  <a:solidFill>
                                    <a:schemeClr val="tx1">
                                      <a:lumMod val="85000"/>
                                      <a:lumOff val="15000"/>
                                    </a:schemeClr>
                                  </a:solidFill>
                                  <a:latin typeface="Cambria Math" panose="02040503050406030204" pitchFamily="18" charset="0"/>
                                </a:rPr>
                                <m:t> </m:t>
                              </m:r>
                              <m:r>
                                <a:rPr lang="es-ES" sz="2000" b="1" i="1" dirty="0">
                                  <a:solidFill>
                                    <a:schemeClr val="tx1">
                                      <a:lumMod val="85000"/>
                                      <a:lumOff val="15000"/>
                                    </a:schemeClr>
                                  </a:solidFill>
                                  <a:latin typeface="Cambria Math" panose="02040503050406030204" pitchFamily="18" charset="0"/>
                                </a:rPr>
                                <m:t>𝒄𝒂𝒔𝒐</m:t>
                              </m:r>
                            </m:e>
                          </m:eqArr>
                        </m:e>
                      </m:d>
                    </m:oMath>
                  </m:oMathPara>
                </a14:m>
                <a:endParaRPr lang="es-MX" sz="2000" b="1" i="1" dirty="0">
                  <a:latin typeface="Montserrat" panose="00000500000000000000" pitchFamily="50" charset="0"/>
                </a:endParaRPr>
              </a:p>
              <a:p>
                <a:pPr marL="0" indent="0">
                  <a:buNone/>
                </a:pPr>
                <a:endParaRPr lang="es-MX" sz="2000" dirty="0"/>
              </a:p>
            </p:txBody>
          </p:sp>
        </mc:Choice>
        <mc:Fallback>
          <p:sp>
            <p:nvSpPr>
              <p:cNvPr id="3" name="Content Placeholder 2">
                <a:extLst>
                  <a:ext uri="{FF2B5EF4-FFF2-40B4-BE49-F238E27FC236}">
                    <a16:creationId xmlns:a16="http://schemas.microsoft.com/office/drawing/2014/main" id="{2DF9D151-82C0-43EE-B707-76C5539F5847}"/>
                  </a:ext>
                </a:extLst>
              </p:cNvPr>
              <p:cNvSpPr>
                <a:spLocks noGrp="1" noRot="1" noChangeAspect="1" noMove="1" noResize="1" noEditPoints="1" noAdjustHandles="1" noChangeArrowheads="1" noChangeShapeType="1" noTextEdit="1"/>
              </p:cNvSpPr>
              <p:nvPr>
                <p:ph idx="1"/>
              </p:nvPr>
            </p:nvSpPr>
            <p:spPr>
              <a:xfrm>
                <a:off x="602876" y="1385048"/>
                <a:ext cx="10986247" cy="5069540"/>
              </a:xfrm>
              <a:blipFill>
                <a:blip r:embed="rId2"/>
                <a:stretch>
                  <a:fillRect l="-388"/>
                </a:stretch>
              </a:blipFill>
            </p:spPr>
            <p:txBody>
              <a:bodyPr/>
              <a:lstStyle/>
              <a:p>
                <a:r>
                  <a:rPr lang="es-MX">
                    <a:noFill/>
                  </a:rPr>
                  <a:t> </a:t>
                </a:r>
              </a:p>
            </p:txBody>
          </p:sp>
        </mc:Fallback>
      </mc:AlternateContent>
      <p:sp>
        <p:nvSpPr>
          <p:cNvPr id="10" name="Rectangle 9">
            <a:extLst>
              <a:ext uri="{FF2B5EF4-FFF2-40B4-BE49-F238E27FC236}">
                <a16:creationId xmlns:a16="http://schemas.microsoft.com/office/drawing/2014/main" id="{868B6BF5-B70A-419F-B2C6-43CDCD8BF866}"/>
              </a:ext>
            </a:extLst>
          </p:cNvPr>
          <p:cNvSpPr/>
          <p:nvPr/>
        </p:nvSpPr>
        <p:spPr>
          <a:xfrm>
            <a:off x="0" y="0"/>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9" name="Title 1">
            <a:extLst>
              <a:ext uri="{FF2B5EF4-FFF2-40B4-BE49-F238E27FC236}">
                <a16:creationId xmlns:a16="http://schemas.microsoft.com/office/drawing/2014/main" id="{EE21CE38-D207-4FDF-B33B-A0F257B46BCA}"/>
              </a:ext>
            </a:extLst>
          </p:cNvPr>
          <p:cNvSpPr txBox="1">
            <a:spLocks/>
          </p:cNvSpPr>
          <p:nvPr/>
        </p:nvSpPr>
        <p:spPr>
          <a:xfrm>
            <a:off x="602876" y="-133709"/>
            <a:ext cx="10986247" cy="145075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b="1" dirty="0">
                <a:solidFill>
                  <a:schemeClr val="bg1"/>
                </a:solidFill>
                <a:latin typeface="Montserrat"/>
              </a:rPr>
              <a:t>Opción 2. Desarrollo</a:t>
            </a:r>
          </a:p>
        </p:txBody>
      </p:sp>
    </p:spTree>
    <p:extLst>
      <p:ext uri="{BB962C8B-B14F-4D97-AF65-F5344CB8AC3E}">
        <p14:creationId xmlns:p14="http://schemas.microsoft.com/office/powerpoint/2010/main" val="18400430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68B6BF5-B70A-419F-B2C6-43CDCD8BF866}"/>
              </a:ext>
            </a:extLst>
          </p:cNvPr>
          <p:cNvSpPr/>
          <p:nvPr/>
        </p:nvSpPr>
        <p:spPr>
          <a:xfrm>
            <a:off x="0" y="0"/>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9" name="Title 1">
            <a:extLst>
              <a:ext uri="{FF2B5EF4-FFF2-40B4-BE49-F238E27FC236}">
                <a16:creationId xmlns:a16="http://schemas.microsoft.com/office/drawing/2014/main" id="{EE21CE38-D207-4FDF-B33B-A0F257B46BCA}"/>
              </a:ext>
            </a:extLst>
          </p:cNvPr>
          <p:cNvSpPr txBox="1">
            <a:spLocks/>
          </p:cNvSpPr>
          <p:nvPr/>
        </p:nvSpPr>
        <p:spPr>
          <a:xfrm>
            <a:off x="602876" y="-133709"/>
            <a:ext cx="10986247" cy="145075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b="1" dirty="0">
                <a:solidFill>
                  <a:schemeClr val="bg1"/>
                </a:solidFill>
                <a:latin typeface="Montserrat"/>
              </a:rPr>
              <a:t>Opción 2. Desarrollo</a:t>
            </a:r>
          </a:p>
        </p:txBody>
      </p:sp>
      <p:pic>
        <p:nvPicPr>
          <p:cNvPr id="5" name="Picture 4">
            <a:extLst>
              <a:ext uri="{FF2B5EF4-FFF2-40B4-BE49-F238E27FC236}">
                <a16:creationId xmlns:a16="http://schemas.microsoft.com/office/drawing/2014/main" id="{E9D249E9-3477-498B-B18B-506AD194EBE1}"/>
              </a:ext>
            </a:extLst>
          </p:cNvPr>
          <p:cNvPicPr>
            <a:picLocks noChangeAspect="1"/>
          </p:cNvPicPr>
          <p:nvPr/>
        </p:nvPicPr>
        <p:blipFill>
          <a:blip r:embed="rId2"/>
          <a:stretch>
            <a:fillRect/>
          </a:stretch>
        </p:blipFill>
        <p:spPr>
          <a:xfrm>
            <a:off x="602876" y="4197771"/>
            <a:ext cx="6528996" cy="2367134"/>
          </a:xfrm>
          <a:prstGeom prst="rect">
            <a:avLst/>
          </a:prstGeom>
        </p:spPr>
      </p:pic>
      <mc:AlternateContent xmlns:mc="http://schemas.openxmlformats.org/markup-compatibility/2006">
        <mc:Choice xmlns:a14="http://schemas.microsoft.com/office/drawing/2010/main" Requires="a14">
          <p:sp>
            <p:nvSpPr>
              <p:cNvPr id="11" name="Content Placeholder 2">
                <a:extLst>
                  <a:ext uri="{FF2B5EF4-FFF2-40B4-BE49-F238E27FC236}">
                    <a16:creationId xmlns:a16="http://schemas.microsoft.com/office/drawing/2014/main" id="{69EE3EFF-A333-449A-98C9-078F97C4B65A}"/>
                  </a:ext>
                </a:extLst>
              </p:cNvPr>
              <p:cNvSpPr txBox="1">
                <a:spLocks/>
              </p:cNvSpPr>
              <p:nvPr/>
            </p:nvSpPr>
            <p:spPr>
              <a:xfrm>
                <a:off x="589101" y="1337769"/>
                <a:ext cx="12087887" cy="2839281"/>
              </a:xfrm>
              <a:prstGeom prst="rect">
                <a:avLst/>
              </a:prstGeom>
            </p:spPr>
            <p:txBody>
              <a:bodyPr vert="horz" lIns="91440" tIns="45720" rIns="91440" bIns="45720" rtlCol="0">
                <a:normAutofit fontScale="92500" lnSpcReduction="20000"/>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14:m>
                  <m:oMath xmlns:m="http://schemas.openxmlformats.org/officeDocument/2006/math">
                    <m:r>
                      <a:rPr lang="es-ES" b="1" i="1" dirty="0" smtClean="0">
                        <a:solidFill>
                          <a:schemeClr val="tx1">
                            <a:lumMod val="85000"/>
                            <a:lumOff val="15000"/>
                          </a:schemeClr>
                        </a:solidFill>
                        <a:latin typeface="Cambria Math" panose="02040503050406030204" pitchFamily="18" charset="0"/>
                      </a:rPr>
                      <m:t>𝑬𝒔𝒕𝒂𝒃𝒊𝒍𝒊𝒅𝒂</m:t>
                    </m:r>
                    <m:sSub>
                      <m:sSubPr>
                        <m:ctrlPr>
                          <a:rPr lang="es-ES" b="1" i="1" dirty="0">
                            <a:solidFill>
                              <a:schemeClr val="tx1">
                                <a:lumMod val="85000"/>
                                <a:lumOff val="15000"/>
                              </a:schemeClr>
                            </a:solidFill>
                            <a:latin typeface="Cambria Math" panose="02040503050406030204" pitchFamily="18" charset="0"/>
                          </a:rPr>
                        </m:ctrlPr>
                      </m:sSubPr>
                      <m:e>
                        <m:r>
                          <a:rPr lang="es-ES" b="1" i="1" dirty="0">
                            <a:solidFill>
                              <a:schemeClr val="tx1">
                                <a:lumMod val="85000"/>
                                <a:lumOff val="15000"/>
                              </a:schemeClr>
                            </a:solidFill>
                            <a:latin typeface="Cambria Math" panose="02040503050406030204" pitchFamily="18" charset="0"/>
                          </a:rPr>
                          <m:t>𝒅</m:t>
                        </m:r>
                      </m:e>
                      <m:sub>
                        <m:r>
                          <a:rPr lang="es-ES" b="1" i="1" dirty="0">
                            <a:solidFill>
                              <a:schemeClr val="tx1">
                                <a:lumMod val="85000"/>
                                <a:lumOff val="15000"/>
                              </a:schemeClr>
                            </a:solidFill>
                            <a:latin typeface="Cambria Math" panose="02040503050406030204" pitchFamily="18" charset="0"/>
                          </a:rPr>
                          <m:t>𝒄</m:t>
                        </m:r>
                        <m:r>
                          <a:rPr lang="es-ES" b="1" i="1" dirty="0">
                            <a:solidFill>
                              <a:schemeClr val="tx1">
                                <a:lumMod val="85000"/>
                                <a:lumOff val="15000"/>
                              </a:schemeClr>
                            </a:solidFill>
                            <a:latin typeface="Cambria Math" panose="02040503050406030204" pitchFamily="18" charset="0"/>
                          </a:rPr>
                          <m:t>,</m:t>
                        </m:r>
                        <m:r>
                          <a:rPr lang="es-ES" b="1" i="1" dirty="0">
                            <a:solidFill>
                              <a:schemeClr val="tx1">
                                <a:lumMod val="85000"/>
                                <a:lumOff val="15000"/>
                              </a:schemeClr>
                            </a:solidFill>
                            <a:latin typeface="Cambria Math" panose="02040503050406030204" pitchFamily="18" charset="0"/>
                          </a:rPr>
                          <m:t>𝒈</m:t>
                        </m:r>
                      </m:sub>
                    </m:sSub>
                  </m:oMath>
                </a14:m>
                <a:r>
                  <a:rPr lang="es-MX" b="1" dirty="0">
                    <a:solidFill>
                      <a:schemeClr val="tx1">
                        <a:lumMod val="85000"/>
                        <a:lumOff val="15000"/>
                      </a:schemeClr>
                    </a:solidFill>
                  </a:rPr>
                  <a:t> </a:t>
                </a:r>
                <a:r>
                  <a:rPr lang="es-MX" dirty="0">
                    <a:solidFill>
                      <a:schemeClr val="tx1">
                        <a:lumMod val="85000"/>
                        <a:lumOff val="15000"/>
                      </a:schemeClr>
                    </a:solidFill>
                  </a:rPr>
                  <a:t>es la estabilidad de la ciudad </a:t>
                </a:r>
                <a14:m>
                  <m:oMath xmlns:m="http://schemas.openxmlformats.org/officeDocument/2006/math">
                    <m:r>
                      <a:rPr lang="es-MX" b="1" i="1" dirty="0" smtClean="0">
                        <a:solidFill>
                          <a:schemeClr val="tx1">
                            <a:lumMod val="85000"/>
                            <a:lumOff val="15000"/>
                          </a:schemeClr>
                        </a:solidFill>
                        <a:latin typeface="Cambria Math" panose="02040503050406030204" pitchFamily="18" charset="0"/>
                      </a:rPr>
                      <m:t>𝒄</m:t>
                    </m:r>
                  </m:oMath>
                </a14:m>
                <a:r>
                  <a:rPr lang="es-MX" b="1" dirty="0">
                    <a:solidFill>
                      <a:schemeClr val="tx1">
                        <a:lumMod val="85000"/>
                        <a:lumOff val="15000"/>
                      </a:schemeClr>
                    </a:solidFill>
                  </a:rPr>
                  <a:t> </a:t>
                </a:r>
                <a:r>
                  <a:rPr lang="es-MX" dirty="0">
                    <a:solidFill>
                      <a:schemeClr val="tx1">
                        <a:lumMod val="85000"/>
                        <a:lumOff val="15000"/>
                      </a:schemeClr>
                    </a:solidFill>
                  </a:rPr>
                  <a:t>del genérico </a:t>
                </a:r>
                <a14:m>
                  <m:oMath xmlns:m="http://schemas.openxmlformats.org/officeDocument/2006/math">
                    <m:r>
                      <a:rPr lang="es-MX" b="1" i="1" dirty="0" smtClean="0">
                        <a:solidFill>
                          <a:schemeClr val="tx1">
                            <a:lumMod val="85000"/>
                            <a:lumOff val="15000"/>
                          </a:schemeClr>
                        </a:solidFill>
                        <a:latin typeface="Cambria Math" panose="02040503050406030204" pitchFamily="18" charset="0"/>
                      </a:rPr>
                      <m:t>𝒈</m:t>
                    </m:r>
                  </m:oMath>
                </a14:m>
                <a:r>
                  <a:rPr lang="es-MX" dirty="0">
                    <a:solidFill>
                      <a:schemeClr val="tx1">
                        <a:lumMod val="85000"/>
                        <a:lumOff val="15000"/>
                      </a:schemeClr>
                    </a:solidFill>
                  </a:rPr>
                  <a:t>.</a:t>
                </a:r>
              </a:p>
              <a:p>
                <a:pPr marL="0" indent="0">
                  <a:buNone/>
                </a:pPr>
                <a:r>
                  <a:rPr lang="es-ES" b="1" dirty="0">
                    <a:solidFill>
                      <a:schemeClr val="tx1">
                        <a:lumMod val="85000"/>
                        <a:lumOff val="15000"/>
                      </a:schemeClr>
                    </a:solidFill>
                  </a:rPr>
                  <a:t>Vari</a:t>
                </a:r>
                <a14:m>
                  <m:oMath xmlns:m="http://schemas.openxmlformats.org/officeDocument/2006/math">
                    <m:r>
                      <a:rPr lang="es-ES" b="1" i="1" dirty="0">
                        <a:solidFill>
                          <a:schemeClr val="tx1">
                            <a:lumMod val="85000"/>
                            <a:lumOff val="15000"/>
                          </a:schemeClr>
                        </a:solidFill>
                        <a:latin typeface="Cambria Math" panose="02040503050406030204" pitchFamily="18" charset="0"/>
                      </a:rPr>
                      <m:t>𝒂𝒃𝒊𝒍𝒊𝒅𝒂</m:t>
                    </m:r>
                    <m:sSub>
                      <m:sSubPr>
                        <m:ctrlPr>
                          <a:rPr lang="es-ES" b="1" i="1" dirty="0">
                            <a:solidFill>
                              <a:schemeClr val="tx1">
                                <a:lumMod val="85000"/>
                                <a:lumOff val="15000"/>
                              </a:schemeClr>
                            </a:solidFill>
                            <a:latin typeface="Cambria Math" panose="02040503050406030204" pitchFamily="18" charset="0"/>
                          </a:rPr>
                        </m:ctrlPr>
                      </m:sSubPr>
                      <m:e>
                        <m:r>
                          <a:rPr lang="es-ES" b="1" i="1" dirty="0">
                            <a:solidFill>
                              <a:schemeClr val="tx1">
                                <a:lumMod val="85000"/>
                                <a:lumOff val="15000"/>
                              </a:schemeClr>
                            </a:solidFill>
                            <a:latin typeface="Cambria Math" panose="02040503050406030204" pitchFamily="18" charset="0"/>
                          </a:rPr>
                          <m:t>𝒅</m:t>
                        </m:r>
                      </m:e>
                      <m:sub>
                        <m:r>
                          <a:rPr lang="es-ES" b="1" i="1" dirty="0">
                            <a:solidFill>
                              <a:schemeClr val="tx1">
                                <a:lumMod val="85000"/>
                                <a:lumOff val="15000"/>
                              </a:schemeClr>
                            </a:solidFill>
                            <a:latin typeface="Cambria Math" panose="02040503050406030204" pitchFamily="18" charset="0"/>
                          </a:rPr>
                          <m:t>𝒄</m:t>
                        </m:r>
                        <m:r>
                          <a:rPr lang="es-ES" b="1" i="1" dirty="0">
                            <a:solidFill>
                              <a:schemeClr val="tx1">
                                <a:lumMod val="85000"/>
                                <a:lumOff val="15000"/>
                              </a:schemeClr>
                            </a:solidFill>
                            <a:latin typeface="Cambria Math" panose="02040503050406030204" pitchFamily="18" charset="0"/>
                          </a:rPr>
                          <m:t>,</m:t>
                        </m:r>
                        <m:r>
                          <a:rPr lang="es-ES" b="1" i="1" dirty="0">
                            <a:solidFill>
                              <a:schemeClr val="tx1">
                                <a:lumMod val="85000"/>
                                <a:lumOff val="15000"/>
                              </a:schemeClr>
                            </a:solidFill>
                            <a:latin typeface="Cambria Math" panose="02040503050406030204" pitchFamily="18" charset="0"/>
                          </a:rPr>
                          <m:t>𝒈</m:t>
                        </m:r>
                      </m:sub>
                    </m:sSub>
                  </m:oMath>
                </a14:m>
                <a:r>
                  <a:rPr lang="es-MX" b="1" dirty="0">
                    <a:solidFill>
                      <a:schemeClr val="tx1">
                        <a:lumMod val="85000"/>
                        <a:lumOff val="15000"/>
                      </a:schemeClr>
                    </a:solidFill>
                  </a:rPr>
                  <a:t> </a:t>
                </a:r>
                <a:r>
                  <a:rPr lang="es-MX" dirty="0">
                    <a:solidFill>
                      <a:schemeClr val="tx1">
                        <a:lumMod val="85000"/>
                        <a:lumOff val="15000"/>
                      </a:schemeClr>
                    </a:solidFill>
                  </a:rPr>
                  <a:t>es la variabilidad de la ciudad </a:t>
                </a:r>
                <a14:m>
                  <m:oMath xmlns:m="http://schemas.openxmlformats.org/officeDocument/2006/math">
                    <m:r>
                      <a:rPr lang="es-MX" b="1" i="1" dirty="0">
                        <a:solidFill>
                          <a:schemeClr val="tx1">
                            <a:lumMod val="85000"/>
                            <a:lumOff val="15000"/>
                          </a:schemeClr>
                        </a:solidFill>
                        <a:latin typeface="Cambria Math" panose="02040503050406030204" pitchFamily="18" charset="0"/>
                      </a:rPr>
                      <m:t>𝒄</m:t>
                    </m:r>
                  </m:oMath>
                </a14:m>
                <a:r>
                  <a:rPr lang="es-MX" b="1" dirty="0">
                    <a:solidFill>
                      <a:schemeClr val="tx1">
                        <a:lumMod val="85000"/>
                        <a:lumOff val="15000"/>
                      </a:schemeClr>
                    </a:solidFill>
                  </a:rPr>
                  <a:t> </a:t>
                </a:r>
                <a:r>
                  <a:rPr lang="es-MX" dirty="0">
                    <a:solidFill>
                      <a:schemeClr val="tx1">
                        <a:lumMod val="85000"/>
                        <a:lumOff val="15000"/>
                      </a:schemeClr>
                    </a:solidFill>
                  </a:rPr>
                  <a:t>del genérico </a:t>
                </a:r>
                <a14:m>
                  <m:oMath xmlns:m="http://schemas.openxmlformats.org/officeDocument/2006/math">
                    <m:r>
                      <a:rPr lang="es-MX" b="1" i="1" dirty="0">
                        <a:solidFill>
                          <a:schemeClr val="tx1">
                            <a:lumMod val="85000"/>
                            <a:lumOff val="15000"/>
                          </a:schemeClr>
                        </a:solidFill>
                        <a:latin typeface="Cambria Math" panose="02040503050406030204" pitchFamily="18" charset="0"/>
                      </a:rPr>
                      <m:t>𝒈</m:t>
                    </m:r>
                  </m:oMath>
                </a14:m>
                <a:r>
                  <a:rPr lang="es-MX" dirty="0">
                    <a:solidFill>
                      <a:schemeClr val="tx1">
                        <a:lumMod val="85000"/>
                        <a:lumOff val="15000"/>
                      </a:schemeClr>
                    </a:solidFill>
                  </a:rPr>
                  <a:t>.</a:t>
                </a:r>
                <a:endParaRPr lang="es-MX" b="1" dirty="0">
                  <a:solidFill>
                    <a:schemeClr val="tx1">
                      <a:lumMod val="85000"/>
                      <a:lumOff val="15000"/>
                    </a:schemeClr>
                  </a:solidFill>
                </a:endParaRPr>
              </a:p>
              <a:p>
                <a:pPr marL="0" indent="0">
                  <a:buNone/>
                </a:pPr>
                <a14:m>
                  <m:oMath xmlns:m="http://schemas.openxmlformats.org/officeDocument/2006/math">
                    <m:r>
                      <a:rPr lang="es-ES" b="1" i="1" dirty="0">
                        <a:solidFill>
                          <a:schemeClr val="tx1">
                            <a:lumMod val="85000"/>
                            <a:lumOff val="15000"/>
                          </a:schemeClr>
                        </a:solidFill>
                        <a:latin typeface="Cambria Math" panose="02040503050406030204" pitchFamily="18" charset="0"/>
                      </a:rPr>
                      <m:t>𝑴𝒆𝒅𝒊𝒂</m:t>
                    </m:r>
                    <m:r>
                      <a:rPr lang="es-ES" b="1" i="1" dirty="0">
                        <a:solidFill>
                          <a:schemeClr val="tx1">
                            <a:lumMod val="85000"/>
                            <a:lumOff val="15000"/>
                          </a:schemeClr>
                        </a:solidFill>
                        <a:latin typeface="Cambria Math" panose="02040503050406030204" pitchFamily="18" charset="0"/>
                      </a:rPr>
                      <m:t>_</m:t>
                    </m:r>
                    <m:r>
                      <a:rPr lang="es-ES" b="1" i="1" dirty="0">
                        <a:solidFill>
                          <a:schemeClr val="tx1">
                            <a:lumMod val="85000"/>
                            <a:lumOff val="15000"/>
                          </a:schemeClr>
                        </a:solidFill>
                        <a:latin typeface="Cambria Math" panose="02040503050406030204" pitchFamily="18" charset="0"/>
                      </a:rPr>
                      <m:t>𝑬𝒔𝒕𝒂𝒃𝒊𝒍𝒊𝒅𝒂</m:t>
                    </m:r>
                    <m:sSub>
                      <m:sSubPr>
                        <m:ctrlPr>
                          <a:rPr lang="es-ES" b="1" i="1" dirty="0">
                            <a:solidFill>
                              <a:schemeClr val="tx1">
                                <a:lumMod val="85000"/>
                                <a:lumOff val="15000"/>
                              </a:schemeClr>
                            </a:solidFill>
                            <a:latin typeface="Cambria Math" panose="02040503050406030204" pitchFamily="18" charset="0"/>
                          </a:rPr>
                        </m:ctrlPr>
                      </m:sSubPr>
                      <m:e>
                        <m:r>
                          <a:rPr lang="es-ES" b="1" i="1" dirty="0">
                            <a:solidFill>
                              <a:schemeClr val="tx1">
                                <a:lumMod val="85000"/>
                                <a:lumOff val="15000"/>
                              </a:schemeClr>
                            </a:solidFill>
                            <a:latin typeface="Cambria Math" panose="02040503050406030204" pitchFamily="18" charset="0"/>
                          </a:rPr>
                          <m:t>𝒅</m:t>
                        </m:r>
                      </m:e>
                      <m:sub>
                        <m:r>
                          <a:rPr lang="es-ES" b="1" i="1" dirty="0">
                            <a:solidFill>
                              <a:schemeClr val="tx1">
                                <a:lumMod val="85000"/>
                                <a:lumOff val="15000"/>
                              </a:schemeClr>
                            </a:solidFill>
                            <a:latin typeface="Cambria Math" panose="02040503050406030204" pitchFamily="18" charset="0"/>
                          </a:rPr>
                          <m:t>𝒈</m:t>
                        </m:r>
                      </m:sub>
                    </m:sSub>
                  </m:oMath>
                </a14:m>
                <a:r>
                  <a:rPr lang="es-MX" b="1" dirty="0">
                    <a:solidFill>
                      <a:schemeClr val="tx1">
                        <a:lumMod val="85000"/>
                        <a:lumOff val="15000"/>
                      </a:schemeClr>
                    </a:solidFill>
                  </a:rPr>
                  <a:t> </a:t>
                </a:r>
                <a:r>
                  <a:rPr lang="es-MX" dirty="0">
                    <a:solidFill>
                      <a:schemeClr val="tx1">
                        <a:lumMod val="85000"/>
                        <a:lumOff val="15000"/>
                      </a:schemeClr>
                    </a:solidFill>
                  </a:rPr>
                  <a:t>es la media de las estabilidades de todas las ciudades para el genérico</a:t>
                </a:r>
                <a:r>
                  <a:rPr lang="es-MX" b="1" dirty="0">
                    <a:solidFill>
                      <a:schemeClr val="tx1">
                        <a:lumMod val="85000"/>
                        <a:lumOff val="15000"/>
                      </a:schemeClr>
                    </a:solidFill>
                  </a:rPr>
                  <a:t> </a:t>
                </a:r>
                <a14:m>
                  <m:oMath xmlns:m="http://schemas.openxmlformats.org/officeDocument/2006/math">
                    <m:r>
                      <a:rPr lang="es-MX" b="1" i="1" dirty="0" smtClean="0">
                        <a:solidFill>
                          <a:schemeClr val="tx1">
                            <a:lumMod val="85000"/>
                            <a:lumOff val="15000"/>
                          </a:schemeClr>
                        </a:solidFill>
                        <a:latin typeface="Cambria Math" panose="02040503050406030204" pitchFamily="18" charset="0"/>
                      </a:rPr>
                      <m:t>𝒈</m:t>
                    </m:r>
                  </m:oMath>
                </a14:m>
                <a:r>
                  <a:rPr lang="es-MX" dirty="0">
                    <a:solidFill>
                      <a:schemeClr val="tx1">
                        <a:lumMod val="85000"/>
                        <a:lumOff val="15000"/>
                      </a:schemeClr>
                    </a:solidFill>
                  </a:rPr>
                  <a:t>.</a:t>
                </a:r>
              </a:p>
              <a:p>
                <a:pPr marL="0" indent="0">
                  <a:buNone/>
                </a:pPr>
                <a14:m>
                  <m:oMath xmlns:m="http://schemas.openxmlformats.org/officeDocument/2006/math">
                    <m:r>
                      <a:rPr lang="es-ES" b="1" i="1" dirty="0" smtClean="0">
                        <a:solidFill>
                          <a:schemeClr val="tx1">
                            <a:lumMod val="85000"/>
                            <a:lumOff val="15000"/>
                          </a:schemeClr>
                        </a:solidFill>
                        <a:latin typeface="Cambria Math" panose="02040503050406030204" pitchFamily="18" charset="0"/>
                      </a:rPr>
                      <m:t>𝑫𝒔</m:t>
                    </m:r>
                    <m:r>
                      <a:rPr lang="es-ES" b="1" i="1" dirty="0">
                        <a:solidFill>
                          <a:schemeClr val="tx1">
                            <a:lumMod val="85000"/>
                            <a:lumOff val="15000"/>
                          </a:schemeClr>
                        </a:solidFill>
                        <a:latin typeface="Cambria Math" panose="02040503050406030204" pitchFamily="18" charset="0"/>
                      </a:rPr>
                      <m:t>_</m:t>
                    </m:r>
                    <m:r>
                      <a:rPr lang="es-ES" b="1" i="1" dirty="0">
                        <a:solidFill>
                          <a:schemeClr val="tx1">
                            <a:lumMod val="85000"/>
                            <a:lumOff val="15000"/>
                          </a:schemeClr>
                        </a:solidFill>
                        <a:latin typeface="Cambria Math" panose="02040503050406030204" pitchFamily="18" charset="0"/>
                      </a:rPr>
                      <m:t>𝑬𝒔𝒕𝒂𝒃𝒊𝒍𝒊𝒅𝒂</m:t>
                    </m:r>
                    <m:sSub>
                      <m:sSubPr>
                        <m:ctrlPr>
                          <a:rPr lang="es-ES" b="1" i="1" dirty="0">
                            <a:solidFill>
                              <a:schemeClr val="tx1">
                                <a:lumMod val="85000"/>
                                <a:lumOff val="15000"/>
                              </a:schemeClr>
                            </a:solidFill>
                            <a:latin typeface="Cambria Math" panose="02040503050406030204" pitchFamily="18" charset="0"/>
                          </a:rPr>
                        </m:ctrlPr>
                      </m:sSubPr>
                      <m:e>
                        <m:r>
                          <a:rPr lang="es-ES" b="1" i="1" dirty="0">
                            <a:solidFill>
                              <a:schemeClr val="tx1">
                                <a:lumMod val="85000"/>
                                <a:lumOff val="15000"/>
                              </a:schemeClr>
                            </a:solidFill>
                            <a:latin typeface="Cambria Math" panose="02040503050406030204" pitchFamily="18" charset="0"/>
                          </a:rPr>
                          <m:t>𝒅</m:t>
                        </m:r>
                      </m:e>
                      <m:sub>
                        <m:r>
                          <a:rPr lang="es-ES" b="1" i="1" dirty="0">
                            <a:solidFill>
                              <a:schemeClr val="tx1">
                                <a:lumMod val="85000"/>
                                <a:lumOff val="15000"/>
                              </a:schemeClr>
                            </a:solidFill>
                            <a:latin typeface="Cambria Math" panose="02040503050406030204" pitchFamily="18" charset="0"/>
                          </a:rPr>
                          <m:t>𝒈</m:t>
                        </m:r>
                      </m:sub>
                    </m:sSub>
                  </m:oMath>
                </a14:m>
                <a:r>
                  <a:rPr lang="es-MX" b="1" dirty="0">
                    <a:solidFill>
                      <a:schemeClr val="tx1">
                        <a:lumMod val="85000"/>
                        <a:lumOff val="15000"/>
                      </a:schemeClr>
                    </a:solidFill>
                  </a:rPr>
                  <a:t> </a:t>
                </a:r>
                <a:r>
                  <a:rPr lang="es-MX" dirty="0">
                    <a:solidFill>
                      <a:schemeClr val="tx1">
                        <a:lumMod val="85000"/>
                        <a:lumOff val="15000"/>
                      </a:schemeClr>
                    </a:solidFill>
                  </a:rPr>
                  <a:t>es la desviación estándar de las estabilidades de todas las ciudades para el genérico</a:t>
                </a:r>
                <a:r>
                  <a:rPr lang="es-MX" b="1" dirty="0">
                    <a:solidFill>
                      <a:schemeClr val="tx1">
                        <a:lumMod val="85000"/>
                        <a:lumOff val="15000"/>
                      </a:schemeClr>
                    </a:solidFill>
                  </a:rPr>
                  <a:t> </a:t>
                </a:r>
                <a14:m>
                  <m:oMath xmlns:m="http://schemas.openxmlformats.org/officeDocument/2006/math">
                    <m:r>
                      <a:rPr lang="es-MX" b="1" i="1" dirty="0">
                        <a:solidFill>
                          <a:schemeClr val="tx1">
                            <a:lumMod val="85000"/>
                            <a:lumOff val="15000"/>
                          </a:schemeClr>
                        </a:solidFill>
                        <a:latin typeface="Cambria Math" panose="02040503050406030204" pitchFamily="18" charset="0"/>
                      </a:rPr>
                      <m:t>𝒈</m:t>
                    </m:r>
                  </m:oMath>
                </a14:m>
                <a:r>
                  <a:rPr lang="es-MX" dirty="0">
                    <a:solidFill>
                      <a:schemeClr val="tx1">
                        <a:lumMod val="85000"/>
                        <a:lumOff val="15000"/>
                      </a:schemeClr>
                    </a:solidFill>
                  </a:rPr>
                  <a:t>.</a:t>
                </a:r>
              </a:p>
              <a:p>
                <a:pPr marL="0" indent="0">
                  <a:buNone/>
                </a:pPr>
                <a14:m>
                  <m:oMath xmlns:m="http://schemas.openxmlformats.org/officeDocument/2006/math">
                    <m:r>
                      <a:rPr lang="es-ES" b="1" i="1" dirty="0">
                        <a:solidFill>
                          <a:schemeClr val="tx1">
                            <a:lumMod val="85000"/>
                            <a:lumOff val="15000"/>
                          </a:schemeClr>
                        </a:solidFill>
                        <a:latin typeface="Cambria Math" panose="02040503050406030204" pitchFamily="18" charset="0"/>
                      </a:rPr>
                      <m:t>𝑴𝒆𝒅𝒊𝒂</m:t>
                    </m:r>
                    <m:r>
                      <a:rPr lang="es-ES" b="1" i="1" dirty="0">
                        <a:solidFill>
                          <a:schemeClr val="tx1">
                            <a:lumMod val="85000"/>
                            <a:lumOff val="15000"/>
                          </a:schemeClr>
                        </a:solidFill>
                        <a:latin typeface="Cambria Math" panose="02040503050406030204" pitchFamily="18" charset="0"/>
                      </a:rPr>
                      <m:t>_</m:t>
                    </m:r>
                    <m:r>
                      <a:rPr lang="es-ES" b="1" i="1" dirty="0" smtClean="0">
                        <a:solidFill>
                          <a:schemeClr val="tx1">
                            <a:lumMod val="85000"/>
                            <a:lumOff val="15000"/>
                          </a:schemeClr>
                        </a:solidFill>
                        <a:latin typeface="Cambria Math" panose="02040503050406030204" pitchFamily="18" charset="0"/>
                      </a:rPr>
                      <m:t>𝑽𝒂𝒓𝒊</m:t>
                    </m:r>
                    <m:r>
                      <a:rPr lang="es-ES" b="1" i="1" dirty="0">
                        <a:solidFill>
                          <a:schemeClr val="tx1">
                            <a:lumMod val="85000"/>
                            <a:lumOff val="15000"/>
                          </a:schemeClr>
                        </a:solidFill>
                        <a:latin typeface="Cambria Math" panose="02040503050406030204" pitchFamily="18" charset="0"/>
                      </a:rPr>
                      <m:t>𝒂𝒃𝒊𝒍𝒊𝒅𝒂</m:t>
                    </m:r>
                    <m:sSub>
                      <m:sSubPr>
                        <m:ctrlPr>
                          <a:rPr lang="es-ES" b="1" i="1" dirty="0">
                            <a:solidFill>
                              <a:schemeClr val="tx1">
                                <a:lumMod val="85000"/>
                                <a:lumOff val="15000"/>
                              </a:schemeClr>
                            </a:solidFill>
                            <a:latin typeface="Cambria Math" panose="02040503050406030204" pitchFamily="18" charset="0"/>
                          </a:rPr>
                        </m:ctrlPr>
                      </m:sSubPr>
                      <m:e>
                        <m:r>
                          <a:rPr lang="es-ES" b="1" i="1" dirty="0">
                            <a:solidFill>
                              <a:schemeClr val="tx1">
                                <a:lumMod val="85000"/>
                                <a:lumOff val="15000"/>
                              </a:schemeClr>
                            </a:solidFill>
                            <a:latin typeface="Cambria Math" panose="02040503050406030204" pitchFamily="18" charset="0"/>
                          </a:rPr>
                          <m:t>𝒅</m:t>
                        </m:r>
                      </m:e>
                      <m:sub>
                        <m:r>
                          <a:rPr lang="es-ES" b="1" i="1" dirty="0">
                            <a:solidFill>
                              <a:schemeClr val="tx1">
                                <a:lumMod val="85000"/>
                                <a:lumOff val="15000"/>
                              </a:schemeClr>
                            </a:solidFill>
                            <a:latin typeface="Cambria Math" panose="02040503050406030204" pitchFamily="18" charset="0"/>
                          </a:rPr>
                          <m:t>𝒈</m:t>
                        </m:r>
                      </m:sub>
                    </m:sSub>
                  </m:oMath>
                </a14:m>
                <a:r>
                  <a:rPr lang="es-MX" b="1" dirty="0">
                    <a:solidFill>
                      <a:schemeClr val="tx1">
                        <a:lumMod val="85000"/>
                        <a:lumOff val="15000"/>
                      </a:schemeClr>
                    </a:solidFill>
                  </a:rPr>
                  <a:t> </a:t>
                </a:r>
                <a:r>
                  <a:rPr lang="es-MX" dirty="0">
                    <a:solidFill>
                      <a:schemeClr val="tx1">
                        <a:lumMod val="85000"/>
                        <a:lumOff val="15000"/>
                      </a:schemeClr>
                    </a:solidFill>
                  </a:rPr>
                  <a:t>es la media de las variabilidades de todas las ciudades para el genérico</a:t>
                </a:r>
                <a:r>
                  <a:rPr lang="es-MX" b="1" dirty="0">
                    <a:solidFill>
                      <a:schemeClr val="tx1">
                        <a:lumMod val="85000"/>
                        <a:lumOff val="15000"/>
                      </a:schemeClr>
                    </a:solidFill>
                  </a:rPr>
                  <a:t> </a:t>
                </a:r>
                <a14:m>
                  <m:oMath xmlns:m="http://schemas.openxmlformats.org/officeDocument/2006/math">
                    <m:r>
                      <a:rPr lang="es-MX" b="1" i="1" dirty="0">
                        <a:solidFill>
                          <a:schemeClr val="tx1">
                            <a:lumMod val="85000"/>
                            <a:lumOff val="15000"/>
                          </a:schemeClr>
                        </a:solidFill>
                        <a:latin typeface="Cambria Math" panose="02040503050406030204" pitchFamily="18" charset="0"/>
                      </a:rPr>
                      <m:t>𝒈</m:t>
                    </m:r>
                  </m:oMath>
                </a14:m>
                <a:r>
                  <a:rPr lang="es-MX" dirty="0">
                    <a:solidFill>
                      <a:schemeClr val="tx1">
                        <a:lumMod val="85000"/>
                        <a:lumOff val="15000"/>
                      </a:schemeClr>
                    </a:solidFill>
                  </a:rPr>
                  <a:t>.</a:t>
                </a:r>
              </a:p>
              <a:p>
                <a:pPr marL="0" indent="0">
                  <a:buNone/>
                </a:pPr>
                <a14:m>
                  <m:oMath xmlns:m="http://schemas.openxmlformats.org/officeDocument/2006/math">
                    <m:r>
                      <a:rPr lang="es-ES" b="1" i="1" dirty="0">
                        <a:solidFill>
                          <a:schemeClr val="tx1">
                            <a:lumMod val="85000"/>
                            <a:lumOff val="15000"/>
                          </a:schemeClr>
                        </a:solidFill>
                        <a:latin typeface="Cambria Math" panose="02040503050406030204" pitchFamily="18" charset="0"/>
                      </a:rPr>
                      <m:t>𝑫𝒔</m:t>
                    </m:r>
                    <m:r>
                      <a:rPr lang="es-ES" b="1" i="1" dirty="0">
                        <a:solidFill>
                          <a:schemeClr val="tx1">
                            <a:lumMod val="85000"/>
                            <a:lumOff val="15000"/>
                          </a:schemeClr>
                        </a:solidFill>
                        <a:latin typeface="Cambria Math" panose="02040503050406030204" pitchFamily="18" charset="0"/>
                      </a:rPr>
                      <m:t>_</m:t>
                    </m:r>
                    <m:r>
                      <a:rPr lang="es-ES" b="1" i="1" dirty="0" smtClean="0">
                        <a:solidFill>
                          <a:schemeClr val="tx1">
                            <a:lumMod val="85000"/>
                            <a:lumOff val="15000"/>
                          </a:schemeClr>
                        </a:solidFill>
                        <a:latin typeface="Cambria Math" panose="02040503050406030204" pitchFamily="18" charset="0"/>
                      </a:rPr>
                      <m:t>𝑽𝒂𝒓𝒊</m:t>
                    </m:r>
                    <m:r>
                      <a:rPr lang="es-ES" b="1" i="1" dirty="0">
                        <a:solidFill>
                          <a:schemeClr val="tx1">
                            <a:lumMod val="85000"/>
                            <a:lumOff val="15000"/>
                          </a:schemeClr>
                        </a:solidFill>
                        <a:latin typeface="Cambria Math" panose="02040503050406030204" pitchFamily="18" charset="0"/>
                      </a:rPr>
                      <m:t>𝒂𝒃𝒊𝒍𝒊𝒅𝒂</m:t>
                    </m:r>
                    <m:sSub>
                      <m:sSubPr>
                        <m:ctrlPr>
                          <a:rPr lang="es-ES" b="1" i="1" dirty="0">
                            <a:solidFill>
                              <a:schemeClr val="tx1">
                                <a:lumMod val="85000"/>
                                <a:lumOff val="15000"/>
                              </a:schemeClr>
                            </a:solidFill>
                            <a:latin typeface="Cambria Math" panose="02040503050406030204" pitchFamily="18" charset="0"/>
                          </a:rPr>
                        </m:ctrlPr>
                      </m:sSubPr>
                      <m:e>
                        <m:r>
                          <a:rPr lang="es-ES" b="1" i="1" dirty="0">
                            <a:solidFill>
                              <a:schemeClr val="tx1">
                                <a:lumMod val="85000"/>
                                <a:lumOff val="15000"/>
                              </a:schemeClr>
                            </a:solidFill>
                            <a:latin typeface="Cambria Math" panose="02040503050406030204" pitchFamily="18" charset="0"/>
                          </a:rPr>
                          <m:t>𝒅</m:t>
                        </m:r>
                      </m:e>
                      <m:sub>
                        <m:r>
                          <a:rPr lang="es-ES" b="1" i="1" dirty="0">
                            <a:solidFill>
                              <a:schemeClr val="tx1">
                                <a:lumMod val="85000"/>
                                <a:lumOff val="15000"/>
                              </a:schemeClr>
                            </a:solidFill>
                            <a:latin typeface="Cambria Math" panose="02040503050406030204" pitchFamily="18" charset="0"/>
                          </a:rPr>
                          <m:t>𝒈</m:t>
                        </m:r>
                      </m:sub>
                    </m:sSub>
                  </m:oMath>
                </a14:m>
                <a:r>
                  <a:rPr lang="es-MX" b="1" dirty="0">
                    <a:solidFill>
                      <a:schemeClr val="tx1">
                        <a:lumMod val="85000"/>
                        <a:lumOff val="15000"/>
                      </a:schemeClr>
                    </a:solidFill>
                  </a:rPr>
                  <a:t> </a:t>
                </a:r>
                <a:r>
                  <a:rPr lang="es-MX" dirty="0">
                    <a:solidFill>
                      <a:schemeClr val="tx1">
                        <a:lumMod val="85000"/>
                        <a:lumOff val="15000"/>
                      </a:schemeClr>
                    </a:solidFill>
                  </a:rPr>
                  <a:t>es la desviación estándar de las variabilidades de todas las ciudades para el genérico</a:t>
                </a:r>
                <a:r>
                  <a:rPr lang="es-MX" b="1" dirty="0">
                    <a:solidFill>
                      <a:schemeClr val="tx1">
                        <a:lumMod val="85000"/>
                        <a:lumOff val="15000"/>
                      </a:schemeClr>
                    </a:solidFill>
                  </a:rPr>
                  <a:t> </a:t>
                </a:r>
                <a14:m>
                  <m:oMath xmlns:m="http://schemas.openxmlformats.org/officeDocument/2006/math">
                    <m:r>
                      <a:rPr lang="es-MX" b="1" i="1" dirty="0">
                        <a:solidFill>
                          <a:schemeClr val="tx1">
                            <a:lumMod val="85000"/>
                            <a:lumOff val="15000"/>
                          </a:schemeClr>
                        </a:solidFill>
                        <a:latin typeface="Cambria Math" panose="02040503050406030204" pitchFamily="18" charset="0"/>
                      </a:rPr>
                      <m:t>𝒈</m:t>
                    </m:r>
                  </m:oMath>
                </a14:m>
                <a:r>
                  <a:rPr lang="es-MX" dirty="0">
                    <a:solidFill>
                      <a:schemeClr val="tx1">
                        <a:lumMod val="85000"/>
                        <a:lumOff val="15000"/>
                      </a:schemeClr>
                    </a:solidFill>
                  </a:rPr>
                  <a:t>.</a:t>
                </a:r>
                <a:endParaRPr lang="es-MX" b="1" dirty="0">
                  <a:solidFill>
                    <a:schemeClr val="tx1">
                      <a:lumMod val="85000"/>
                      <a:lumOff val="15000"/>
                    </a:schemeClr>
                  </a:solidFill>
                </a:endParaRPr>
              </a:p>
              <a:p>
                <a:pPr marL="0" indent="0">
                  <a:buNone/>
                </a:pPr>
                <a14:m>
                  <m:oMath xmlns:m="http://schemas.openxmlformats.org/officeDocument/2006/math">
                    <m:r>
                      <a:rPr lang="es-ES" b="1" i="1" dirty="0" smtClean="0">
                        <a:solidFill>
                          <a:schemeClr val="tx1">
                            <a:lumMod val="85000"/>
                            <a:lumOff val="15000"/>
                          </a:schemeClr>
                        </a:solidFill>
                        <a:latin typeface="Cambria Math" panose="02040503050406030204" pitchFamily="18" charset="0"/>
                      </a:rPr>
                      <m:t>𝑴𝒆𝒅𝒊𝒂</m:t>
                    </m:r>
                    <m:r>
                      <a:rPr lang="es-ES" b="1" i="1" dirty="0" smtClean="0">
                        <a:solidFill>
                          <a:schemeClr val="tx1">
                            <a:lumMod val="85000"/>
                            <a:lumOff val="15000"/>
                          </a:schemeClr>
                        </a:solidFill>
                        <a:latin typeface="Cambria Math" panose="02040503050406030204" pitchFamily="18" charset="0"/>
                      </a:rPr>
                      <m:t>_</m:t>
                    </m:r>
                    <m:r>
                      <a:rPr lang="es-ES" b="1" i="1" dirty="0" smtClean="0">
                        <a:solidFill>
                          <a:schemeClr val="tx1">
                            <a:lumMod val="85000"/>
                            <a:lumOff val="15000"/>
                          </a:schemeClr>
                        </a:solidFill>
                        <a:latin typeface="Cambria Math" panose="02040503050406030204" pitchFamily="18" charset="0"/>
                      </a:rPr>
                      <m:t>𝑰𝒏𝒅𝒊𝒄</m:t>
                    </m:r>
                    <m:sSub>
                      <m:sSubPr>
                        <m:ctrlPr>
                          <a:rPr lang="es-ES" b="1" i="1" dirty="0" smtClean="0">
                            <a:solidFill>
                              <a:schemeClr val="tx1">
                                <a:lumMod val="85000"/>
                                <a:lumOff val="15000"/>
                              </a:schemeClr>
                            </a:solidFill>
                            <a:latin typeface="Cambria Math" panose="02040503050406030204" pitchFamily="18" charset="0"/>
                          </a:rPr>
                        </m:ctrlPr>
                      </m:sSubPr>
                      <m:e>
                        <m:r>
                          <a:rPr lang="es-ES" b="1" i="1" dirty="0" smtClean="0">
                            <a:solidFill>
                              <a:schemeClr val="tx1">
                                <a:lumMod val="85000"/>
                                <a:lumOff val="15000"/>
                              </a:schemeClr>
                            </a:solidFill>
                            <a:latin typeface="Cambria Math" panose="02040503050406030204" pitchFamily="18" charset="0"/>
                          </a:rPr>
                          <m:t>𝒆</m:t>
                        </m:r>
                      </m:e>
                      <m:sub>
                        <m:r>
                          <a:rPr lang="es-ES" b="1" i="1" dirty="0">
                            <a:solidFill>
                              <a:schemeClr val="tx1">
                                <a:lumMod val="85000"/>
                                <a:lumOff val="15000"/>
                              </a:schemeClr>
                            </a:solidFill>
                            <a:latin typeface="Cambria Math" panose="02040503050406030204" pitchFamily="18" charset="0"/>
                          </a:rPr>
                          <m:t>𝒈</m:t>
                        </m:r>
                      </m:sub>
                    </m:sSub>
                  </m:oMath>
                </a14:m>
                <a:r>
                  <a:rPr lang="es-MX" b="1" dirty="0">
                    <a:solidFill>
                      <a:schemeClr val="tx1">
                        <a:lumMod val="85000"/>
                        <a:lumOff val="15000"/>
                      </a:schemeClr>
                    </a:solidFill>
                  </a:rPr>
                  <a:t> </a:t>
                </a:r>
                <a:r>
                  <a:rPr lang="es-MX" dirty="0">
                    <a:solidFill>
                      <a:schemeClr val="tx1">
                        <a:lumMod val="85000"/>
                        <a:lumOff val="15000"/>
                      </a:schemeClr>
                    </a:solidFill>
                  </a:rPr>
                  <a:t>es la media del índice de todas las ciudades para el genérico</a:t>
                </a:r>
                <a:r>
                  <a:rPr lang="es-MX" b="1" dirty="0">
                    <a:solidFill>
                      <a:schemeClr val="tx1">
                        <a:lumMod val="85000"/>
                        <a:lumOff val="15000"/>
                      </a:schemeClr>
                    </a:solidFill>
                  </a:rPr>
                  <a:t> </a:t>
                </a:r>
                <a14:m>
                  <m:oMath xmlns:m="http://schemas.openxmlformats.org/officeDocument/2006/math">
                    <m:r>
                      <a:rPr lang="es-MX" b="1" i="1" dirty="0">
                        <a:solidFill>
                          <a:schemeClr val="tx1">
                            <a:lumMod val="85000"/>
                            <a:lumOff val="15000"/>
                          </a:schemeClr>
                        </a:solidFill>
                        <a:latin typeface="Cambria Math" panose="02040503050406030204" pitchFamily="18" charset="0"/>
                      </a:rPr>
                      <m:t>𝒈</m:t>
                    </m:r>
                  </m:oMath>
                </a14:m>
                <a:r>
                  <a:rPr lang="es-MX" dirty="0">
                    <a:solidFill>
                      <a:schemeClr val="tx1">
                        <a:lumMod val="85000"/>
                        <a:lumOff val="15000"/>
                      </a:schemeClr>
                    </a:solidFill>
                  </a:rPr>
                  <a:t>.</a:t>
                </a:r>
              </a:p>
              <a:p>
                <a:pPr marL="0" indent="0">
                  <a:buNone/>
                </a:pPr>
                <a:r>
                  <a:rPr lang="es-MX" dirty="0">
                    <a:solidFill>
                      <a:schemeClr val="tx1">
                        <a:lumMod val="85000"/>
                        <a:lumOff val="15000"/>
                      </a:schemeClr>
                    </a:solidFill>
                  </a:rPr>
                  <a:t>De esta forma nos centramos en aquellas ciudades que tengan valor 1 en la variable de </a:t>
                </a:r>
                <a:r>
                  <a:rPr lang="es-MX" dirty="0" err="1">
                    <a:solidFill>
                      <a:schemeClr val="tx1">
                        <a:lumMod val="85000"/>
                        <a:lumOff val="15000"/>
                      </a:schemeClr>
                    </a:solidFill>
                  </a:rPr>
                  <a:t>Indice_Competitivo</a:t>
                </a:r>
                <a:r>
                  <a:rPr lang="es-MX" dirty="0">
                    <a:solidFill>
                      <a:schemeClr val="tx1">
                        <a:lumMod val="85000"/>
                        <a:lumOff val="15000"/>
                      </a:schemeClr>
                    </a:solidFill>
                  </a:rPr>
                  <a:t>.</a:t>
                </a:r>
              </a:p>
              <a:p>
                <a:pPr marL="0" indent="0">
                  <a:buNone/>
                </a:pPr>
                <a:endParaRPr lang="es-MX" sz="2000" b="1" dirty="0">
                  <a:solidFill>
                    <a:schemeClr val="tx1">
                      <a:lumMod val="85000"/>
                      <a:lumOff val="15000"/>
                    </a:schemeClr>
                  </a:solidFill>
                </a:endParaRPr>
              </a:p>
            </p:txBody>
          </p:sp>
        </mc:Choice>
        <mc:Fallback>
          <p:sp>
            <p:nvSpPr>
              <p:cNvPr id="11" name="Content Placeholder 2">
                <a:extLst>
                  <a:ext uri="{FF2B5EF4-FFF2-40B4-BE49-F238E27FC236}">
                    <a16:creationId xmlns:a16="http://schemas.microsoft.com/office/drawing/2014/main" id="{69EE3EFF-A333-449A-98C9-078F97C4B65A}"/>
                  </a:ext>
                </a:extLst>
              </p:cNvPr>
              <p:cNvSpPr txBox="1">
                <a:spLocks noRot="1" noChangeAspect="1" noMove="1" noResize="1" noEditPoints="1" noAdjustHandles="1" noChangeArrowheads="1" noChangeShapeType="1" noTextEdit="1"/>
              </p:cNvSpPr>
              <p:nvPr/>
            </p:nvSpPr>
            <p:spPr>
              <a:xfrm>
                <a:off x="589101" y="1337769"/>
                <a:ext cx="12087887" cy="2839281"/>
              </a:xfrm>
              <a:prstGeom prst="rect">
                <a:avLst/>
              </a:prstGeom>
              <a:blipFill>
                <a:blip r:embed="rId3"/>
                <a:stretch>
                  <a:fillRect l="-353" t="-1931" b="-858"/>
                </a:stretch>
              </a:blipFill>
            </p:spPr>
            <p:txBody>
              <a:bodyPr/>
              <a:lstStyle/>
              <a:p>
                <a:r>
                  <a:rPr lang="es-MX">
                    <a:noFill/>
                  </a:rPr>
                  <a:t> </a:t>
                </a:r>
              </a:p>
            </p:txBody>
          </p:sp>
        </mc:Fallback>
      </mc:AlternateContent>
      <p:sp>
        <p:nvSpPr>
          <p:cNvPr id="14" name="Content Placeholder 2">
            <a:extLst>
              <a:ext uri="{FF2B5EF4-FFF2-40B4-BE49-F238E27FC236}">
                <a16:creationId xmlns:a16="http://schemas.microsoft.com/office/drawing/2014/main" id="{81615880-094B-4D52-87B1-8F05C2675CE3}"/>
              </a:ext>
            </a:extLst>
          </p:cNvPr>
          <p:cNvSpPr txBox="1">
            <a:spLocks/>
          </p:cNvSpPr>
          <p:nvPr/>
        </p:nvSpPr>
        <p:spPr>
          <a:xfrm>
            <a:off x="7131872" y="5813328"/>
            <a:ext cx="4316930" cy="772298"/>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spcBef>
                <a:spcPts val="0"/>
              </a:spcBef>
              <a:buFont typeface="Wingdings 3" charset="2"/>
              <a:buNone/>
            </a:pPr>
            <a:r>
              <a:rPr lang="es-MX" i="1" dirty="0">
                <a:solidFill>
                  <a:schemeClr val="bg1">
                    <a:lumMod val="50000"/>
                  </a:schemeClr>
                </a:solidFill>
              </a:rPr>
              <a:t>Algunas ciudades con todos sus valores para el genérico 002 Arroz</a:t>
            </a:r>
          </a:p>
        </p:txBody>
      </p:sp>
    </p:spTree>
    <p:extLst>
      <p:ext uri="{BB962C8B-B14F-4D97-AF65-F5344CB8AC3E}">
        <p14:creationId xmlns:p14="http://schemas.microsoft.com/office/powerpoint/2010/main" val="26055274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3DE1D3-E6AE-442B-951F-CFD8EE38EE2A}"/>
              </a:ext>
            </a:extLst>
          </p:cNvPr>
          <p:cNvSpPr/>
          <p:nvPr/>
        </p:nvSpPr>
        <p:spPr>
          <a:xfrm>
            <a:off x="0" y="0"/>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3" name="Title 1">
            <a:extLst>
              <a:ext uri="{FF2B5EF4-FFF2-40B4-BE49-F238E27FC236}">
                <a16:creationId xmlns:a16="http://schemas.microsoft.com/office/drawing/2014/main" id="{FC9CFB50-FB4E-452B-AE00-C0044EEEB33B}"/>
              </a:ext>
            </a:extLst>
          </p:cNvPr>
          <p:cNvSpPr txBox="1">
            <a:spLocks/>
          </p:cNvSpPr>
          <p:nvPr/>
        </p:nvSpPr>
        <p:spPr>
          <a:xfrm>
            <a:off x="602876" y="-133709"/>
            <a:ext cx="10986247" cy="145075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b="1" dirty="0">
                <a:solidFill>
                  <a:schemeClr val="bg1"/>
                </a:solidFill>
                <a:latin typeface="Montserrat"/>
              </a:rPr>
              <a:t>Opción 2. Resultados</a:t>
            </a:r>
          </a:p>
        </p:txBody>
      </p:sp>
      <p:sp>
        <p:nvSpPr>
          <p:cNvPr id="19" name="Content Placeholder 2">
            <a:extLst>
              <a:ext uri="{FF2B5EF4-FFF2-40B4-BE49-F238E27FC236}">
                <a16:creationId xmlns:a16="http://schemas.microsoft.com/office/drawing/2014/main" id="{EF23AED0-2DDD-40F0-A5A0-13AA03F2CF87}"/>
              </a:ext>
            </a:extLst>
          </p:cNvPr>
          <p:cNvSpPr txBox="1">
            <a:spLocks/>
          </p:cNvSpPr>
          <p:nvPr/>
        </p:nvSpPr>
        <p:spPr>
          <a:xfrm>
            <a:off x="7570694" y="1514292"/>
            <a:ext cx="4018429" cy="4788741"/>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lgn="just">
              <a:lnSpc>
                <a:spcPct val="150000"/>
              </a:lnSpc>
              <a:buFont typeface="Wingdings 3" charset="2"/>
              <a:buNone/>
            </a:pPr>
            <a:r>
              <a:rPr lang="es-ES" dirty="0">
                <a:solidFill>
                  <a:schemeClr val="tx1">
                    <a:lumMod val="85000"/>
                    <a:lumOff val="15000"/>
                  </a:schemeClr>
                </a:solidFill>
                <a:latin typeface="Montserrat" panose="00000500000000000000" pitchFamily="50" charset="0"/>
              </a:rPr>
              <a:t>Se puede visualizar al graficar las ciudades por el valor de su índice, colocar la recta que corresponden al promedio del índice (línea roja) y ver aquellas que caigan por debajo de ella.</a:t>
            </a:r>
          </a:p>
          <a:p>
            <a:pPr marL="0" indent="0" algn="just">
              <a:lnSpc>
                <a:spcPct val="150000"/>
              </a:lnSpc>
              <a:buNone/>
            </a:pPr>
            <a:r>
              <a:rPr lang="es-ES" sz="2000" dirty="0">
                <a:solidFill>
                  <a:schemeClr val="tx1">
                    <a:lumMod val="85000"/>
                    <a:lumOff val="15000"/>
                  </a:schemeClr>
                </a:solidFill>
                <a:latin typeface="Montserrat" panose="00000500000000000000" pitchFamily="50" charset="0"/>
              </a:rPr>
              <a:t>El eje horizontal no es importante, se graficaron en dos dimensiones para facilitar la visualización.</a:t>
            </a:r>
            <a:endParaRPr lang="es-MX" sz="2000" dirty="0">
              <a:solidFill>
                <a:schemeClr val="tx1">
                  <a:lumMod val="85000"/>
                  <a:lumOff val="15000"/>
                </a:schemeClr>
              </a:solidFill>
              <a:latin typeface="Montserrat" panose="00000500000000000000" pitchFamily="50" charset="0"/>
            </a:endParaRPr>
          </a:p>
          <a:p>
            <a:pPr marL="0" indent="0" algn="just">
              <a:lnSpc>
                <a:spcPct val="150000"/>
              </a:lnSpc>
              <a:buFont typeface="Wingdings 3" charset="2"/>
              <a:buNone/>
            </a:pPr>
            <a:endParaRPr lang="es-MX" sz="2200" dirty="0">
              <a:solidFill>
                <a:schemeClr val="tx1">
                  <a:lumMod val="85000"/>
                  <a:lumOff val="15000"/>
                </a:schemeClr>
              </a:solidFill>
              <a:latin typeface="Montserrat" panose="00000500000000000000" pitchFamily="50" charset="0"/>
            </a:endParaRPr>
          </a:p>
        </p:txBody>
      </p:sp>
      <p:pic>
        <p:nvPicPr>
          <p:cNvPr id="20" name="Picture 19">
            <a:extLst>
              <a:ext uri="{FF2B5EF4-FFF2-40B4-BE49-F238E27FC236}">
                <a16:creationId xmlns:a16="http://schemas.microsoft.com/office/drawing/2014/main" id="{0353C588-60D5-4A3C-956D-4368CDEB3E32}"/>
              </a:ext>
            </a:extLst>
          </p:cNvPr>
          <p:cNvPicPr>
            <a:picLocks noChangeAspect="1"/>
          </p:cNvPicPr>
          <p:nvPr/>
        </p:nvPicPr>
        <p:blipFill rotWithShape="1">
          <a:blip r:embed="rId2"/>
          <a:srcRect r="1333"/>
          <a:stretch/>
        </p:blipFill>
        <p:spPr>
          <a:xfrm>
            <a:off x="510696" y="1717523"/>
            <a:ext cx="6965869" cy="3672574"/>
          </a:xfrm>
          <a:prstGeom prst="rect">
            <a:avLst/>
          </a:prstGeom>
        </p:spPr>
      </p:pic>
      <p:sp>
        <p:nvSpPr>
          <p:cNvPr id="21" name="Content Placeholder 2">
            <a:extLst>
              <a:ext uri="{FF2B5EF4-FFF2-40B4-BE49-F238E27FC236}">
                <a16:creationId xmlns:a16="http://schemas.microsoft.com/office/drawing/2014/main" id="{41D0B75C-55BB-460D-A221-C7D41375A34F}"/>
              </a:ext>
            </a:extLst>
          </p:cNvPr>
          <p:cNvSpPr txBox="1">
            <a:spLocks/>
          </p:cNvSpPr>
          <p:nvPr/>
        </p:nvSpPr>
        <p:spPr>
          <a:xfrm>
            <a:off x="602877" y="5523804"/>
            <a:ext cx="5493122" cy="933871"/>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spcBef>
                <a:spcPts val="0"/>
              </a:spcBef>
              <a:buFont typeface="Wingdings 3" charset="2"/>
              <a:buNone/>
            </a:pPr>
            <a:r>
              <a:rPr lang="es-MX" i="1" dirty="0">
                <a:solidFill>
                  <a:srgbClr val="545454"/>
                </a:solidFill>
              </a:rPr>
              <a:t>Gráfica de los datos para el genérico “001 Arroz”. </a:t>
            </a:r>
          </a:p>
          <a:p>
            <a:pPr marL="0" indent="0">
              <a:spcBef>
                <a:spcPts val="0"/>
              </a:spcBef>
              <a:buFont typeface="Wingdings 3" charset="2"/>
              <a:buNone/>
            </a:pPr>
            <a:r>
              <a:rPr lang="es-MX" i="1" dirty="0">
                <a:solidFill>
                  <a:srgbClr val="545454"/>
                </a:solidFill>
              </a:rPr>
              <a:t>29 ciudades entraron en el rango de interés, entre ellas las 3 ciudades de Hidalgo. </a:t>
            </a:r>
          </a:p>
          <a:p>
            <a:pPr marL="0" indent="0">
              <a:buFont typeface="Wingdings 3" charset="2"/>
              <a:buNone/>
            </a:pPr>
            <a:endParaRPr lang="es-MX" sz="2000" dirty="0"/>
          </a:p>
          <a:p>
            <a:pPr marL="0" indent="0">
              <a:buFont typeface="Wingdings 3" charset="2"/>
              <a:buNone/>
            </a:pPr>
            <a:endParaRPr lang="es-MX" sz="2000" dirty="0"/>
          </a:p>
        </p:txBody>
      </p:sp>
    </p:spTree>
    <p:extLst>
      <p:ext uri="{BB962C8B-B14F-4D97-AF65-F5344CB8AC3E}">
        <p14:creationId xmlns:p14="http://schemas.microsoft.com/office/powerpoint/2010/main" val="18095394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F9D151-82C0-43EE-B707-76C5539F5847}"/>
              </a:ext>
            </a:extLst>
          </p:cNvPr>
          <p:cNvSpPr>
            <a:spLocks noGrp="1"/>
          </p:cNvSpPr>
          <p:nvPr>
            <p:ph idx="1"/>
          </p:nvPr>
        </p:nvSpPr>
        <p:spPr>
          <a:xfrm>
            <a:off x="5002306" y="1450757"/>
            <a:ext cx="6510944" cy="4492843"/>
          </a:xfrm>
        </p:spPr>
        <p:txBody>
          <a:bodyPr>
            <a:normAutofit fontScale="92500"/>
          </a:bodyPr>
          <a:lstStyle/>
          <a:p>
            <a:pPr marL="0" indent="0">
              <a:lnSpc>
                <a:spcPct val="150000"/>
              </a:lnSpc>
              <a:buNone/>
            </a:pPr>
            <a:r>
              <a:rPr lang="es-MX" dirty="0">
                <a:latin typeface="Montserrat" panose="00000500000000000000" pitchFamily="50" charset="0"/>
              </a:rPr>
              <a:t>Si bien ambas propuestas son válidas, al calcular la ubicuidad (cuántas ciudades cuentan con un precio competitivo para cada genérico) existe una diferencia clara; </a:t>
            </a:r>
            <a:r>
              <a:rPr lang="es-MX" b="1" dirty="0">
                <a:latin typeface="Montserrat" panose="00000500000000000000" pitchFamily="50" charset="0"/>
              </a:rPr>
              <a:t>la segunda opción siempre toma más ciudades</a:t>
            </a:r>
            <a:r>
              <a:rPr lang="es-MX" dirty="0">
                <a:latin typeface="Montserrat" panose="00000500000000000000" pitchFamily="50" charset="0"/>
              </a:rPr>
              <a:t> para cada genérico.</a:t>
            </a:r>
          </a:p>
          <a:p>
            <a:pPr marL="0" indent="0">
              <a:buNone/>
            </a:pPr>
            <a:endParaRPr lang="es-MX" sz="2000" dirty="0"/>
          </a:p>
          <a:p>
            <a:pPr marL="0" indent="0">
              <a:buNone/>
            </a:pPr>
            <a:endParaRPr lang="es-MX" sz="2000" dirty="0"/>
          </a:p>
        </p:txBody>
      </p:sp>
      <p:sp>
        <p:nvSpPr>
          <p:cNvPr id="7" name="Content Placeholder 2">
            <a:extLst>
              <a:ext uri="{FF2B5EF4-FFF2-40B4-BE49-F238E27FC236}">
                <a16:creationId xmlns:a16="http://schemas.microsoft.com/office/drawing/2014/main" id="{0649287A-C27A-4814-951C-4DBBC869EA2B}"/>
              </a:ext>
            </a:extLst>
          </p:cNvPr>
          <p:cNvSpPr txBox="1">
            <a:spLocks/>
          </p:cNvSpPr>
          <p:nvPr/>
        </p:nvSpPr>
        <p:spPr>
          <a:xfrm>
            <a:off x="7467600" y="1501564"/>
            <a:ext cx="4045650" cy="4788741"/>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lnSpc>
                <a:spcPct val="150000"/>
              </a:lnSpc>
              <a:buFont typeface="Wingdings 3" charset="2"/>
              <a:buNone/>
            </a:pPr>
            <a:endParaRPr lang="es-MX" dirty="0">
              <a:solidFill>
                <a:schemeClr val="tx1">
                  <a:lumMod val="85000"/>
                  <a:lumOff val="15000"/>
                </a:schemeClr>
              </a:solidFill>
            </a:endParaRPr>
          </a:p>
        </p:txBody>
      </p:sp>
      <p:sp>
        <p:nvSpPr>
          <p:cNvPr id="10" name="Rectangle 9">
            <a:extLst>
              <a:ext uri="{FF2B5EF4-FFF2-40B4-BE49-F238E27FC236}">
                <a16:creationId xmlns:a16="http://schemas.microsoft.com/office/drawing/2014/main" id="{D72E4D08-3DDB-4143-8CA1-9EA8A64D5914}"/>
              </a:ext>
            </a:extLst>
          </p:cNvPr>
          <p:cNvSpPr/>
          <p:nvPr/>
        </p:nvSpPr>
        <p:spPr>
          <a:xfrm>
            <a:off x="0" y="0"/>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pic>
        <p:nvPicPr>
          <p:cNvPr id="5" name="Picture 4">
            <a:extLst>
              <a:ext uri="{FF2B5EF4-FFF2-40B4-BE49-F238E27FC236}">
                <a16:creationId xmlns:a16="http://schemas.microsoft.com/office/drawing/2014/main" id="{26BD712E-5B4C-4233-8444-97ECC6224C62}"/>
              </a:ext>
            </a:extLst>
          </p:cNvPr>
          <p:cNvPicPr>
            <a:picLocks noChangeAspect="1"/>
          </p:cNvPicPr>
          <p:nvPr/>
        </p:nvPicPr>
        <p:blipFill>
          <a:blip r:embed="rId2"/>
          <a:stretch>
            <a:fillRect/>
          </a:stretch>
        </p:blipFill>
        <p:spPr>
          <a:xfrm>
            <a:off x="570944" y="1450757"/>
            <a:ext cx="3982006" cy="3905795"/>
          </a:xfrm>
          <a:prstGeom prst="rect">
            <a:avLst/>
          </a:prstGeom>
        </p:spPr>
      </p:pic>
      <p:sp>
        <p:nvSpPr>
          <p:cNvPr id="11" name="Title 1">
            <a:extLst>
              <a:ext uri="{FF2B5EF4-FFF2-40B4-BE49-F238E27FC236}">
                <a16:creationId xmlns:a16="http://schemas.microsoft.com/office/drawing/2014/main" id="{3AE30553-E71D-4DE8-B240-0C5D3AC87549}"/>
              </a:ext>
            </a:extLst>
          </p:cNvPr>
          <p:cNvSpPr txBox="1">
            <a:spLocks/>
          </p:cNvSpPr>
          <p:nvPr/>
        </p:nvSpPr>
        <p:spPr>
          <a:xfrm>
            <a:off x="602876" y="-133709"/>
            <a:ext cx="10986247" cy="145075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4000" b="1" dirty="0">
                <a:solidFill>
                  <a:schemeClr val="bg1"/>
                </a:solidFill>
                <a:latin typeface="Montserrat"/>
              </a:rPr>
              <a:t>Comparación de resultados (Ubicuidad)</a:t>
            </a:r>
          </a:p>
        </p:txBody>
      </p:sp>
      <p:sp>
        <p:nvSpPr>
          <p:cNvPr id="12" name="Content Placeholder 2">
            <a:extLst>
              <a:ext uri="{FF2B5EF4-FFF2-40B4-BE49-F238E27FC236}">
                <a16:creationId xmlns:a16="http://schemas.microsoft.com/office/drawing/2014/main" id="{A4DAA697-C901-46AD-939B-BA40408723E6}"/>
              </a:ext>
            </a:extLst>
          </p:cNvPr>
          <p:cNvSpPr txBox="1">
            <a:spLocks/>
          </p:cNvSpPr>
          <p:nvPr/>
        </p:nvSpPr>
        <p:spPr>
          <a:xfrm>
            <a:off x="570944" y="5356434"/>
            <a:ext cx="4431362" cy="933871"/>
          </a:xfrm>
          <a:prstGeom prst="rect">
            <a:avLst/>
          </a:prstGeom>
        </p:spPr>
        <p:txBody>
          <a:bodyPr vert="horz" lIns="91440" tIns="45720" rIns="91440" bIns="45720" rtlCol="0">
            <a:normAutofit fontScale="92500" lnSpcReduction="20000"/>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spcBef>
                <a:spcPts val="0"/>
              </a:spcBef>
              <a:buNone/>
            </a:pPr>
            <a:r>
              <a:rPr lang="es-ES" i="1" dirty="0">
                <a:solidFill>
                  <a:srgbClr val="545454"/>
                </a:solidFill>
              </a:rPr>
              <a:t>Cuadro comparativo de ubicuidad para algunos genéricos. </a:t>
            </a:r>
          </a:p>
          <a:p>
            <a:pPr marL="0" indent="0">
              <a:spcBef>
                <a:spcPts val="0"/>
              </a:spcBef>
              <a:buNone/>
            </a:pPr>
            <a:r>
              <a:rPr lang="es-ES" i="1" dirty="0">
                <a:solidFill>
                  <a:srgbClr val="545454"/>
                </a:solidFill>
              </a:rPr>
              <a:t>En la segunda columna vemos los resultados de la opción 1 y en la tercera los de la opción 2.</a:t>
            </a:r>
          </a:p>
          <a:p>
            <a:pPr marL="0" indent="0">
              <a:buFont typeface="Wingdings 3" charset="2"/>
              <a:buNone/>
            </a:pPr>
            <a:endParaRPr lang="es-MX" sz="2000" dirty="0"/>
          </a:p>
          <a:p>
            <a:pPr marL="0" indent="0">
              <a:buFont typeface="Wingdings 3" charset="2"/>
              <a:buNone/>
            </a:pPr>
            <a:endParaRPr lang="es-MX" sz="2000" dirty="0"/>
          </a:p>
        </p:txBody>
      </p:sp>
    </p:spTree>
    <p:extLst>
      <p:ext uri="{BB962C8B-B14F-4D97-AF65-F5344CB8AC3E}">
        <p14:creationId xmlns:p14="http://schemas.microsoft.com/office/powerpoint/2010/main" val="35336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F9D151-82C0-43EE-B707-76C5539F5847}"/>
              </a:ext>
            </a:extLst>
          </p:cNvPr>
          <p:cNvSpPr>
            <a:spLocks noGrp="1"/>
          </p:cNvSpPr>
          <p:nvPr>
            <p:ph idx="1"/>
          </p:nvPr>
        </p:nvSpPr>
        <p:spPr>
          <a:xfrm>
            <a:off x="647700" y="1317048"/>
            <a:ext cx="10986246" cy="933871"/>
          </a:xfrm>
        </p:spPr>
        <p:txBody>
          <a:bodyPr>
            <a:normAutofit fontScale="92500" lnSpcReduction="20000"/>
          </a:bodyPr>
          <a:lstStyle/>
          <a:p>
            <a:pPr marL="0" indent="0">
              <a:buNone/>
            </a:pPr>
            <a:r>
              <a:rPr lang="es-MX" sz="2600" dirty="0"/>
              <a:t>Tenemos un caso del genérico </a:t>
            </a:r>
            <a:r>
              <a:rPr lang="es-MX" sz="2600" i="1" dirty="0"/>
              <a:t>“235 Paquetes de internet, telefonía y televisión de paga” </a:t>
            </a:r>
            <a:r>
              <a:rPr lang="es-MX" sz="2600" dirty="0"/>
              <a:t>donde la opción 1 excluye a todas las ciudades mientras que la opción 2 toma 20.</a:t>
            </a:r>
          </a:p>
          <a:p>
            <a:pPr marL="0" indent="0">
              <a:buNone/>
            </a:pPr>
            <a:endParaRPr lang="es-MX" sz="2000" dirty="0"/>
          </a:p>
          <a:p>
            <a:pPr marL="0" indent="0">
              <a:buNone/>
            </a:pPr>
            <a:endParaRPr lang="es-MX" sz="2000" dirty="0"/>
          </a:p>
        </p:txBody>
      </p:sp>
      <p:sp>
        <p:nvSpPr>
          <p:cNvPr id="7" name="Content Placeholder 2">
            <a:extLst>
              <a:ext uri="{FF2B5EF4-FFF2-40B4-BE49-F238E27FC236}">
                <a16:creationId xmlns:a16="http://schemas.microsoft.com/office/drawing/2014/main" id="{0649287A-C27A-4814-951C-4DBBC869EA2B}"/>
              </a:ext>
            </a:extLst>
          </p:cNvPr>
          <p:cNvSpPr txBox="1">
            <a:spLocks/>
          </p:cNvSpPr>
          <p:nvPr/>
        </p:nvSpPr>
        <p:spPr>
          <a:xfrm>
            <a:off x="7467600" y="1501564"/>
            <a:ext cx="4045650" cy="4788741"/>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lnSpc>
                <a:spcPct val="150000"/>
              </a:lnSpc>
              <a:buFont typeface="Wingdings 3" charset="2"/>
              <a:buNone/>
            </a:pPr>
            <a:endParaRPr lang="es-MX" dirty="0">
              <a:solidFill>
                <a:schemeClr val="tx1">
                  <a:lumMod val="85000"/>
                  <a:lumOff val="15000"/>
                </a:schemeClr>
              </a:solidFill>
            </a:endParaRPr>
          </a:p>
        </p:txBody>
      </p:sp>
      <p:sp>
        <p:nvSpPr>
          <p:cNvPr id="11" name="Rectangle 10">
            <a:extLst>
              <a:ext uri="{FF2B5EF4-FFF2-40B4-BE49-F238E27FC236}">
                <a16:creationId xmlns:a16="http://schemas.microsoft.com/office/drawing/2014/main" id="{A042237D-221D-4425-A393-3E4564EF74FE}"/>
              </a:ext>
            </a:extLst>
          </p:cNvPr>
          <p:cNvSpPr/>
          <p:nvPr/>
        </p:nvSpPr>
        <p:spPr>
          <a:xfrm>
            <a:off x="0" y="0"/>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pic>
        <p:nvPicPr>
          <p:cNvPr id="4" name="Picture 3">
            <a:extLst>
              <a:ext uri="{FF2B5EF4-FFF2-40B4-BE49-F238E27FC236}">
                <a16:creationId xmlns:a16="http://schemas.microsoft.com/office/drawing/2014/main" id="{36337334-046C-462F-81EF-652A62C3FABA}"/>
              </a:ext>
            </a:extLst>
          </p:cNvPr>
          <p:cNvPicPr>
            <a:picLocks noChangeAspect="1"/>
          </p:cNvPicPr>
          <p:nvPr/>
        </p:nvPicPr>
        <p:blipFill>
          <a:blip r:embed="rId2"/>
          <a:stretch>
            <a:fillRect/>
          </a:stretch>
        </p:blipFill>
        <p:spPr>
          <a:xfrm>
            <a:off x="1861298" y="2976595"/>
            <a:ext cx="3600076" cy="3119728"/>
          </a:xfrm>
          <a:prstGeom prst="rect">
            <a:avLst/>
          </a:prstGeom>
        </p:spPr>
      </p:pic>
      <p:pic>
        <p:nvPicPr>
          <p:cNvPr id="15" name="Picture 14">
            <a:extLst>
              <a:ext uri="{FF2B5EF4-FFF2-40B4-BE49-F238E27FC236}">
                <a16:creationId xmlns:a16="http://schemas.microsoft.com/office/drawing/2014/main" id="{3329985B-4B9F-4D39-8FE9-790E5DB5E656}"/>
              </a:ext>
            </a:extLst>
          </p:cNvPr>
          <p:cNvPicPr>
            <a:picLocks noChangeAspect="1"/>
          </p:cNvPicPr>
          <p:nvPr/>
        </p:nvPicPr>
        <p:blipFill>
          <a:blip r:embed="rId3"/>
          <a:stretch>
            <a:fillRect/>
          </a:stretch>
        </p:blipFill>
        <p:spPr>
          <a:xfrm>
            <a:off x="5461374" y="2976595"/>
            <a:ext cx="3901046" cy="3119728"/>
          </a:xfrm>
          <a:prstGeom prst="rect">
            <a:avLst/>
          </a:prstGeom>
        </p:spPr>
      </p:pic>
      <p:sp>
        <p:nvSpPr>
          <p:cNvPr id="16" name="Content Placeholder 2">
            <a:extLst>
              <a:ext uri="{FF2B5EF4-FFF2-40B4-BE49-F238E27FC236}">
                <a16:creationId xmlns:a16="http://schemas.microsoft.com/office/drawing/2014/main" id="{5FA6BE96-DD28-4762-A404-4EEA7640E2ED}"/>
              </a:ext>
            </a:extLst>
          </p:cNvPr>
          <p:cNvSpPr txBox="1">
            <a:spLocks/>
          </p:cNvSpPr>
          <p:nvPr/>
        </p:nvSpPr>
        <p:spPr>
          <a:xfrm>
            <a:off x="1861299" y="6033062"/>
            <a:ext cx="7200151" cy="933871"/>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spcBef>
                <a:spcPts val="0"/>
              </a:spcBef>
              <a:buNone/>
            </a:pPr>
            <a:r>
              <a:rPr lang="es-MX" sz="1700" i="1" dirty="0">
                <a:solidFill>
                  <a:srgbClr val="545454"/>
                </a:solidFill>
              </a:rPr>
              <a:t>Gráficas para “235 </a:t>
            </a:r>
            <a:r>
              <a:rPr lang="es-ES" sz="1700" i="1" dirty="0">
                <a:solidFill>
                  <a:srgbClr val="545454"/>
                </a:solidFill>
              </a:rPr>
              <a:t>Paquetes de internet, telefonía y televisión de paga”.</a:t>
            </a:r>
            <a:r>
              <a:rPr lang="es-MX" sz="1700" i="1" dirty="0">
                <a:solidFill>
                  <a:srgbClr val="545454"/>
                </a:solidFill>
              </a:rPr>
              <a:t> La opción 1 no contempla ninguna ciudad peor la de opción 2 incluye a 20 ciudades.</a:t>
            </a:r>
            <a:endParaRPr lang="es-MX" sz="1700" dirty="0"/>
          </a:p>
          <a:p>
            <a:pPr marL="0" indent="0">
              <a:buFont typeface="Wingdings 3" charset="2"/>
              <a:buNone/>
            </a:pPr>
            <a:endParaRPr lang="es-MX" sz="2000" dirty="0"/>
          </a:p>
          <a:p>
            <a:pPr marL="0" indent="0">
              <a:buFont typeface="Wingdings 3" charset="2"/>
              <a:buNone/>
            </a:pPr>
            <a:endParaRPr lang="es-MX" sz="2000" dirty="0"/>
          </a:p>
        </p:txBody>
      </p:sp>
      <p:pic>
        <p:nvPicPr>
          <p:cNvPr id="19" name="Picture 18">
            <a:extLst>
              <a:ext uri="{FF2B5EF4-FFF2-40B4-BE49-F238E27FC236}">
                <a16:creationId xmlns:a16="http://schemas.microsoft.com/office/drawing/2014/main" id="{1538750A-87A3-45C0-91CA-82B9D2E8A9C2}"/>
              </a:ext>
            </a:extLst>
          </p:cNvPr>
          <p:cNvPicPr>
            <a:picLocks noChangeAspect="1"/>
          </p:cNvPicPr>
          <p:nvPr/>
        </p:nvPicPr>
        <p:blipFill rotWithShape="1">
          <a:blip r:embed="rId4"/>
          <a:srcRect b="65265"/>
          <a:stretch/>
        </p:blipFill>
        <p:spPr>
          <a:xfrm>
            <a:off x="647700" y="2105985"/>
            <a:ext cx="3781953" cy="244865"/>
          </a:xfrm>
          <a:prstGeom prst="rect">
            <a:avLst/>
          </a:prstGeom>
        </p:spPr>
      </p:pic>
      <p:pic>
        <p:nvPicPr>
          <p:cNvPr id="20" name="Picture 19">
            <a:extLst>
              <a:ext uri="{FF2B5EF4-FFF2-40B4-BE49-F238E27FC236}">
                <a16:creationId xmlns:a16="http://schemas.microsoft.com/office/drawing/2014/main" id="{8EE2B822-50E7-4784-8936-339E9BE0D8F5}"/>
              </a:ext>
            </a:extLst>
          </p:cNvPr>
          <p:cNvPicPr>
            <a:picLocks noChangeAspect="1"/>
          </p:cNvPicPr>
          <p:nvPr/>
        </p:nvPicPr>
        <p:blipFill rotWithShape="1">
          <a:blip r:embed="rId4"/>
          <a:srcRect t="65265"/>
          <a:stretch/>
        </p:blipFill>
        <p:spPr>
          <a:xfrm>
            <a:off x="647699" y="2350850"/>
            <a:ext cx="3781953" cy="244865"/>
          </a:xfrm>
          <a:prstGeom prst="rect">
            <a:avLst/>
          </a:prstGeom>
        </p:spPr>
      </p:pic>
      <p:sp>
        <p:nvSpPr>
          <p:cNvPr id="21" name="Title 1">
            <a:extLst>
              <a:ext uri="{FF2B5EF4-FFF2-40B4-BE49-F238E27FC236}">
                <a16:creationId xmlns:a16="http://schemas.microsoft.com/office/drawing/2014/main" id="{8A01CD78-1F69-4F41-8016-5AA1A4A0B7FB}"/>
              </a:ext>
            </a:extLst>
          </p:cNvPr>
          <p:cNvSpPr txBox="1">
            <a:spLocks/>
          </p:cNvSpPr>
          <p:nvPr/>
        </p:nvSpPr>
        <p:spPr>
          <a:xfrm>
            <a:off x="602876" y="-133709"/>
            <a:ext cx="10986247" cy="145075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4000" b="1" dirty="0">
                <a:solidFill>
                  <a:schemeClr val="bg1"/>
                </a:solidFill>
                <a:latin typeface="Montserrat"/>
              </a:rPr>
              <a:t>Comparación de resultados (Ubicuidad)</a:t>
            </a:r>
          </a:p>
        </p:txBody>
      </p:sp>
    </p:spTree>
    <p:extLst>
      <p:ext uri="{BB962C8B-B14F-4D97-AF65-F5344CB8AC3E}">
        <p14:creationId xmlns:p14="http://schemas.microsoft.com/office/powerpoint/2010/main" val="42433528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F9D151-82C0-43EE-B707-76C5539F5847}"/>
              </a:ext>
            </a:extLst>
          </p:cNvPr>
          <p:cNvSpPr>
            <a:spLocks noGrp="1"/>
          </p:cNvSpPr>
          <p:nvPr>
            <p:ph idx="1"/>
          </p:nvPr>
        </p:nvSpPr>
        <p:spPr>
          <a:xfrm>
            <a:off x="5002306" y="1450757"/>
            <a:ext cx="6510944" cy="4492843"/>
          </a:xfrm>
        </p:spPr>
        <p:txBody>
          <a:bodyPr>
            <a:normAutofit/>
          </a:bodyPr>
          <a:lstStyle/>
          <a:p>
            <a:pPr marL="0" indent="0">
              <a:lnSpc>
                <a:spcPct val="150000"/>
              </a:lnSpc>
              <a:buNone/>
            </a:pPr>
            <a:r>
              <a:rPr lang="es-MX" dirty="0">
                <a:latin typeface="Montserrat" panose="00000500000000000000" pitchFamily="50" charset="0"/>
              </a:rPr>
              <a:t>De la misma forma, al calcular la diversidad (cuántos genéricos cuentan con un precio competitivo para cada ciudad) </a:t>
            </a:r>
            <a:r>
              <a:rPr lang="es-MX" b="1" dirty="0">
                <a:latin typeface="Montserrat" panose="00000500000000000000" pitchFamily="50" charset="0"/>
              </a:rPr>
              <a:t>la segunda opción siempre toma más genéricos</a:t>
            </a:r>
            <a:r>
              <a:rPr lang="es-MX" dirty="0">
                <a:latin typeface="Montserrat" panose="00000500000000000000" pitchFamily="50" charset="0"/>
              </a:rPr>
              <a:t> para cada ciudad.</a:t>
            </a:r>
          </a:p>
          <a:p>
            <a:pPr marL="0" indent="0">
              <a:buNone/>
            </a:pPr>
            <a:endParaRPr lang="es-MX" sz="2000" dirty="0"/>
          </a:p>
          <a:p>
            <a:pPr marL="0" indent="0">
              <a:buNone/>
            </a:pPr>
            <a:endParaRPr lang="es-MX" sz="2000" dirty="0"/>
          </a:p>
        </p:txBody>
      </p:sp>
      <p:sp>
        <p:nvSpPr>
          <p:cNvPr id="10" name="Rectangle 9">
            <a:extLst>
              <a:ext uri="{FF2B5EF4-FFF2-40B4-BE49-F238E27FC236}">
                <a16:creationId xmlns:a16="http://schemas.microsoft.com/office/drawing/2014/main" id="{D72E4D08-3DDB-4143-8CA1-9EA8A64D5914}"/>
              </a:ext>
            </a:extLst>
          </p:cNvPr>
          <p:cNvSpPr/>
          <p:nvPr/>
        </p:nvSpPr>
        <p:spPr>
          <a:xfrm>
            <a:off x="0" y="0"/>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1" name="Title 1">
            <a:extLst>
              <a:ext uri="{FF2B5EF4-FFF2-40B4-BE49-F238E27FC236}">
                <a16:creationId xmlns:a16="http://schemas.microsoft.com/office/drawing/2014/main" id="{3AE30553-E71D-4DE8-B240-0C5D3AC87549}"/>
              </a:ext>
            </a:extLst>
          </p:cNvPr>
          <p:cNvSpPr txBox="1">
            <a:spLocks/>
          </p:cNvSpPr>
          <p:nvPr/>
        </p:nvSpPr>
        <p:spPr>
          <a:xfrm>
            <a:off x="602876" y="-133709"/>
            <a:ext cx="10986247" cy="145075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4000" b="1" dirty="0">
                <a:solidFill>
                  <a:schemeClr val="bg1"/>
                </a:solidFill>
                <a:latin typeface="Montserrat"/>
              </a:rPr>
              <a:t>Comparación de resultados (Diversidad)</a:t>
            </a:r>
          </a:p>
        </p:txBody>
      </p:sp>
      <p:sp>
        <p:nvSpPr>
          <p:cNvPr id="12" name="Content Placeholder 2">
            <a:extLst>
              <a:ext uri="{FF2B5EF4-FFF2-40B4-BE49-F238E27FC236}">
                <a16:creationId xmlns:a16="http://schemas.microsoft.com/office/drawing/2014/main" id="{A4DAA697-C901-46AD-939B-BA40408723E6}"/>
              </a:ext>
            </a:extLst>
          </p:cNvPr>
          <p:cNvSpPr txBox="1">
            <a:spLocks/>
          </p:cNvSpPr>
          <p:nvPr/>
        </p:nvSpPr>
        <p:spPr>
          <a:xfrm>
            <a:off x="4502294" y="5661180"/>
            <a:ext cx="4431362" cy="933871"/>
          </a:xfrm>
          <a:prstGeom prst="rect">
            <a:avLst/>
          </a:prstGeom>
        </p:spPr>
        <p:txBody>
          <a:bodyPr vert="horz" lIns="91440" tIns="45720" rIns="91440" bIns="45720" rtlCol="0">
            <a:normAutofit fontScale="92500" lnSpcReduction="20000"/>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spcBef>
                <a:spcPts val="0"/>
              </a:spcBef>
              <a:buNone/>
            </a:pPr>
            <a:r>
              <a:rPr lang="es-ES" i="1" dirty="0">
                <a:solidFill>
                  <a:srgbClr val="545454"/>
                </a:solidFill>
              </a:rPr>
              <a:t>Cuadro comparativo de diversidad para algunas ciudades. </a:t>
            </a:r>
          </a:p>
          <a:p>
            <a:pPr marL="0" indent="0">
              <a:spcBef>
                <a:spcPts val="0"/>
              </a:spcBef>
              <a:buNone/>
            </a:pPr>
            <a:r>
              <a:rPr lang="es-ES" i="1" dirty="0">
                <a:solidFill>
                  <a:srgbClr val="545454"/>
                </a:solidFill>
              </a:rPr>
              <a:t>En la segunda columna vemos los resultados de la opción 1 y en la tercera los de la opción 2.</a:t>
            </a:r>
          </a:p>
          <a:p>
            <a:pPr marL="0" indent="0">
              <a:buFont typeface="Wingdings 3" charset="2"/>
              <a:buNone/>
            </a:pPr>
            <a:endParaRPr lang="es-MX" sz="2000" dirty="0"/>
          </a:p>
          <a:p>
            <a:pPr marL="0" indent="0">
              <a:buFont typeface="Wingdings 3" charset="2"/>
              <a:buNone/>
            </a:pPr>
            <a:endParaRPr lang="es-MX" sz="2000" dirty="0"/>
          </a:p>
        </p:txBody>
      </p:sp>
      <p:pic>
        <p:nvPicPr>
          <p:cNvPr id="2" name="Picture 1">
            <a:extLst>
              <a:ext uri="{FF2B5EF4-FFF2-40B4-BE49-F238E27FC236}">
                <a16:creationId xmlns:a16="http://schemas.microsoft.com/office/drawing/2014/main" id="{509E5EA5-3D8C-427A-8199-86946310DB2A}"/>
              </a:ext>
            </a:extLst>
          </p:cNvPr>
          <p:cNvPicPr>
            <a:picLocks noChangeAspect="1"/>
          </p:cNvPicPr>
          <p:nvPr/>
        </p:nvPicPr>
        <p:blipFill>
          <a:blip r:embed="rId2"/>
          <a:stretch>
            <a:fillRect/>
          </a:stretch>
        </p:blipFill>
        <p:spPr>
          <a:xfrm>
            <a:off x="778392" y="1501564"/>
            <a:ext cx="3768208" cy="4908272"/>
          </a:xfrm>
          <a:prstGeom prst="rect">
            <a:avLst/>
          </a:prstGeom>
        </p:spPr>
      </p:pic>
    </p:spTree>
    <p:extLst>
      <p:ext uri="{BB962C8B-B14F-4D97-AF65-F5344CB8AC3E}">
        <p14:creationId xmlns:p14="http://schemas.microsoft.com/office/powerpoint/2010/main" val="42040210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F9D151-82C0-43EE-B707-76C5539F5847}"/>
              </a:ext>
            </a:extLst>
          </p:cNvPr>
          <p:cNvSpPr>
            <a:spLocks noGrp="1"/>
          </p:cNvSpPr>
          <p:nvPr>
            <p:ph idx="1"/>
          </p:nvPr>
        </p:nvSpPr>
        <p:spPr>
          <a:xfrm>
            <a:off x="647700" y="1317048"/>
            <a:ext cx="10986246" cy="1951038"/>
          </a:xfrm>
        </p:spPr>
        <p:txBody>
          <a:bodyPr>
            <a:normAutofit fontScale="77500" lnSpcReduction="20000"/>
          </a:bodyPr>
          <a:lstStyle/>
          <a:p>
            <a:pPr marL="0" indent="0">
              <a:lnSpc>
                <a:spcPct val="170000"/>
              </a:lnSpc>
              <a:buNone/>
            </a:pPr>
            <a:r>
              <a:rPr lang="es-MX" sz="2600" dirty="0">
                <a:latin typeface="Montserrat" panose="00000500000000000000" pitchFamily="50" charset="0"/>
              </a:rPr>
              <a:t>Para las tres ciudades de interés podemos ver su diversidad. Sin embargo su posición entre las ciudades con mas genéricos de precios competentes depende de la opción que elijamos, salvo Área Metropolitana de la Cd. de México, que en ambos casos es la primera.</a:t>
            </a:r>
          </a:p>
          <a:p>
            <a:pPr marL="0" indent="0">
              <a:buNone/>
            </a:pPr>
            <a:endParaRPr lang="es-MX" sz="2000" dirty="0"/>
          </a:p>
          <a:p>
            <a:pPr marL="0" indent="0">
              <a:buNone/>
            </a:pPr>
            <a:endParaRPr lang="es-MX" sz="2000" dirty="0"/>
          </a:p>
        </p:txBody>
      </p:sp>
      <p:sp>
        <p:nvSpPr>
          <p:cNvPr id="11" name="Rectangle 10">
            <a:extLst>
              <a:ext uri="{FF2B5EF4-FFF2-40B4-BE49-F238E27FC236}">
                <a16:creationId xmlns:a16="http://schemas.microsoft.com/office/drawing/2014/main" id="{A042237D-221D-4425-A393-3E4564EF74FE}"/>
              </a:ext>
            </a:extLst>
          </p:cNvPr>
          <p:cNvSpPr/>
          <p:nvPr/>
        </p:nvSpPr>
        <p:spPr>
          <a:xfrm>
            <a:off x="0" y="0"/>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6" name="Content Placeholder 2">
            <a:extLst>
              <a:ext uri="{FF2B5EF4-FFF2-40B4-BE49-F238E27FC236}">
                <a16:creationId xmlns:a16="http://schemas.microsoft.com/office/drawing/2014/main" id="{5FA6BE96-DD28-4762-A404-4EEA7640E2ED}"/>
              </a:ext>
            </a:extLst>
          </p:cNvPr>
          <p:cNvSpPr txBox="1">
            <a:spLocks/>
          </p:cNvSpPr>
          <p:nvPr/>
        </p:nvSpPr>
        <p:spPr>
          <a:xfrm>
            <a:off x="3120843" y="5051819"/>
            <a:ext cx="5950312" cy="933871"/>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spcBef>
                <a:spcPts val="0"/>
              </a:spcBef>
              <a:buNone/>
            </a:pPr>
            <a:r>
              <a:rPr lang="es-ES" sz="1700" i="1" dirty="0">
                <a:solidFill>
                  <a:srgbClr val="545454"/>
                </a:solidFill>
              </a:rPr>
              <a:t>Diversidad de las tres ciudades de Estado de Hidalgo que fueron </a:t>
            </a:r>
          </a:p>
          <a:p>
            <a:pPr marL="0" indent="0">
              <a:spcBef>
                <a:spcPts val="0"/>
              </a:spcBef>
              <a:buNone/>
            </a:pPr>
            <a:r>
              <a:rPr lang="es-ES" sz="1700" i="1" dirty="0">
                <a:solidFill>
                  <a:srgbClr val="545454"/>
                </a:solidFill>
              </a:rPr>
              <a:t>contempladas</a:t>
            </a:r>
            <a:endParaRPr lang="es-MX" sz="1700" dirty="0"/>
          </a:p>
          <a:p>
            <a:pPr marL="0" indent="0">
              <a:buFont typeface="Wingdings 3" charset="2"/>
              <a:buNone/>
            </a:pPr>
            <a:endParaRPr lang="es-MX" sz="2000" dirty="0"/>
          </a:p>
          <a:p>
            <a:pPr marL="0" indent="0">
              <a:buFont typeface="Wingdings 3" charset="2"/>
              <a:buNone/>
            </a:pPr>
            <a:endParaRPr lang="es-MX" sz="2000" dirty="0"/>
          </a:p>
        </p:txBody>
      </p:sp>
      <p:sp>
        <p:nvSpPr>
          <p:cNvPr id="21" name="Title 1">
            <a:extLst>
              <a:ext uri="{FF2B5EF4-FFF2-40B4-BE49-F238E27FC236}">
                <a16:creationId xmlns:a16="http://schemas.microsoft.com/office/drawing/2014/main" id="{8A01CD78-1F69-4F41-8016-5AA1A4A0B7FB}"/>
              </a:ext>
            </a:extLst>
          </p:cNvPr>
          <p:cNvSpPr txBox="1">
            <a:spLocks/>
          </p:cNvSpPr>
          <p:nvPr/>
        </p:nvSpPr>
        <p:spPr>
          <a:xfrm>
            <a:off x="602876" y="-133709"/>
            <a:ext cx="10986247" cy="145075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4000" b="1" dirty="0">
                <a:solidFill>
                  <a:schemeClr val="bg1"/>
                </a:solidFill>
                <a:latin typeface="Montserrat"/>
              </a:rPr>
              <a:t>Comparación de resultados (Ubicuidad)</a:t>
            </a:r>
          </a:p>
        </p:txBody>
      </p:sp>
      <p:pic>
        <p:nvPicPr>
          <p:cNvPr id="6" name="Picture 5">
            <a:extLst>
              <a:ext uri="{FF2B5EF4-FFF2-40B4-BE49-F238E27FC236}">
                <a16:creationId xmlns:a16="http://schemas.microsoft.com/office/drawing/2014/main" id="{C9A7B53A-3AFD-4FC8-8B10-5CAD0EA6910C}"/>
              </a:ext>
            </a:extLst>
          </p:cNvPr>
          <p:cNvPicPr>
            <a:picLocks noChangeAspect="1"/>
          </p:cNvPicPr>
          <p:nvPr/>
        </p:nvPicPr>
        <p:blipFill>
          <a:blip r:embed="rId2"/>
          <a:stretch>
            <a:fillRect/>
          </a:stretch>
        </p:blipFill>
        <p:spPr>
          <a:xfrm>
            <a:off x="3136670" y="4155679"/>
            <a:ext cx="5950336" cy="448069"/>
          </a:xfrm>
          <a:prstGeom prst="rect">
            <a:avLst/>
          </a:prstGeom>
        </p:spPr>
      </p:pic>
      <p:pic>
        <p:nvPicPr>
          <p:cNvPr id="8" name="Picture 7">
            <a:extLst>
              <a:ext uri="{FF2B5EF4-FFF2-40B4-BE49-F238E27FC236}">
                <a16:creationId xmlns:a16="http://schemas.microsoft.com/office/drawing/2014/main" id="{68B1E657-2D60-4498-97DF-1E65F9DD57FC}"/>
              </a:ext>
            </a:extLst>
          </p:cNvPr>
          <p:cNvPicPr>
            <a:picLocks noChangeAspect="1"/>
          </p:cNvPicPr>
          <p:nvPr/>
        </p:nvPicPr>
        <p:blipFill rotWithShape="1">
          <a:blip r:embed="rId3"/>
          <a:srcRect l="685" t="9226" r="1845" b="10130"/>
          <a:stretch/>
        </p:blipFill>
        <p:spPr>
          <a:xfrm>
            <a:off x="3136670" y="4603748"/>
            <a:ext cx="5950336" cy="448071"/>
          </a:xfrm>
          <a:prstGeom prst="rect">
            <a:avLst/>
          </a:prstGeom>
        </p:spPr>
      </p:pic>
      <p:pic>
        <p:nvPicPr>
          <p:cNvPr id="9" name="Picture 8">
            <a:extLst>
              <a:ext uri="{FF2B5EF4-FFF2-40B4-BE49-F238E27FC236}">
                <a16:creationId xmlns:a16="http://schemas.microsoft.com/office/drawing/2014/main" id="{F171EA86-66CF-4F81-92A2-C3AC83E5008E}"/>
              </a:ext>
            </a:extLst>
          </p:cNvPr>
          <p:cNvPicPr>
            <a:picLocks noChangeAspect="1"/>
          </p:cNvPicPr>
          <p:nvPr/>
        </p:nvPicPr>
        <p:blipFill rotWithShape="1">
          <a:blip r:embed="rId4"/>
          <a:srcRect l="1556" t="17142" r="1651" b="11429"/>
          <a:stretch/>
        </p:blipFill>
        <p:spPr>
          <a:xfrm>
            <a:off x="3136694" y="3741262"/>
            <a:ext cx="5950312" cy="448069"/>
          </a:xfrm>
          <a:prstGeom prst="rect">
            <a:avLst/>
          </a:prstGeom>
        </p:spPr>
      </p:pic>
      <p:pic>
        <p:nvPicPr>
          <p:cNvPr id="10" name="Picture 9">
            <a:extLst>
              <a:ext uri="{FF2B5EF4-FFF2-40B4-BE49-F238E27FC236}">
                <a16:creationId xmlns:a16="http://schemas.microsoft.com/office/drawing/2014/main" id="{A9AA28CD-C223-47CA-8FCA-5C486F1A0E55}"/>
              </a:ext>
            </a:extLst>
          </p:cNvPr>
          <p:cNvPicPr>
            <a:picLocks noChangeAspect="1"/>
          </p:cNvPicPr>
          <p:nvPr/>
        </p:nvPicPr>
        <p:blipFill rotWithShape="1">
          <a:blip r:embed="rId5"/>
          <a:srcRect l="896" t="-1" b="19866"/>
          <a:stretch/>
        </p:blipFill>
        <p:spPr>
          <a:xfrm>
            <a:off x="3136693" y="3390706"/>
            <a:ext cx="5972561" cy="344699"/>
          </a:xfrm>
          <a:prstGeom prst="rect">
            <a:avLst/>
          </a:prstGeom>
        </p:spPr>
      </p:pic>
      <p:sp>
        <p:nvSpPr>
          <p:cNvPr id="12" name="Rectangle 11">
            <a:extLst>
              <a:ext uri="{FF2B5EF4-FFF2-40B4-BE49-F238E27FC236}">
                <a16:creationId xmlns:a16="http://schemas.microsoft.com/office/drawing/2014/main" id="{34DE2593-2C05-4319-A048-FC473911420F}"/>
              </a:ext>
            </a:extLst>
          </p:cNvPr>
          <p:cNvSpPr/>
          <p:nvPr/>
        </p:nvSpPr>
        <p:spPr>
          <a:xfrm>
            <a:off x="3136669" y="3401793"/>
            <a:ext cx="5950312" cy="1650026"/>
          </a:xfrm>
          <a:prstGeom prst="rect">
            <a:avLst/>
          </a:prstGeom>
          <a:noFill/>
          <a:ln w="28575">
            <a:solidFill>
              <a:srgbClr val="A9A9A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3" name="Star: 5 Points 12">
            <a:extLst>
              <a:ext uri="{FF2B5EF4-FFF2-40B4-BE49-F238E27FC236}">
                <a16:creationId xmlns:a16="http://schemas.microsoft.com/office/drawing/2014/main" id="{DAE45056-CD0A-44CC-A109-6900D0E447A7}"/>
              </a:ext>
            </a:extLst>
          </p:cNvPr>
          <p:cNvSpPr/>
          <p:nvPr/>
        </p:nvSpPr>
        <p:spPr>
          <a:xfrm>
            <a:off x="2734582" y="3595162"/>
            <a:ext cx="558800" cy="517672"/>
          </a:xfrm>
          <a:prstGeom prst="star5">
            <a:avLst>
              <a:gd name="adj" fmla="val 27738"/>
              <a:gd name="hf" fmla="val 105146"/>
              <a:gd name="vf" fmla="val 110557"/>
            </a:avLst>
          </a:prstGeom>
          <a:solidFill>
            <a:srgbClr val="FFFF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4" name="TextBox 13">
            <a:extLst>
              <a:ext uri="{FF2B5EF4-FFF2-40B4-BE49-F238E27FC236}">
                <a16:creationId xmlns:a16="http://schemas.microsoft.com/office/drawing/2014/main" id="{112CE1A3-0DD9-465D-A258-2AF6451FA1A8}"/>
              </a:ext>
            </a:extLst>
          </p:cNvPr>
          <p:cNvSpPr txBox="1"/>
          <p:nvPr/>
        </p:nvSpPr>
        <p:spPr>
          <a:xfrm>
            <a:off x="2499632" y="3707608"/>
            <a:ext cx="1028700" cy="369332"/>
          </a:xfrm>
          <a:prstGeom prst="rect">
            <a:avLst/>
          </a:prstGeom>
          <a:noFill/>
        </p:spPr>
        <p:txBody>
          <a:bodyPr wrap="square" rtlCol="0">
            <a:spAutoFit/>
          </a:bodyPr>
          <a:lstStyle/>
          <a:p>
            <a:pPr algn="ctr"/>
            <a:r>
              <a:rPr lang="es-MX" dirty="0"/>
              <a:t>1</a:t>
            </a:r>
          </a:p>
        </p:txBody>
      </p:sp>
    </p:spTree>
    <p:extLst>
      <p:ext uri="{BB962C8B-B14F-4D97-AF65-F5344CB8AC3E}">
        <p14:creationId xmlns:p14="http://schemas.microsoft.com/office/powerpoint/2010/main" val="5534767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F9D151-82C0-43EE-B707-76C5539F5847}"/>
              </a:ext>
            </a:extLst>
          </p:cNvPr>
          <p:cNvSpPr>
            <a:spLocks noGrp="1"/>
          </p:cNvSpPr>
          <p:nvPr>
            <p:ph idx="1"/>
          </p:nvPr>
        </p:nvSpPr>
        <p:spPr>
          <a:xfrm>
            <a:off x="1227044" y="3096545"/>
            <a:ext cx="9737912" cy="933871"/>
          </a:xfrm>
        </p:spPr>
        <p:txBody>
          <a:bodyPr>
            <a:normAutofit/>
          </a:bodyPr>
          <a:lstStyle/>
          <a:p>
            <a:pPr marL="0" indent="0" algn="ctr">
              <a:buNone/>
            </a:pPr>
            <a:r>
              <a:rPr lang="es-MX" dirty="0"/>
              <a:t>La opción 1 me gusta más.</a:t>
            </a:r>
          </a:p>
          <a:p>
            <a:pPr marL="0" indent="0">
              <a:buNone/>
            </a:pPr>
            <a:endParaRPr lang="es-MX" sz="2000" dirty="0"/>
          </a:p>
          <a:p>
            <a:pPr marL="0" indent="0">
              <a:buNone/>
            </a:pPr>
            <a:endParaRPr lang="es-MX" sz="2000" dirty="0"/>
          </a:p>
        </p:txBody>
      </p:sp>
      <p:sp>
        <p:nvSpPr>
          <p:cNvPr id="5" name="Rectangle 4">
            <a:extLst>
              <a:ext uri="{FF2B5EF4-FFF2-40B4-BE49-F238E27FC236}">
                <a16:creationId xmlns:a16="http://schemas.microsoft.com/office/drawing/2014/main" id="{57F3A803-5A6F-4BDD-96A4-FE24C449D563}"/>
              </a:ext>
            </a:extLst>
          </p:cNvPr>
          <p:cNvSpPr/>
          <p:nvPr/>
        </p:nvSpPr>
        <p:spPr>
          <a:xfrm>
            <a:off x="0" y="0"/>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7" name="Title 1">
            <a:extLst>
              <a:ext uri="{FF2B5EF4-FFF2-40B4-BE49-F238E27FC236}">
                <a16:creationId xmlns:a16="http://schemas.microsoft.com/office/drawing/2014/main" id="{E4AD72B9-B4B6-4B5A-A413-C6FB43D2D4C4}"/>
              </a:ext>
            </a:extLst>
          </p:cNvPr>
          <p:cNvSpPr txBox="1">
            <a:spLocks/>
          </p:cNvSpPr>
          <p:nvPr/>
        </p:nvSpPr>
        <p:spPr>
          <a:xfrm>
            <a:off x="602876" y="-133709"/>
            <a:ext cx="10986247" cy="145075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4000" b="1" dirty="0">
                <a:solidFill>
                  <a:schemeClr val="bg1"/>
                </a:solidFill>
                <a:latin typeface="Montserrat"/>
              </a:rPr>
              <a:t>Conclusión</a:t>
            </a:r>
          </a:p>
        </p:txBody>
      </p:sp>
    </p:spTree>
    <p:extLst>
      <p:ext uri="{BB962C8B-B14F-4D97-AF65-F5344CB8AC3E}">
        <p14:creationId xmlns:p14="http://schemas.microsoft.com/office/powerpoint/2010/main" val="33079622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A8EDA7-9C38-4347-A17C-3C475136A578}"/>
              </a:ext>
            </a:extLst>
          </p:cNvPr>
          <p:cNvSpPr>
            <a:spLocks noGrp="1"/>
          </p:cNvSpPr>
          <p:nvPr>
            <p:ph type="title"/>
          </p:nvPr>
        </p:nvSpPr>
        <p:spPr>
          <a:xfrm>
            <a:off x="1934019" y="382063"/>
            <a:ext cx="8911687" cy="1280890"/>
          </a:xfrm>
        </p:spPr>
        <p:txBody>
          <a:bodyPr/>
          <a:lstStyle/>
          <a:p>
            <a:r>
              <a:rPr lang="es-MX" dirty="0"/>
              <a:t>Conclusiones</a:t>
            </a:r>
          </a:p>
        </p:txBody>
      </p:sp>
      <p:pic>
        <p:nvPicPr>
          <p:cNvPr id="7" name="Picture 6">
            <a:extLst>
              <a:ext uri="{FF2B5EF4-FFF2-40B4-BE49-F238E27FC236}">
                <a16:creationId xmlns:a16="http://schemas.microsoft.com/office/drawing/2014/main" id="{443AA096-14DE-4DD0-B579-8E0A08939E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7215" y="1320006"/>
            <a:ext cx="9006551" cy="4941094"/>
          </a:xfrm>
          <a:prstGeom prst="rect">
            <a:avLst/>
          </a:prstGeom>
        </p:spPr>
      </p:pic>
      <p:sp>
        <p:nvSpPr>
          <p:cNvPr id="4" name="Rectangle 3">
            <a:extLst>
              <a:ext uri="{FF2B5EF4-FFF2-40B4-BE49-F238E27FC236}">
                <a16:creationId xmlns:a16="http://schemas.microsoft.com/office/drawing/2014/main" id="{51DD8E3E-8B0A-401A-B573-974425C3F481}"/>
              </a:ext>
            </a:extLst>
          </p:cNvPr>
          <p:cNvSpPr/>
          <p:nvPr/>
        </p:nvSpPr>
        <p:spPr>
          <a:xfrm>
            <a:off x="0" y="0"/>
            <a:ext cx="12192000" cy="1183341"/>
          </a:xfrm>
          <a:prstGeom prst="rect">
            <a:avLst/>
          </a:prstGeom>
          <a:solidFill>
            <a:srgbClr val="92081C"/>
          </a:solidFill>
          <a:ln>
            <a:solidFill>
              <a:srgbClr val="9208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27320187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7520</TotalTime>
  <Words>1129</Words>
  <Application>Microsoft Office PowerPoint</Application>
  <PresentationFormat>Widescreen</PresentationFormat>
  <Paragraphs>76</Paragraphs>
  <Slides>16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Arial</vt:lpstr>
      <vt:lpstr>Calibri</vt:lpstr>
      <vt:lpstr>Calibri Light</vt:lpstr>
      <vt:lpstr>Cambria Math</vt:lpstr>
      <vt:lpstr>Montserrat</vt:lpstr>
      <vt:lpstr>Wingdings 3</vt:lpstr>
      <vt:lpstr>Office Theme</vt:lpstr>
      <vt:lpstr>INPC: Introducción a como catalogar el precio de un producto en una ciudad de la República Mexicana como “de precio competitivo”</vt:lpstr>
      <vt:lpstr>Estabilidad y Variabilidad del INPC</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INPC: Una Introducción a como catalogar un precio de un producto en una ciudad de México como “De precio competitivo”</dc:title>
  <dc:creator>ENRIQUE CERON</dc:creator>
  <cp:lastModifiedBy>ENRIQUE CERON</cp:lastModifiedBy>
  <cp:revision>50</cp:revision>
  <dcterms:created xsi:type="dcterms:W3CDTF">2026-04-08T22:14:29Z</dcterms:created>
  <dcterms:modified xsi:type="dcterms:W3CDTF">2026-04-20T21:05:09Z</dcterms:modified>
</cp:coreProperties>
</file>