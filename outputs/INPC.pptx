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081C"/>
    <a:srgbClr val="B1071F"/>
    <a:srgbClr val="5454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4" autoAdjust="0"/>
    <p:restoredTop sz="94660"/>
  </p:normalViewPr>
  <p:slideViewPr>
    <p:cSldViewPr snapToGrid="0">
      <p:cViewPr>
        <p:scale>
          <a:sx n="75" d="100"/>
          <a:sy n="75" d="100"/>
        </p:scale>
        <p:origin x="456" y="-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8984B-368B-484C-AB6B-EDC039D3A2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F4A68A-DBF1-4322-A6D7-1431060326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17F20-669E-4BB3-AD86-DD6DA3373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E5910-A603-40E1-9769-B3B82B182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DA3DF8-F5A7-4692-B4BB-C81B30C4C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60531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EA32A-F461-4144-AD37-0F771BBF2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D56CC-2D56-4A82-AE09-7FCA2334F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40EC9-800E-4510-A71A-7D7225A42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1A048-7D49-4FDA-9EB3-C4C19BC53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81A47-05A5-4623-8421-009E16F79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84515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91C78-712B-4F52-B8E0-6C4E64F6C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B89B04-9F07-4AC4-BBB0-B6A8F9BCB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376AD5-26EE-4052-A705-63EC04C38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2C598-8D9A-4433-827D-7A3F861AF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93929-D4EA-493C-8357-51E2E636E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61129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B50E3-DB8D-4DBC-9389-D65871DC3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1C564-0196-428E-A907-246DB4994E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BF6BC2-7390-4AE7-94EE-021DB04040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D3947-0619-4FB1-8F3E-5DEF77772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124B30-AD2B-421B-84A2-3B70BCE7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DF637E-058D-41DD-89F2-873D052B4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47025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30CC9-3ECD-4982-95FB-D16BE4294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DFACF-CDFE-477A-B2F0-6E9D9C351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DBD27B-1473-4743-8B04-9554135936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909921-3191-40BD-8CFF-C315631AF1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EDB729-50E2-4846-B6C1-D1882184C3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ADC884-4568-48AC-961D-C2CA7C194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26BF89-B656-406B-9842-6939AE006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EFC0D5-9133-4B86-AC90-072DFF1E0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5107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8861-2498-4534-AFE7-2A64101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0EE301-DF06-462D-B75B-A54685E18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F51874-86FF-4D6E-8980-E73B01E4C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09E3D-AD40-488E-84D3-758EE6F6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05893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1A52B5-2DDA-4D8A-8CF0-BE2095D31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FDBD22-3731-4923-9BCD-DFD176152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70AF-A65E-4031-B965-FD7EEBA4E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07468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25B33-CC8E-445E-8515-5E217C7D3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D6395-8913-4016-8002-B55B30A0D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5BA985-2FC7-4A05-83BF-14A215408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6E739C-7E46-447C-966C-8E338EA9A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598CC6-35D2-4FAD-83E6-1176D008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45DCEA-6D30-448D-95BB-C8E8C7D8D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90282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3D41-0D5C-4C10-BA79-53DD26495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A5D980-4DB2-4D1B-B1C8-FD2DA4E895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9A2616-2FD9-49E4-9BF9-8584C458F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6137B0-0652-4F1B-A8F5-26E9A7706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D5617-E426-4E26-8C28-915C6B209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78A24-9D1E-48BB-874A-B64D8FD55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606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73976-DF83-4461-B95D-D1B5482F6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E6599B-01AF-4288-A087-61A675B015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853E6-E39A-4464-A70E-82535ECF1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3790-BC71-48F6-B25A-8C469181D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1E370-D76D-4B8E-B6CA-81D474EBD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7769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CF215B-707F-48A5-AFE9-23FBFBC118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3CAE0-741F-4D7B-A131-B9BF2EEEA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D71D8-3AAF-4CD7-AAC9-19CFEDAD2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A04D2-C3D8-434C-8AC8-37F15FBB7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F1D4F-AEE3-4E6D-B9DC-F59CF9DED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75848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AD25A3-A5C6-4961-BBC1-0B34DE233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6CE87A-718B-4760-8707-86086A75E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33CDE-B9CE-4C60-AE9D-9BDAE7CDB0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4AC7B-87B8-489F-A603-00C2C859C0C6}" type="datetimeFigureOut">
              <a:rPr lang="es-MX" smtClean="0"/>
              <a:t>15/04/2026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D40D2-832E-462A-BA0E-6D18E5B39B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78BCA0-B7C2-4676-8032-2AD9C3A4B6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BCE1-CA33-4A9E-B899-1FC89F08B99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96312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99FD5-590E-499C-9124-3E9D639B0B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7724" y="557167"/>
            <a:ext cx="11416552" cy="4034116"/>
          </a:xfrm>
        </p:spPr>
        <p:txBody>
          <a:bodyPr>
            <a:noAutofit/>
          </a:bodyPr>
          <a:lstStyle/>
          <a:p>
            <a:r>
              <a:rPr lang="es-MX" sz="6000" b="1" dirty="0"/>
              <a:t>INPC: Una Introducción a como catalogar el precio de un producto en una ciudad de la República Mexicana como “de precio competitivo”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095E98-15AB-4499-98B3-023726685A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94694"/>
            <a:ext cx="9144000" cy="1655762"/>
          </a:xfrm>
        </p:spPr>
        <p:txBody>
          <a:bodyPr>
            <a:normAutofit/>
          </a:bodyPr>
          <a:lstStyle/>
          <a:p>
            <a:r>
              <a:rPr lang="es-MX" dirty="0"/>
              <a:t>Enrique Cerón López</a:t>
            </a:r>
          </a:p>
        </p:txBody>
      </p:sp>
    </p:spTree>
    <p:extLst>
      <p:ext uri="{BB962C8B-B14F-4D97-AF65-F5344CB8AC3E}">
        <p14:creationId xmlns:p14="http://schemas.microsoft.com/office/powerpoint/2010/main" val="2335601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922B511-FA47-4F9C-8FC1-C78569DC5D60}"/>
              </a:ext>
            </a:extLst>
          </p:cNvPr>
          <p:cNvSpPr/>
          <p:nvPr/>
        </p:nvSpPr>
        <p:spPr>
          <a:xfrm>
            <a:off x="0" y="0"/>
            <a:ext cx="12192000" cy="1613647"/>
          </a:xfrm>
          <a:prstGeom prst="rect">
            <a:avLst/>
          </a:prstGeom>
          <a:solidFill>
            <a:srgbClr val="92081C"/>
          </a:solidFill>
          <a:ln>
            <a:solidFill>
              <a:srgbClr val="92081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876" y="81444"/>
            <a:ext cx="10986247" cy="1450757"/>
          </a:xfrm>
        </p:spPr>
        <p:txBody>
          <a:bodyPr/>
          <a:lstStyle/>
          <a:p>
            <a:r>
              <a:rPr lang="es-MX" b="1" dirty="0">
                <a:solidFill>
                  <a:schemeClr val="bg1"/>
                </a:solidFill>
                <a:latin typeface="Montserrat"/>
              </a:rPr>
              <a:t>Estabilidad y Variabilidad del INPC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9D151-82C0-43EE-B707-76C5539F5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503" y="1915034"/>
            <a:ext cx="5039285" cy="4320666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MX" sz="2400" dirty="0">
                <a:latin typeface="Montserrat"/>
              </a:rPr>
              <a:t>De los 292 genéricos y las 55 ciudades de México que fueron contempladas por INEGI; se cálculo el promedio histórico y la desviación estándar histórica. A estos datos se les nombraron como </a:t>
            </a:r>
            <a:r>
              <a:rPr lang="es-MX" sz="2400" b="1" dirty="0">
                <a:latin typeface="Montserrat"/>
              </a:rPr>
              <a:t>“Variabilidad” </a:t>
            </a:r>
            <a:r>
              <a:rPr lang="es-MX" sz="2400" dirty="0">
                <a:latin typeface="Montserrat"/>
              </a:rPr>
              <a:t>y </a:t>
            </a:r>
            <a:r>
              <a:rPr lang="es-MX" sz="2400" b="1" dirty="0">
                <a:latin typeface="Montserrat"/>
              </a:rPr>
              <a:t>“Estabilidad” </a:t>
            </a:r>
            <a:r>
              <a:rPr lang="es-MX" sz="2400" dirty="0">
                <a:latin typeface="Montserrat"/>
              </a:rPr>
              <a:t>respectivamente.</a:t>
            </a:r>
          </a:p>
          <a:p>
            <a:pPr marL="0" indent="0">
              <a:buNone/>
            </a:pPr>
            <a:endParaRPr lang="es-MX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0FFE9A-453B-4965-9EEF-256011828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152" y="1915034"/>
            <a:ext cx="5755341" cy="3777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626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835C0C8-9018-4601-BAE8-BA3B0653EB91}"/>
              </a:ext>
            </a:extLst>
          </p:cNvPr>
          <p:cNvSpPr/>
          <p:nvPr/>
        </p:nvSpPr>
        <p:spPr>
          <a:xfrm>
            <a:off x="0" y="0"/>
            <a:ext cx="12192000" cy="1613647"/>
          </a:xfrm>
          <a:prstGeom prst="rect">
            <a:avLst/>
          </a:prstGeom>
          <a:solidFill>
            <a:srgbClr val="92081C"/>
          </a:solidFill>
          <a:ln>
            <a:solidFill>
              <a:srgbClr val="92081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Competitividad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9D151-82C0-43EE-B707-76C5539F5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445149"/>
            <a:ext cx="8285629" cy="37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000" dirty="0"/>
              <a:t>La idea ahora es buscar aquellos productos que tengan un promedio bajo (i.e., un precio relativo bajo históricamente) y una desviación estándar baja (i.e., poca variabilidad en sus precio históricamente) en las tres ciudades de Hidalgo contempladas:</a:t>
            </a:r>
          </a:p>
          <a:p>
            <a:r>
              <a:rPr lang="es-MX" sz="2000" dirty="0"/>
              <a:t>Pachuca de Soto</a:t>
            </a:r>
          </a:p>
          <a:p>
            <a:r>
              <a:rPr lang="es-MX" sz="2000" dirty="0"/>
              <a:t>Tulancingo</a:t>
            </a:r>
          </a:p>
          <a:p>
            <a:r>
              <a:rPr lang="es-MX" dirty="0"/>
              <a:t>Área Metropolitana de la Ciudad de México (incluye Tizayuca)</a:t>
            </a:r>
          </a:p>
        </p:txBody>
      </p:sp>
      <p:pic>
        <p:nvPicPr>
          <p:cNvPr id="1026" name="Picture 2" descr="Precio bajo - Iconos gratis de comercio">
            <a:extLst>
              <a:ext uri="{FF2B5EF4-FFF2-40B4-BE49-F238E27FC236}">
                <a16:creationId xmlns:a16="http://schemas.microsoft.com/office/drawing/2014/main" id="{8CCBB939-32AF-4739-B3C4-CC92648941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7651" y="2726039"/>
            <a:ext cx="3141361" cy="3141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09FF5C-65C1-478E-BA5E-C4F802359C84}"/>
              </a:ext>
            </a:extLst>
          </p:cNvPr>
          <p:cNvSpPr txBox="1">
            <a:spLocks/>
          </p:cNvSpPr>
          <p:nvPr/>
        </p:nvSpPr>
        <p:spPr>
          <a:xfrm>
            <a:off x="1638301" y="4154999"/>
            <a:ext cx="7303994" cy="377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s-MX" dirty="0"/>
              <a:t>A aquellos genéricos con esta combinación de propiedades (baja media y baja desviación estándar) los llamaremos </a:t>
            </a:r>
            <a:r>
              <a:rPr lang="es-MX" b="1" dirty="0"/>
              <a:t>“de precio competitivo”</a:t>
            </a:r>
            <a:r>
              <a:rPr lang="es-MX" dirty="0"/>
              <a:t> relativo siempre a la ciudad X. </a:t>
            </a:r>
          </a:p>
        </p:txBody>
      </p:sp>
    </p:spTree>
    <p:extLst>
      <p:ext uri="{BB962C8B-B14F-4D97-AF65-F5344CB8AC3E}">
        <p14:creationId xmlns:p14="http://schemas.microsoft.com/office/powerpoint/2010/main" val="3002788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Propuestas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9D151-82C0-43EE-B707-76C5539F5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445148"/>
            <a:ext cx="8915400" cy="47887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000" dirty="0"/>
              <a:t>Primero buscaremos, para cada genérico, todas aquellas ciudades con “un precio competitivo” para ese producto. Sin embargo la forma de determinar cuáles ciudades tienen </a:t>
            </a:r>
            <a:r>
              <a:rPr lang="es-MX" sz="2000" b="1" dirty="0"/>
              <a:t>baja media </a:t>
            </a:r>
            <a:r>
              <a:rPr lang="es-MX" sz="2000" dirty="0"/>
              <a:t>y </a:t>
            </a:r>
            <a:r>
              <a:rPr lang="es-MX" sz="2000" b="1" dirty="0"/>
              <a:t>baja variación estándar </a:t>
            </a:r>
            <a:r>
              <a:rPr lang="es-MX" sz="2000" dirty="0"/>
              <a:t>no es algo trivial. Por ello, la 4E propuso dos posibles formas:</a:t>
            </a:r>
          </a:p>
          <a:p>
            <a:pPr marL="0" indent="0">
              <a:buNone/>
            </a:pPr>
            <a:r>
              <a:rPr lang="es-MX" sz="2000" b="1" dirty="0"/>
              <a:t>Primera Propuesta:</a:t>
            </a:r>
          </a:p>
          <a:p>
            <a:pPr marL="0" indent="0">
              <a:buNone/>
            </a:pPr>
            <a:r>
              <a:rPr lang="es-MX" sz="2000" dirty="0"/>
              <a:t>Aquellas cuya media y desviación estándar estén por debajo de sus respectivos promedios </a:t>
            </a:r>
            <a:r>
              <a:rPr lang="es-MX" sz="2000" i="1" dirty="0"/>
              <a:t>por genérico</a:t>
            </a:r>
            <a:r>
              <a:rPr lang="es-MX" sz="2000" dirty="0"/>
              <a:t>.</a:t>
            </a:r>
          </a:p>
          <a:p>
            <a:pPr marL="0" indent="0">
              <a:buNone/>
            </a:pPr>
            <a:r>
              <a:rPr lang="es-MX" sz="2000" b="1" dirty="0"/>
              <a:t>Segunda Propuesta:</a:t>
            </a:r>
          </a:p>
          <a:p>
            <a:pPr marL="0" indent="0">
              <a:buNone/>
            </a:pPr>
            <a:r>
              <a:rPr lang="es-MX" sz="2000" dirty="0"/>
              <a:t>Generar un Índice de la combinación ponderada de la media normalizada y la desviación normalizada </a:t>
            </a:r>
            <a:r>
              <a:rPr lang="es-MX" sz="2000" i="1" dirty="0"/>
              <a:t>por genérico.</a:t>
            </a:r>
          </a:p>
          <a:p>
            <a:pPr marL="0" indent="0">
              <a:buNone/>
            </a:pPr>
            <a:endParaRPr lang="es-MX" sz="2000" b="1" dirty="0"/>
          </a:p>
        </p:txBody>
      </p:sp>
      <p:pic>
        <p:nvPicPr>
          <p:cNvPr id="2050" name="Picture 2" descr="🤔 Cara Pensativa Emoji: Significado y Uso">
            <a:extLst>
              <a:ext uri="{FF2B5EF4-FFF2-40B4-BE49-F238E27FC236}">
                <a16:creationId xmlns:a16="http://schemas.microsoft.com/office/drawing/2014/main" id="{631114F6-CB46-43BC-AD94-318C9CEB2A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9956" y="4616527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80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019" y="382063"/>
            <a:ext cx="8911687" cy="1280890"/>
          </a:xfrm>
        </p:spPr>
        <p:txBody>
          <a:bodyPr/>
          <a:lstStyle/>
          <a:p>
            <a:r>
              <a:rPr lang="es-MX" dirty="0"/>
              <a:t>Propuesta 1. Desarrollo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9D151-82C0-43EE-B707-76C5539F5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034629"/>
            <a:ext cx="9737912" cy="47887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dirty="0"/>
              <a:t>Para calcular el promedio de la media y el promedio de la desviación estándar debemos agrupar a las ciudades por genérico.</a:t>
            </a:r>
          </a:p>
          <a:p>
            <a:pPr marL="0" indent="0">
              <a:buNone/>
            </a:pPr>
            <a:r>
              <a:rPr lang="es-MX" dirty="0"/>
              <a:t>Catalogamos a aquellas que cumplan que ambos son menores estrictos que los promedios correspondientes.</a:t>
            </a:r>
          </a:p>
          <a:p>
            <a:pPr marL="0" indent="0">
              <a:buNone/>
            </a:pPr>
            <a:endParaRPr lang="es-MX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5A537B-B152-4BAD-9088-3A45A03EC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556" y="3457206"/>
            <a:ext cx="7490888" cy="22833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649287A-C27A-4814-951C-4DBBC869EA2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38300" y="5099422"/>
                <a:ext cx="10180076" cy="478874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Wingdings 3" charset="2"/>
                  <a:buNone/>
                </a:pPr>
                <a14:m>
                  <m:oMath xmlns:m="http://schemas.openxmlformats.org/officeDocument/2006/math">
                    <m:r>
                      <a:rPr lang="es-ES" sz="16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𝑀𝑒𝑎𝑛</m:t>
                    </m:r>
                    <m:r>
                      <a:rPr lang="es-ES" sz="16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 _</m:t>
                    </m:r>
                    <m:r>
                      <a:rPr lang="es-ES" sz="16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𝐶𝑜𝑚𝑝𝑒𝑡𝑖𝑡𝑖𝑣𝑎</m:t>
                    </m:r>
                  </m:oMath>
                </a14:m>
                <a:r>
                  <a:rPr lang="es-MX" sz="1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s-ES" sz="1600" b="0" i="1" dirty="0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s-ES" sz="1600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𝑠𝑖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𝑚𝑒𝑎𝑛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𝑃𝑟𝑜𝑚𝑒𝑑𝑖𝑜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𝑚𝑒𝑎𝑛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𝑑𝑒𝑙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𝑔𝑟𝑢𝑝𝑜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𝑑𝑒𝑙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𝑔𝑒𝑛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é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𝑟𝑖𝑐𝑜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𝑜𝑡𝑟𝑜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𝑐𝑎𝑠𝑜</m:t>
                            </m:r>
                          </m:e>
                        </m:eqArr>
                      </m:e>
                    </m:d>
                  </m:oMath>
                </a14:m>
                <a:r>
                  <a:rPr lang="es-MX" sz="1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,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s-ES" sz="16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𝑆𝑑</m:t>
                    </m:r>
                    <m:r>
                      <a:rPr lang="es-ES" sz="16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s-ES" sz="16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𝐶𝑜𝑚𝑝𝑒𝑡𝑖𝑡𝑖𝑣𝑎</m:t>
                    </m:r>
                  </m:oMath>
                </a14:m>
                <a:r>
                  <a:rPr lang="es-MX" sz="1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s-ES" sz="1600" i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s-ES" sz="1600" i="1" dirty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𝑠𝑖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𝑠𝑑</m:t>
                            </m:r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𝑃𝑟𝑜𝑚𝑒𝑑𝑖𝑜</m:t>
                            </m:r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𝑠𝑑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𝑑𝑒𝑙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𝑔𝑟𝑢𝑝𝑜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𝑑𝑒𝑙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𝑔𝑒𝑛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é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𝑟𝑖𝑐𝑜</m:t>
                            </m:r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𝑜𝑡𝑟𝑜</m:t>
                            </m:r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i="1" dirty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𝑐𝑎𝑠𝑜</m:t>
                            </m:r>
                          </m:e>
                        </m:eqArr>
                      </m:e>
                    </m:d>
                  </m:oMath>
                </a14:m>
                <a:r>
                  <a:rPr lang="es-MX" sz="1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𝐶𝑜𝑚𝑝𝑒𝑡𝑖𝑡𝑖𝑣𝑜</m:t>
                      </m:r>
                      <m:r>
                        <a:rPr lang="es-E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𝑀𝑒𝑎𝑛</m:t>
                      </m:r>
                      <m:r>
                        <a:rPr lang="es-E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s-E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𝐶𝑜𝑚𝑝𝑒𝑡𝑖𝑡𝑖𝑣𝑎</m:t>
                      </m:r>
                      <m:r>
                        <a:rPr lang="es-E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s-E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𝑆𝑑</m:t>
                      </m:r>
                      <m:r>
                        <a:rPr lang="es-E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s-E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𝐶𝑜𝑚𝑝𝑒𝑡𝑖𝑡𝑖𝑣𝑎</m:t>
                      </m:r>
                    </m:oMath>
                  </m:oMathPara>
                </a14:m>
                <a:endParaRPr lang="es-MX" sz="16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649287A-C27A-4814-951C-4DBBC869E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300" y="5099422"/>
                <a:ext cx="10180076" cy="47887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BF682CB-301C-4753-BA56-DBF0CED62719}"/>
              </a:ext>
            </a:extLst>
          </p:cNvPr>
          <p:cNvSpPr txBox="1">
            <a:spLocks/>
          </p:cNvSpPr>
          <p:nvPr/>
        </p:nvSpPr>
        <p:spPr>
          <a:xfrm>
            <a:off x="2350556" y="4598894"/>
            <a:ext cx="10180076" cy="47887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s-MX" sz="1200" i="1" dirty="0">
                <a:solidFill>
                  <a:schemeClr val="bg1">
                    <a:lumMod val="50000"/>
                  </a:schemeClr>
                </a:solidFill>
              </a:rPr>
              <a:t>En la figura vemos algunas ciudades con su media y desviación para el genérico 002 Arroz</a:t>
            </a:r>
          </a:p>
        </p:txBody>
      </p:sp>
    </p:spTree>
    <p:extLst>
      <p:ext uri="{BB962C8B-B14F-4D97-AF65-F5344CB8AC3E}">
        <p14:creationId xmlns:p14="http://schemas.microsoft.com/office/powerpoint/2010/main" val="1207223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019" y="382063"/>
            <a:ext cx="8911687" cy="1280890"/>
          </a:xfrm>
        </p:spPr>
        <p:txBody>
          <a:bodyPr/>
          <a:lstStyle/>
          <a:p>
            <a:r>
              <a:rPr lang="es-MX" dirty="0"/>
              <a:t>Propuesta 1. Análisis de resultados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9D151-82C0-43EE-B707-76C5539F5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034629"/>
            <a:ext cx="9737912" cy="9338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dirty="0"/>
              <a:t>Posteriormente calculamos la ubicuidad (cuantas ciudades están en el rango de interés para cada producto).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endParaRPr lang="es-MX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649287A-C27A-4814-951C-4DBBC869EA2B}"/>
              </a:ext>
            </a:extLst>
          </p:cNvPr>
          <p:cNvSpPr txBox="1">
            <a:spLocks/>
          </p:cNvSpPr>
          <p:nvPr/>
        </p:nvSpPr>
        <p:spPr>
          <a:xfrm>
            <a:off x="7467600" y="1501564"/>
            <a:ext cx="4045650" cy="47887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 3" charset="2"/>
              <a:buNone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Gráficamente lo podemos ver al graficar las ciudades como puntos de coordenadas (</a:t>
            </a:r>
            <a:r>
              <a:rPr lang="es-E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mean,sd</a:t>
            </a: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), colocar las rectas que corresponden a las promedios de cada coordenada (azul para mean y roja para </a:t>
            </a:r>
            <a:r>
              <a:rPr lang="es-E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sd</a:t>
            </a: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 y ver aquellas que caigan sobre el homologo al tercer cuadrante.</a:t>
            </a:r>
            <a:endParaRPr lang="es-MX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B3FD6C-EC44-4B34-8D36-108E9E03A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66" y="1662953"/>
            <a:ext cx="6638996" cy="3385158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EB05FD7-C5C7-4280-B2FC-F8B64BDDB45A}"/>
              </a:ext>
            </a:extLst>
          </p:cNvPr>
          <p:cNvSpPr txBox="1">
            <a:spLocks/>
          </p:cNvSpPr>
          <p:nvPr/>
        </p:nvSpPr>
        <p:spPr>
          <a:xfrm>
            <a:off x="678750" y="5048111"/>
            <a:ext cx="9737912" cy="933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Wingdings 3" charset="2"/>
              <a:buNone/>
            </a:pPr>
            <a:r>
              <a:rPr lang="es-MX" sz="1200" i="1" dirty="0">
                <a:solidFill>
                  <a:srgbClr val="545454"/>
                </a:solidFill>
              </a:rPr>
              <a:t>Gráfica de los datos para el genérico 001 Arroz. 23 ciudades entraron en el rango de </a:t>
            </a:r>
          </a:p>
          <a:p>
            <a:pPr marL="0" indent="0">
              <a:spcBef>
                <a:spcPts val="0"/>
              </a:spcBef>
              <a:buFont typeface="Wingdings 3" charset="2"/>
              <a:buNone/>
            </a:pPr>
            <a:r>
              <a:rPr lang="es-MX" sz="1200" i="1" dirty="0">
                <a:solidFill>
                  <a:srgbClr val="545454"/>
                </a:solidFill>
              </a:rPr>
              <a:t>interés, entre ellas las 3 ciudades de Hidalgo. </a:t>
            </a:r>
          </a:p>
          <a:p>
            <a:pPr marL="0" indent="0">
              <a:buFont typeface="Wingdings 3" charset="2"/>
              <a:buNone/>
            </a:pPr>
            <a:endParaRPr lang="es-MX" sz="2000" dirty="0"/>
          </a:p>
          <a:p>
            <a:pPr marL="0" indent="0">
              <a:buFont typeface="Wingdings 3" charset="2"/>
              <a:buNone/>
            </a:pP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1852995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019" y="382063"/>
            <a:ext cx="8911687" cy="1280890"/>
          </a:xfrm>
        </p:spPr>
        <p:txBody>
          <a:bodyPr/>
          <a:lstStyle/>
          <a:p>
            <a:r>
              <a:rPr lang="es-MX" dirty="0"/>
              <a:t>Propuesta 2. Desarrollo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F9D151-82C0-43EE-B707-76C5539F5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38299" y="1034629"/>
                <a:ext cx="10316135" cy="478874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dirty="0"/>
                  <a:t>Para generar nuestro índice debemos agrupar a las ciudades por genérico, calcular el promedio y la desviación estándar de mean y </a:t>
                </a:r>
                <a:r>
                  <a:rPr lang="es-MX" dirty="0" err="1"/>
                  <a:t>sd</a:t>
                </a:r>
                <a:r>
                  <a:rPr lang="es-MX" dirty="0"/>
                  <a:t>, con ellos normalizamos los datos (restarles el promedio y dividirlos entre su desviación estándar). De esta forma podemos sumar ambos valores para nuestro índice:</a:t>
                </a:r>
              </a:p>
              <a:p>
                <a:pPr marL="0" indent="0">
                  <a:buNone/>
                </a:pPr>
                <a:endParaRPr lang="es-MX" sz="3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b="0" i="0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Indice</m:t>
                      </m:r>
                      <m:r>
                        <a:rPr lang="es-E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s-E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𝑀𝑒𝑎𝑛</m:t>
                      </m:r>
                      <m:r>
                        <a:rPr lang="es-E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s-E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𝐸𝑠𝑐𝑎𝑙𝑎𝑑𝑎</m:t>
                      </m:r>
                      <m:r>
                        <a:rPr lang="es-E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s-ES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𝑆𝑑</m:t>
                      </m:r>
                      <m:r>
                        <a:rPr lang="es-ES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s-ES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𝐸𝑠𝑐𝑎𝑙𝑎𝑑𝑎</m:t>
                      </m:r>
                    </m:oMath>
                  </m:oMathPara>
                </a14:m>
                <a:endParaRPr lang="es-MX" dirty="0"/>
              </a:p>
              <a:p>
                <a:pPr marL="0" indent="0">
                  <a:buNone/>
                </a:pPr>
                <a:r>
                  <a:rPr lang="es-MX" dirty="0"/>
                  <a:t>En nuestro caso tomaremos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s-ES" b="0" i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s-ES" b="0" i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s-E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s-E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s-E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s-MX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 marL="0" indent="0">
                  <a:buNone/>
                </a:pPr>
                <a:r>
                  <a:rPr lang="es-MX" dirty="0"/>
                  <a:t>Catalogamos a aquellas que cumplan que el índice es menor que el promedio del mismo índice para cada genérico.</a:t>
                </a:r>
              </a:p>
              <a:p>
                <a:pPr marL="0" indent="0">
                  <a:buNone/>
                </a:pPr>
                <a:endParaRPr lang="es-MX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F9D151-82C0-43EE-B707-76C5539F5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38299" y="1034629"/>
                <a:ext cx="10316135" cy="4788741"/>
              </a:xfrm>
              <a:blipFill>
                <a:blip r:embed="rId2"/>
                <a:stretch>
                  <a:fillRect l="-1241" t="-2166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649287A-C27A-4814-951C-4DBBC869EA2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46829" y="6142864"/>
                <a:ext cx="10180076" cy="478874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Wingdings 3" charset="2"/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600" b="0" i="0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Indice</m:t>
                    </m:r>
                    <m:r>
                      <a:rPr lang="es-ES" sz="16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 _</m:t>
                    </m:r>
                    <m:r>
                      <a:rPr lang="es-ES" sz="1600" b="0" i="1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𝐶𝑜𝑚𝑝𝑒𝑡𝑖𝑡𝑖𝑣𝑜</m:t>
                    </m:r>
                  </m:oMath>
                </a14:m>
                <a:r>
                  <a:rPr lang="es-MX" sz="1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s-ES" sz="1600" b="0" i="1" dirty="0" smtClean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s-ES" sz="1600" b="0" i="1" dirty="0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𝑠𝑖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𝐼𝑛𝑑𝑖𝑐𝑒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𝑃𝑟𝑜𝑚𝑒𝑑𝑖𝑜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𝐼𝑛𝑑𝑖𝑐𝑒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𝑑𝑒𝑙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𝑔𝑟𝑢𝑝𝑜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𝑑𝑒𝑙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𝑔𝑒𝑛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é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𝑟𝑖𝑐𝑜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𝑜𝑡𝑟𝑜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ES" sz="1600" b="0" i="1" dirty="0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𝑐𝑎𝑠𝑜</m:t>
                            </m:r>
                          </m:e>
                        </m:eqArr>
                      </m:e>
                    </m:d>
                  </m:oMath>
                </a14:m>
                <a:r>
                  <a:rPr lang="es-MX" sz="1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 ,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649287A-C27A-4814-951C-4DBBC869E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29" y="6142864"/>
                <a:ext cx="10180076" cy="47887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EA7DE51-7C98-4772-8ACA-1A50FBCA8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386" y="3667161"/>
            <a:ext cx="4285305" cy="185957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F87F3E5-45F9-4305-A622-257CB17DD2E0}"/>
              </a:ext>
            </a:extLst>
          </p:cNvPr>
          <p:cNvSpPr txBox="1">
            <a:spLocks/>
          </p:cNvSpPr>
          <p:nvPr/>
        </p:nvSpPr>
        <p:spPr>
          <a:xfrm>
            <a:off x="2646829" y="5728447"/>
            <a:ext cx="10180076" cy="47887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s-MX" sz="1200" i="1" dirty="0">
                <a:solidFill>
                  <a:schemeClr val="bg1">
                    <a:lumMod val="50000"/>
                  </a:schemeClr>
                </a:solidFill>
              </a:rPr>
              <a:t>En la figura vemos algunas ciudades con su media, desviación e índice para el genérico 002 Arroz</a:t>
            </a:r>
          </a:p>
        </p:txBody>
      </p:sp>
    </p:spTree>
    <p:extLst>
      <p:ext uri="{BB962C8B-B14F-4D97-AF65-F5344CB8AC3E}">
        <p14:creationId xmlns:p14="http://schemas.microsoft.com/office/powerpoint/2010/main" val="1840043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019" y="382063"/>
            <a:ext cx="8911687" cy="1280890"/>
          </a:xfrm>
        </p:spPr>
        <p:txBody>
          <a:bodyPr/>
          <a:lstStyle/>
          <a:p>
            <a:r>
              <a:rPr lang="es-MX" dirty="0"/>
              <a:t>Propuesta 2. Análisis de resultados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9D151-82C0-43EE-B707-76C5539F5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034629"/>
            <a:ext cx="9737912" cy="9338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dirty="0"/>
              <a:t>Posteriormente calculamos la ubicuidad (cuantas ciudades están en el rango de interés para cada producto).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endParaRPr lang="es-MX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649287A-C27A-4814-951C-4DBBC869EA2B}"/>
              </a:ext>
            </a:extLst>
          </p:cNvPr>
          <p:cNvSpPr txBox="1">
            <a:spLocks/>
          </p:cNvSpPr>
          <p:nvPr/>
        </p:nvSpPr>
        <p:spPr>
          <a:xfrm>
            <a:off x="7467600" y="1501564"/>
            <a:ext cx="4045650" cy="47887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 3" charset="2"/>
              <a:buNone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Gráficamente lo podemos ver al graficar las ciudades como puntos de una coordenada (</a:t>
            </a:r>
            <a:r>
              <a:rPr lang="es-E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Indice</a:t>
            </a: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), colocar la recta que corresponde al promedio del índice (línea roja) y ver aquellas que caigan por debajo de ella.</a:t>
            </a:r>
          </a:p>
          <a:p>
            <a:pPr marL="0" indent="0">
              <a:lnSpc>
                <a:spcPct val="150000"/>
              </a:lnSpc>
              <a:buFont typeface="Wingdings 3" charset="2"/>
              <a:buNone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El eje horizontal no es importante, se graficaron en dos dimensiones para facilitar la visualización.</a:t>
            </a:r>
            <a:endParaRPr lang="es-MX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EB05FD7-C5C7-4280-B2FC-F8B64BDDB45A}"/>
              </a:ext>
            </a:extLst>
          </p:cNvPr>
          <p:cNvSpPr txBox="1">
            <a:spLocks/>
          </p:cNvSpPr>
          <p:nvPr/>
        </p:nvSpPr>
        <p:spPr>
          <a:xfrm>
            <a:off x="815788" y="4889500"/>
            <a:ext cx="9737912" cy="933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Wingdings 3" charset="2"/>
              <a:buNone/>
            </a:pPr>
            <a:r>
              <a:rPr lang="es-MX" sz="1200" i="1" dirty="0">
                <a:solidFill>
                  <a:srgbClr val="545454"/>
                </a:solidFill>
              </a:rPr>
              <a:t>Gráfica de los datos para el genérico 001 Arroz. 29 ciudades entraron en el rango de </a:t>
            </a:r>
          </a:p>
          <a:p>
            <a:pPr marL="0" indent="0">
              <a:spcBef>
                <a:spcPts val="0"/>
              </a:spcBef>
              <a:buFont typeface="Wingdings 3" charset="2"/>
              <a:buNone/>
            </a:pPr>
            <a:r>
              <a:rPr lang="es-MX" sz="1200" i="1" dirty="0">
                <a:solidFill>
                  <a:srgbClr val="545454"/>
                </a:solidFill>
              </a:rPr>
              <a:t>interés, entre ellas las 3 ciudades de Hidalgo. </a:t>
            </a:r>
          </a:p>
          <a:p>
            <a:pPr marL="0" indent="0">
              <a:buFont typeface="Wingdings 3" charset="2"/>
              <a:buNone/>
            </a:pPr>
            <a:endParaRPr lang="es-MX" sz="2000" dirty="0"/>
          </a:p>
          <a:p>
            <a:pPr marL="0" indent="0">
              <a:buFont typeface="Wingdings 3" charset="2"/>
              <a:buNone/>
            </a:pPr>
            <a:endParaRPr lang="es-MX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07883E-F748-4A55-9712-BC1987BB8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788" y="1662953"/>
            <a:ext cx="6562951" cy="3076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539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019" y="382063"/>
            <a:ext cx="8911687" cy="1280890"/>
          </a:xfrm>
        </p:spPr>
        <p:txBody>
          <a:bodyPr/>
          <a:lstStyle/>
          <a:p>
            <a:r>
              <a:rPr lang="es-MX" dirty="0"/>
              <a:t>Comparación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9D151-82C0-43EE-B707-76C5539F5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034629"/>
            <a:ext cx="9737912" cy="93387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s-MX" dirty="0"/>
              <a:t>Si bien ambas propuestas son válidas, la mayor diferencia está en que la segunda propuesta siempre toma más ciudades para cada genérico.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endParaRPr lang="es-MX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649287A-C27A-4814-951C-4DBBC869EA2B}"/>
              </a:ext>
            </a:extLst>
          </p:cNvPr>
          <p:cNvSpPr txBox="1">
            <a:spLocks/>
          </p:cNvSpPr>
          <p:nvPr/>
        </p:nvSpPr>
        <p:spPr>
          <a:xfrm>
            <a:off x="7467600" y="1501564"/>
            <a:ext cx="4045650" cy="47887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 3" charset="2"/>
              <a:buNone/>
            </a:pPr>
            <a:endParaRPr lang="es-MX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EB05FD7-C5C7-4280-B2FC-F8B64BDDB45A}"/>
              </a:ext>
            </a:extLst>
          </p:cNvPr>
          <p:cNvSpPr txBox="1">
            <a:spLocks/>
          </p:cNvSpPr>
          <p:nvPr/>
        </p:nvSpPr>
        <p:spPr>
          <a:xfrm>
            <a:off x="7121088" y="5896172"/>
            <a:ext cx="4613712" cy="933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Wingdings 3" charset="2"/>
              <a:buNone/>
            </a:pPr>
            <a:r>
              <a:rPr lang="es-MX" sz="1200" i="1" dirty="0">
                <a:solidFill>
                  <a:srgbClr val="545454"/>
                </a:solidFill>
              </a:rPr>
              <a:t>Cuadro comparativo de ubicuidad para cada genérico.  En la segunda columna vemos los resultados de la opción 1 y en la tercera los de la opción 2.</a:t>
            </a:r>
          </a:p>
          <a:p>
            <a:pPr marL="0" indent="0">
              <a:buFont typeface="Wingdings 3" charset="2"/>
              <a:buNone/>
            </a:pPr>
            <a:endParaRPr lang="es-MX" sz="2000" dirty="0"/>
          </a:p>
          <a:p>
            <a:pPr marL="0" indent="0">
              <a:buFont typeface="Wingdings 3" charset="2"/>
              <a:buNone/>
            </a:pPr>
            <a:endParaRPr lang="es-MX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730075-0484-4860-BAE4-43DA91FE2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1842373"/>
            <a:ext cx="5482788" cy="4776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60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019" y="382063"/>
            <a:ext cx="8911687" cy="1280890"/>
          </a:xfrm>
        </p:spPr>
        <p:txBody>
          <a:bodyPr/>
          <a:lstStyle/>
          <a:p>
            <a:r>
              <a:rPr lang="es-MX" dirty="0"/>
              <a:t>Observación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9D151-82C0-43EE-B707-76C5539F5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034629"/>
            <a:ext cx="9737912" cy="93387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s-MX" dirty="0"/>
              <a:t>Tenemos un caso del genérico “229 Computadoras” donde la opción 1 excluye a todas las ciudades mientras que la opción 2 las toma a todas.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endParaRPr lang="es-MX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649287A-C27A-4814-951C-4DBBC869EA2B}"/>
              </a:ext>
            </a:extLst>
          </p:cNvPr>
          <p:cNvSpPr txBox="1">
            <a:spLocks/>
          </p:cNvSpPr>
          <p:nvPr/>
        </p:nvSpPr>
        <p:spPr>
          <a:xfrm>
            <a:off x="7467600" y="1501564"/>
            <a:ext cx="4045650" cy="47887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 3" charset="2"/>
              <a:buNone/>
            </a:pPr>
            <a:endParaRPr lang="es-MX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EB05FD7-C5C7-4280-B2FC-F8B64BDDB45A}"/>
              </a:ext>
            </a:extLst>
          </p:cNvPr>
          <p:cNvSpPr txBox="1">
            <a:spLocks/>
          </p:cNvSpPr>
          <p:nvPr/>
        </p:nvSpPr>
        <p:spPr>
          <a:xfrm>
            <a:off x="6899537" y="5075149"/>
            <a:ext cx="4965087" cy="933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Wingdings 3" charset="2"/>
              <a:buNone/>
            </a:pPr>
            <a:r>
              <a:rPr lang="es-MX" sz="1200" i="1" dirty="0">
                <a:solidFill>
                  <a:srgbClr val="545454"/>
                </a:solidFill>
              </a:rPr>
              <a:t>Gráfica para 229 Computadoras de la opción 1.  La gráfica para la opción 2 no muestra nada.</a:t>
            </a:r>
            <a:endParaRPr lang="es-MX" sz="2000" dirty="0"/>
          </a:p>
          <a:p>
            <a:pPr marL="0" indent="0">
              <a:buFont typeface="Wingdings 3" charset="2"/>
              <a:buNone/>
            </a:pPr>
            <a:endParaRPr lang="es-MX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500C79-6C51-46C0-8458-88C9F29C8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873" y="1825556"/>
            <a:ext cx="6306715" cy="6098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9D7E41-1BC9-46C2-955A-8C1092587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465" y="2598038"/>
            <a:ext cx="4879160" cy="2477112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5922E2E-9FB0-4C0E-98F6-5FFDFBFA0875}"/>
              </a:ext>
            </a:extLst>
          </p:cNvPr>
          <p:cNvSpPr txBox="1">
            <a:spLocks/>
          </p:cNvSpPr>
          <p:nvPr/>
        </p:nvSpPr>
        <p:spPr>
          <a:xfrm>
            <a:off x="678751" y="2598037"/>
            <a:ext cx="5955340" cy="40448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50000"/>
              </a:lnSpc>
              <a:spcBef>
                <a:spcPts val="1800"/>
              </a:spcBef>
              <a:buFont typeface="Wingdings 3" charset="2"/>
              <a:buNone/>
            </a:pPr>
            <a:r>
              <a:rPr lang="es-MX" dirty="0"/>
              <a:t>Esto se debe a que para las 55 ciudades se tiene el mismo precio promedio histórico y la misma desviación estándar histórica, lo que convierte a las observaciones en una constante, por lo que siempre tendrán un promedio igual a la constante y desviación estándar igual a 0. Por lo que para la opción 1 no toma ninguno pues no hay número que sea menor que sí mismo y en la opción 2 no se puede realizar el escalado, pues sería dividir por 0, con lo que rellena con </a:t>
            </a:r>
            <a:r>
              <a:rPr lang="es-MX" dirty="0" err="1"/>
              <a:t>NaN</a:t>
            </a:r>
            <a:r>
              <a:rPr lang="es-MX" dirty="0"/>
              <a:t> y el filtro posterior los considera.</a:t>
            </a:r>
          </a:p>
          <a:p>
            <a:pPr marL="0" indent="0">
              <a:buFont typeface="Wingdings 3" charset="2"/>
              <a:buNone/>
            </a:pPr>
            <a:endParaRPr lang="es-MX" sz="2000" dirty="0"/>
          </a:p>
          <a:p>
            <a:pPr marL="0" indent="0">
              <a:buFont typeface="Wingdings 3" charset="2"/>
              <a:buNone/>
            </a:pP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4243352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019" y="382063"/>
            <a:ext cx="8911687" cy="1280890"/>
          </a:xfrm>
        </p:spPr>
        <p:txBody>
          <a:bodyPr/>
          <a:lstStyle/>
          <a:p>
            <a:r>
              <a:rPr lang="es-MX" dirty="0"/>
              <a:t>Conclusiones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9D151-82C0-43EE-B707-76C5539F5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7044" y="3096545"/>
            <a:ext cx="9737912" cy="93387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MX" dirty="0"/>
              <a:t>La opción 1 me gusta más.</a:t>
            </a:r>
          </a:p>
          <a:p>
            <a:pPr marL="0" indent="0">
              <a:buNone/>
            </a:pPr>
            <a:endParaRPr lang="es-MX" sz="2000" dirty="0"/>
          </a:p>
          <a:p>
            <a:pPr marL="0" indent="0">
              <a:buNone/>
            </a:pP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3307962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EDA7-9C38-4347-A17C-3C475136A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019" y="382063"/>
            <a:ext cx="8911687" cy="1280890"/>
          </a:xfrm>
        </p:spPr>
        <p:txBody>
          <a:bodyPr/>
          <a:lstStyle/>
          <a:p>
            <a:r>
              <a:rPr lang="es-MX" dirty="0"/>
              <a:t>Conclusiones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3AA096-14DE-4DD0-B579-8E0A08939E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1547812"/>
            <a:ext cx="6858000" cy="376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018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7088</TotalTime>
  <Words>877</Words>
  <Application>Microsoft Office PowerPoint</Application>
  <PresentationFormat>Widescreen</PresentationFormat>
  <Paragraphs>52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Montserrat</vt:lpstr>
      <vt:lpstr>Wingdings 3</vt:lpstr>
      <vt:lpstr>Office Theme</vt:lpstr>
      <vt:lpstr>INPC: Una Introducción a como catalogar el precio de un producto en una ciudad de la República Mexicana como “de precio competitivo”</vt:lpstr>
      <vt:lpstr>Estabilidad y Variabilidad del INPC</vt:lpstr>
      <vt:lpstr>Competitividad</vt:lpstr>
      <vt:lpstr>Propuestas</vt:lpstr>
      <vt:lpstr>Propuesta 1. Desarrollo</vt:lpstr>
      <vt:lpstr>Propuesta 1. Análisis de resultados</vt:lpstr>
      <vt:lpstr>Propuesta 2. Desarrollo</vt:lpstr>
      <vt:lpstr>Propuesta 2. Análisis de resultados</vt:lpstr>
      <vt:lpstr>Comparación</vt:lpstr>
      <vt:lpstr>Observación</vt:lpstr>
      <vt:lpstr>Conclusiones</vt:lpstr>
      <vt:lpstr>Conclusiones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INPC: Una Introducción a como catalogar un precio de un producto en una ciudad de México como “De precio competitivo”</dc:title>
  <dc:creator>ENRIQUE CERON</dc:creator>
  <cp:lastModifiedBy>ENRIQUE CERON</cp:lastModifiedBy>
  <cp:revision>21</cp:revision>
  <dcterms:created xsi:type="dcterms:W3CDTF">2026-04-08T22:14:29Z</dcterms:created>
  <dcterms:modified xsi:type="dcterms:W3CDTF">2026-04-15T20:50:07Z</dcterms:modified>
</cp:coreProperties>
</file>